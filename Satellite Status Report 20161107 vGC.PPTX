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emf" ContentType="image/x-emf"/>
  <Default Extension="jpeg" ContentType="image/jpeg"/>
  <Default Extension="wmf" ContentType="image/x-wmf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4"/>
  </p:notesMasterIdLst>
  <p:sldIdLst>
    <p:sldId id="266" r:id="rId2"/>
    <p:sldId id="264" r:id="rId3"/>
    <p:sldId id="265" r:id="rId4"/>
    <p:sldId id="281" r:id="rId5"/>
    <p:sldId id="267" r:id="rId6"/>
    <p:sldId id="268" r:id="rId7"/>
    <p:sldId id="272" r:id="rId8"/>
    <p:sldId id="278" r:id="rId9"/>
    <p:sldId id="273" r:id="rId10"/>
    <p:sldId id="300" r:id="rId11"/>
    <p:sldId id="301" r:id="rId12"/>
    <p:sldId id="282" r:id="rId13"/>
    <p:sldId id="269" r:id="rId14"/>
    <p:sldId id="270" r:id="rId15"/>
    <p:sldId id="271" r:id="rId16"/>
    <p:sldId id="274" r:id="rId17"/>
    <p:sldId id="276" r:id="rId18"/>
    <p:sldId id="279" r:id="rId19"/>
    <p:sldId id="285" r:id="rId20"/>
    <p:sldId id="287" r:id="rId21"/>
    <p:sldId id="288" r:id="rId22"/>
    <p:sldId id="293" r:id="rId23"/>
    <p:sldId id="283" r:id="rId24"/>
    <p:sldId id="284" r:id="rId25"/>
    <p:sldId id="290" r:id="rId26"/>
    <p:sldId id="298" r:id="rId27"/>
    <p:sldId id="292" r:id="rId28"/>
    <p:sldId id="299" r:id="rId29"/>
    <p:sldId id="294" r:id="rId30"/>
    <p:sldId id="295" r:id="rId31"/>
    <p:sldId id="296" r:id="rId32"/>
    <p:sldId id="297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FF9900"/>
    <a:srgbClr val="5F78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878" autoAdjust="0"/>
    <p:restoredTop sz="94434" autoAdjust="0"/>
  </p:normalViewPr>
  <p:slideViewPr>
    <p:cSldViewPr snapToGrid="0">
      <p:cViewPr varScale="1">
        <p:scale>
          <a:sx n="62" d="100"/>
          <a:sy n="62" d="100"/>
        </p:scale>
        <p:origin x="96" y="4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7.w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7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DEE07B-5BFA-46FC-AF61-CC9BD33EC30F}" type="datetimeFigureOut">
              <a:rPr lang="en-US" smtClean="0"/>
              <a:t>11/10/2016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EFE40F-3167-45B2-B4DA-01DAF03362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4548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9BC3F7-D0A1-4C94-847C-0D931305FCA4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58396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powerpoint_land_1"/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115" y="0"/>
            <a:ext cx="12200468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195" name="Rectangle 3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914402" y="5927728"/>
            <a:ext cx="9599084" cy="360363"/>
          </a:xfrm>
        </p:spPr>
        <p:txBody>
          <a:bodyPr wrap="none"/>
          <a:lstStyle>
            <a:lvl1pPr marL="0" indent="0">
              <a:buFont typeface="Arial" charset="0"/>
              <a:buNone/>
              <a:defRPr sz="911">
                <a:solidFill>
                  <a:schemeClr val="tx2"/>
                </a:solidFill>
              </a:defRPr>
            </a:lvl1pPr>
          </a:lstStyle>
          <a:p>
            <a:r>
              <a:rPr lang="en-GB" noProof="0" dirty="0" smtClean="0"/>
              <a:t>Click to edit Master subtitle style</a:t>
            </a:r>
            <a:endParaRPr lang="en-GB" noProof="0" dirty="0"/>
          </a:p>
        </p:txBody>
      </p:sp>
      <p:sp>
        <p:nvSpPr>
          <p:cNvPr id="8196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916519" y="4035428"/>
            <a:ext cx="9596967" cy="422275"/>
          </a:xfrm>
        </p:spPr>
        <p:txBody>
          <a:bodyPr anchor="t"/>
          <a:lstStyle>
            <a:lvl1pPr>
              <a:defRPr sz="2090"/>
            </a:lvl1pPr>
          </a:lstStyle>
          <a:p>
            <a:r>
              <a:rPr lang="en-GB" dirty="0" smtClean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34599192"/>
      </p:ext>
    </p:extLst>
  </p:cSld>
  <p:clrMapOvr>
    <a:masterClrMapping/>
  </p:clrMapOvr>
  <p:transition>
    <p:wipe dir="r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093038"/>
      </p:ext>
    </p:extLst>
  </p:cSld>
  <p:clrMapOvr>
    <a:masterClrMapping/>
  </p:clrMapOvr>
  <p:transition>
    <p:wipe dir="r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1624730"/>
      </p:ext>
    </p:extLst>
  </p:cSld>
  <p:clrMapOvr>
    <a:masterClrMapping/>
  </p:clrMapOvr>
  <p:transition>
    <p:wipe dir="r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fac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>
          <a:xfrm>
            <a:off x="493484" y="295684"/>
            <a:ext cx="11184000" cy="9901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14"/>
          </p:nvPr>
        </p:nvSpPr>
        <p:spPr>
          <a:xfrm>
            <a:off x="494400" y="1805670"/>
            <a:ext cx="11184000" cy="4545033"/>
          </a:xfrm>
        </p:spPr>
        <p:txBody>
          <a:bodyPr/>
          <a:lstStyle>
            <a:lvl1pPr marL="0" indent="0" algn="l">
              <a:buNone/>
              <a:defRPr/>
            </a:lvl1pPr>
            <a:lvl2pPr marL="200029" indent="-200029">
              <a:buFont typeface="Arial" pitchFamily="34" charset="0"/>
              <a:buChar char="•"/>
              <a:defRPr/>
            </a:lvl2pPr>
          </a:lstStyle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  <p:sp>
        <p:nvSpPr>
          <p:cNvPr id="7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960002" y="6597650"/>
            <a:ext cx="4896817" cy="126000"/>
          </a:xfrm>
          <a:prstGeom prst="rect">
            <a:avLst/>
          </a:prstGeom>
        </p:spPr>
        <p:txBody>
          <a:bodyPr lIns="0" tIns="0" rIns="0" bIns="0"/>
          <a:lstStyle>
            <a:lvl1pPr>
              <a:defRPr sz="590">
                <a:solidFill>
                  <a:srgbClr val="8C8C8C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685814"/>
            <a:r>
              <a:rPr lang="en-GB" smtClean="0"/>
              <a:t>Title</a:t>
            </a:r>
            <a:endParaRPr lang="en-GB" dirty="0"/>
          </a:p>
        </p:txBody>
      </p:sp>
      <p:sp>
        <p:nvSpPr>
          <p:cNvPr id="9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78367" y="6597650"/>
            <a:ext cx="480000" cy="126000"/>
          </a:xfrm>
          <a:prstGeom prst="rect">
            <a:avLst/>
          </a:prstGeom>
        </p:spPr>
        <p:txBody>
          <a:bodyPr lIns="0" tIns="0" rIns="0" bIns="0"/>
          <a:lstStyle>
            <a:lvl1pPr>
              <a:defRPr sz="590">
                <a:solidFill>
                  <a:srgbClr val="8C8C8C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685814"/>
            <a:fld id="{313880FF-B11A-4FA9-B5CC-7226C1B8517C}" type="slidenum">
              <a:rPr lang="en-GB" smtClean="0"/>
              <a:pPr defTabSz="685814"/>
              <a:t>‹#›</a:t>
            </a:fld>
            <a:endParaRPr lang="en-GB" dirty="0"/>
          </a:p>
        </p:txBody>
      </p:sp>
      <p:sp>
        <p:nvSpPr>
          <p:cNvPr id="10" name="SD_OFF_Copyright"/>
          <p:cNvSpPr txBox="1">
            <a:spLocks/>
          </p:cNvSpPr>
          <p:nvPr userDrawn="1"/>
        </p:nvSpPr>
        <p:spPr>
          <a:xfrm>
            <a:off x="8817615" y="6597650"/>
            <a:ext cx="2896020" cy="126000"/>
          </a:xfrm>
          <a:prstGeom prst="rect">
            <a:avLst/>
          </a:prstGeom>
        </p:spPr>
        <p:txBody>
          <a:bodyPr vert="horz" wrap="none" lIns="0" tIns="0" rIns="0" bIns="0" rtlCol="0" anchor="b" anchorCtr="0">
            <a:noAutofit/>
          </a:bodyPr>
          <a:lstStyle>
            <a:lvl1pPr marL="0" marR="0" indent="0" algn="r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800"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en-GB" sz="428" dirty="0" smtClean="0">
                <a:solidFill>
                  <a:srgbClr val="8C8C8C"/>
                </a:solidFill>
                <a:cs typeface="Arial" charset="0"/>
              </a:rPr>
              <a:t>© 2015 Deloitte Consulting AG. All rights reserved.</a:t>
            </a:r>
            <a:endParaRPr lang="en-GB" sz="428" dirty="0">
              <a:solidFill>
                <a:srgbClr val="8C8C8C"/>
              </a:solidFill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2403947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97207908"/>
      </p:ext>
    </p:extLst>
  </p:cSld>
  <p:clrMapOvr>
    <a:masterClrMapping/>
  </p:clrMapOvr>
  <p:transition>
    <p:wipe dir="r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7448" y="88900"/>
            <a:ext cx="11271251" cy="812800"/>
          </a:xfrm>
          <a:prstGeom prst="rect">
            <a:avLst/>
          </a:prstGeom>
        </p:spPr>
        <p:txBody>
          <a:bodyPr lIns="134095" tIns="67047" rIns="134095" bIns="67047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1056225" y="6458412"/>
            <a:ext cx="8798977" cy="376238"/>
          </a:xfrm>
          <a:prstGeom prst="rect">
            <a:avLst/>
          </a:prstGeom>
        </p:spPr>
        <p:txBody>
          <a:bodyPr/>
          <a:lstStyle>
            <a:lvl1pPr>
              <a:defRPr sz="803"/>
            </a:lvl1pPr>
          </a:lstStyle>
          <a:p>
            <a:r>
              <a:rPr lang="en-US" dirty="0" smtClean="0">
                <a:solidFill>
                  <a:srgbClr val="626469"/>
                </a:solidFill>
              </a:rPr>
              <a:t>Classification: CONFIDENTIAL			Pricing – Concept Paper</a:t>
            </a:r>
            <a:endParaRPr lang="en-US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516615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409329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oleObject" Target="../embeddings/oleObject1.bin"/><Relationship Id="rId5" Type="http://schemas.openxmlformats.org/officeDocument/2006/relationships/slideLayout" Target="../slideLayouts/slideLayout5.xml"/><Relationship Id="rId10" Type="http://schemas.openxmlformats.org/officeDocument/2006/relationships/tags" Target="../tags/tag1.xml"/><Relationship Id="rId4" Type="http://schemas.openxmlformats.org/officeDocument/2006/relationships/slideLayout" Target="../slideLayouts/slideLayout4.xml"/><Relationship Id="rId9" Type="http://schemas.openxmlformats.org/officeDocument/2006/relationships/vmlDrawing" Target="../drawings/vmlDrawing1.vml"/><Relationship Id="rId14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26" name="Object 1" hidden="1"/>
          <p:cNvGraphicFramePr>
            <a:graphicFrameLocks noChangeAspect="1"/>
          </p:cNvGraphicFramePr>
          <p:nvPr>
            <p:custDataLst>
              <p:tags r:id="rId10"/>
            </p:custDataLst>
          </p:nvPr>
        </p:nvGraphicFramePr>
        <p:xfrm>
          <a:off x="2119" y="1591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45" name="think-cell Slide" r:id="rId11" imgW="270" imgH="270" progId="TCLayout.ActiveDocument.1">
                  <p:embed/>
                </p:oleObj>
              </mc:Choice>
              <mc:Fallback>
                <p:oleObj name="think-cell Slide" r:id="rId11" imgW="270" imgH="270" progId="TCLayout.ActiveDocument.1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1591"/>
                        <a:ext cx="2116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27" name="Picture 7" descr="ppt_land_print_2"/>
          <p:cNvPicPr>
            <a:picLocks noChangeAspect="1" noChangeArrowheads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6173791"/>
            <a:ext cx="12192000" cy="688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8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 dirty="0" smtClean="0"/>
              <a:t>Click to edit Master title style</a:t>
            </a:r>
          </a:p>
        </p:txBody>
      </p:sp>
      <p:sp>
        <p:nvSpPr>
          <p:cNvPr id="1029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97419" y="1211263"/>
            <a:ext cx="11279716" cy="4730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 dirty="0" smtClean="0"/>
              <a:t>Click to edit Master text styles</a:t>
            </a:r>
          </a:p>
          <a:p>
            <a:pPr lvl="1"/>
            <a:r>
              <a:rPr lang="en-GB" altLang="en-US" dirty="0" smtClean="0"/>
              <a:t>Second level</a:t>
            </a:r>
          </a:p>
          <a:p>
            <a:pPr lvl="2"/>
            <a:r>
              <a:rPr lang="en-GB" altLang="en-US" dirty="0" smtClean="0"/>
              <a:t>Third level</a:t>
            </a:r>
          </a:p>
          <a:p>
            <a:pPr lvl="3"/>
            <a:r>
              <a:rPr lang="en-GB" altLang="en-US" dirty="0" smtClean="0"/>
              <a:t>Fourth level</a:t>
            </a:r>
          </a:p>
          <a:p>
            <a:pPr lvl="4"/>
            <a:r>
              <a:rPr lang="en-GB" altLang="en-US" dirty="0" smtClean="0"/>
              <a:t>Fifth level</a:t>
            </a:r>
          </a:p>
        </p:txBody>
      </p:sp>
      <p:sp>
        <p:nvSpPr>
          <p:cNvPr id="717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056217" y="6483350"/>
            <a:ext cx="7670800" cy="376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64008" rIns="128016" bIns="64008" numCol="1" anchor="t" anchorCtr="0" compatLnSpc="1">
            <a:prstTxWarp prst="textNoShape">
              <a:avLst/>
            </a:prstTxWarp>
            <a:normAutofit/>
          </a:bodyPr>
          <a:lstStyle>
            <a:lvl1pPr eaLnBrk="0" hangingPunct="0">
              <a:spcAft>
                <a:spcPts val="450"/>
              </a:spcAft>
              <a:tabLst>
                <a:tab pos="331001" algn="l"/>
              </a:tabLst>
              <a:defRPr sz="911">
                <a:latin typeface="Arial" charset="0"/>
              </a:defRPr>
            </a:lvl1pPr>
          </a:lstStyle>
          <a:p>
            <a:pPr defTabSz="685814" fontAlgn="base">
              <a:spcBef>
                <a:spcPct val="0"/>
              </a:spcBef>
              <a:defRPr/>
            </a:pPr>
            <a:endParaRPr lang="en-GB" dirty="0">
              <a:solidFill>
                <a:srgbClr val="626469"/>
              </a:solidFill>
              <a:cs typeface="Arial" charset="0"/>
            </a:endParaRPr>
          </a:p>
        </p:txBody>
      </p:sp>
      <p:sp>
        <p:nvSpPr>
          <p:cNvPr id="1030" name="Rectangle 6"/>
          <p:cNvSpPr>
            <a:spLocks noChangeArrowheads="1"/>
          </p:cNvSpPr>
          <p:nvPr/>
        </p:nvSpPr>
        <p:spPr bwMode="auto">
          <a:xfrm>
            <a:off x="391585" y="6483350"/>
            <a:ext cx="742951" cy="374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defTabSz="685814" eaLnBrk="0" fontAlgn="base" hangingPunct="0">
              <a:spcBef>
                <a:spcPct val="0"/>
              </a:spcBef>
              <a:spcAft>
                <a:spcPts val="450"/>
              </a:spcAft>
            </a:pPr>
            <a:fld id="{6A35189C-F1D3-4E9A-B450-A0FE1B263F22}" type="slidenum">
              <a:rPr lang="en-GB" altLang="en-US" sz="911" smtClean="0">
                <a:solidFill>
                  <a:srgbClr val="626469"/>
                </a:solidFill>
                <a:cs typeface="Arial" charset="0"/>
              </a:rPr>
              <a:pPr defTabSz="685814" eaLnBrk="0" fontAlgn="base" hangingPunct="0">
                <a:spcBef>
                  <a:spcPct val="0"/>
                </a:spcBef>
                <a:spcAft>
                  <a:spcPts val="450"/>
                </a:spcAft>
              </a:pPr>
              <a:t>‹#›</a:t>
            </a:fld>
            <a:r>
              <a:rPr lang="en-GB" altLang="en-US" sz="911" dirty="0" smtClean="0">
                <a:solidFill>
                  <a:srgbClr val="626469"/>
                </a:solidFill>
                <a:cs typeface="Arial" charset="0"/>
              </a:rPr>
              <a:t>	</a:t>
            </a:r>
          </a:p>
        </p:txBody>
      </p:sp>
      <p:pic>
        <p:nvPicPr>
          <p:cNvPr id="1032" name="Picture 8" descr="new logo"/>
          <p:cNvPicPr>
            <a:picLocks noChangeAspect="1" noChangeArrowheads="1"/>
          </p:cNvPicPr>
          <p:nvPr/>
        </p:nvPicPr>
        <p:blipFill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986435" y="6403975"/>
            <a:ext cx="1566333" cy="350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578556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7" r:id="rId6"/>
    <p:sldLayoutId id="2147483668" r:id="rId7"/>
  </p:sldLayoutIdLst>
  <p:transition>
    <p:wipe dir="r"/>
  </p:transition>
  <p:txStyles>
    <p:titleStyle>
      <a:lvl1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+mj-lt"/>
          <a:ea typeface="+mj-ea"/>
          <a:cs typeface="+mj-cs"/>
        </a:defRPr>
      </a:lvl1pPr>
      <a:lvl2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2pPr>
      <a:lvl3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3pPr>
      <a:lvl4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4pPr>
      <a:lvl5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5pPr>
      <a:lvl6pPr marL="342907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6pPr>
      <a:lvl7pPr marL="685814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7pPr>
      <a:lvl8pPr marL="1028720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8pPr>
      <a:lvl9pPr marL="1371628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9pPr>
    </p:titleStyle>
    <p:bodyStyle>
      <a:lvl1pPr marL="214317" indent="-214317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●"/>
        <a:defRPr sz="1500">
          <a:solidFill>
            <a:schemeClr val="tx1"/>
          </a:solidFill>
          <a:latin typeface="+mn-lt"/>
          <a:ea typeface="+mn-ea"/>
          <a:cs typeface="+mn-cs"/>
        </a:defRPr>
      </a:lvl1pPr>
      <a:lvl2pPr marL="507217" indent="-207173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-"/>
        <a:defRPr sz="1500">
          <a:solidFill>
            <a:schemeClr val="tx1"/>
          </a:solidFill>
          <a:latin typeface="+mn-lt"/>
        </a:defRPr>
      </a:lvl2pPr>
      <a:lvl3pPr marL="858458" indent="-215508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3pPr>
      <a:lvl4pPr marL="1214462" indent="-221461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-"/>
        <a:defRPr sz="1500">
          <a:solidFill>
            <a:schemeClr val="tx1"/>
          </a:solidFill>
          <a:latin typeface="+mn-lt"/>
        </a:defRPr>
      </a:lvl4pPr>
      <a:lvl5pPr marL="1570466" indent="-221461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5pPr>
      <a:lvl6pPr marL="1913373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6pPr>
      <a:lvl7pPr marL="2256280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7pPr>
      <a:lvl8pPr marL="2599187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8pPr>
      <a:lvl9pPr marL="2942093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7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2pPr>
      <a:lvl3pPr marL="685814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20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28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35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41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48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55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9.xml"/><Relationship Id="rId3" Type="http://schemas.openxmlformats.org/officeDocument/2006/relationships/tags" Target="../tags/tag4.xml"/><Relationship Id="rId7" Type="http://schemas.openxmlformats.org/officeDocument/2006/relationships/tags" Target="../tags/tag8.xml"/><Relationship Id="rId12" Type="http://schemas.openxmlformats.org/officeDocument/2006/relationships/notesSlide" Target="../notesSlides/notesSlide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tags" Target="../tags/tag7.xml"/><Relationship Id="rId11" Type="http://schemas.openxmlformats.org/officeDocument/2006/relationships/slideLayout" Target="../slideLayouts/slideLayout2.xml"/><Relationship Id="rId5" Type="http://schemas.openxmlformats.org/officeDocument/2006/relationships/tags" Target="../tags/tag6.xml"/><Relationship Id="rId10" Type="http://schemas.openxmlformats.org/officeDocument/2006/relationships/tags" Target="../tags/tag11.xml"/><Relationship Id="rId4" Type="http://schemas.openxmlformats.org/officeDocument/2006/relationships/tags" Target="../tags/tag5.xml"/><Relationship Id="rId9" Type="http://schemas.openxmlformats.org/officeDocument/2006/relationships/tags" Target="../tags/tag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Test%20Enviroment%20Plan%20V3_light_version.xlsx#'Syngenta Environment'!A6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Test%20Enviroment%20Plan%20V3_light_version.xlsx#'Syngenta Environment'!A5" TargetMode="Externa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.vml"/><Relationship Id="rId5" Type="http://schemas.openxmlformats.org/officeDocument/2006/relationships/image" Target="../media/image7.wmf"/><Relationship Id="rId4" Type="http://schemas.openxmlformats.org/officeDocument/2006/relationships/oleObject" Target="file:///C:\Users\T966104\Documents\repos\docs\syngenta-appmap\Test%20Enviroment%20Plan%20V3_light_version.xlsx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Test%20Enviroment%20Plan%20V3_light_version.xlsx#'Syngenta Environment'!A9" TargetMode="Externa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3.vml"/><Relationship Id="rId6" Type="http://schemas.openxmlformats.org/officeDocument/2006/relationships/image" Target="../media/image8.png"/><Relationship Id="rId5" Type="http://schemas.openxmlformats.org/officeDocument/2006/relationships/image" Target="../media/image7.wmf"/><Relationship Id="rId4" Type="http://schemas.openxmlformats.org/officeDocument/2006/relationships/oleObject" Target="file:///C:\Users\T966104\Documents\repos\docs\syngenta-appmap\Test%20Enviroment%20Plan%20V3_light_version.xlsx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Test%20Enviroment%20Plan%20V3_light_version.xlsx#'Syngenta Environment'!A8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r>
              <a:rPr lang="de-CH" dirty="0" smtClean="0"/>
              <a:t>Date</a:t>
            </a: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>
          <a:xfrm>
            <a:off x="914402" y="4138459"/>
            <a:ext cx="9596967" cy="422275"/>
          </a:xfrm>
        </p:spPr>
        <p:txBody>
          <a:bodyPr/>
          <a:lstStyle/>
          <a:p>
            <a:r>
              <a:rPr lang="de-CH" dirty="0" smtClean="0"/>
              <a:t>Satellite Integration Report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157631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207337" y="-150676"/>
            <a:ext cx="11271251" cy="812800"/>
          </a:xfrm>
        </p:spPr>
        <p:txBody>
          <a:bodyPr/>
          <a:lstStyle/>
          <a:p>
            <a:r>
              <a:rPr lang="en-US" dirty="0" smtClean="0"/>
              <a:t>Satellite Status </a:t>
            </a:r>
            <a:r>
              <a:rPr lang="en-US" dirty="0"/>
              <a:t>report – Week of </a:t>
            </a:r>
            <a:r>
              <a:rPr lang="en-US" dirty="0" smtClean="0"/>
              <a:t>2016-11-01</a:t>
            </a:r>
            <a:br>
              <a:rPr lang="en-US" dirty="0" smtClean="0"/>
            </a:br>
            <a:r>
              <a:rPr lang="en-US" sz="1200" dirty="0">
                <a:solidFill>
                  <a:schemeClr val="accent1"/>
                </a:solidFill>
              </a:rPr>
              <a:t>Reason for status</a:t>
            </a:r>
            <a:r>
              <a:rPr lang="en-US" sz="1200" dirty="0" smtClean="0">
                <a:solidFill>
                  <a:schemeClr val="accent1"/>
                </a:solidFill>
              </a:rPr>
              <a:t>: </a:t>
            </a:r>
            <a:r>
              <a:rPr lang="en-US" sz="1100" dirty="0" smtClean="0">
                <a:solidFill>
                  <a:schemeClr val="accent1"/>
                </a:solidFill>
              </a:rPr>
              <a:t>Major satellites on track, Issues being solved in Unit Test</a:t>
            </a:r>
            <a:endParaRPr lang="en-US" sz="1600" dirty="0">
              <a:solidFill>
                <a:schemeClr val="accent1"/>
              </a:solidFill>
            </a:endParaRPr>
          </a:p>
        </p:txBody>
      </p:sp>
      <p:grpSp>
        <p:nvGrpSpPr>
          <p:cNvPr id="20" name="Group 19"/>
          <p:cNvGrpSpPr/>
          <p:nvPr>
            <p:custDataLst>
              <p:tags r:id="rId2"/>
            </p:custDataLst>
          </p:nvPr>
        </p:nvGrpSpPr>
        <p:grpSpPr>
          <a:xfrm>
            <a:off x="10892441" y="23343"/>
            <a:ext cx="1058108" cy="441736"/>
            <a:chOff x="7740352" y="332656"/>
            <a:chExt cx="1058108" cy="441736"/>
          </a:xfrm>
        </p:grpSpPr>
        <p:sp>
          <p:nvSpPr>
            <p:cNvPr id="12" name="Rectangle 3"/>
            <p:cNvSpPr>
              <a:spLocks noChangeArrowheads="1"/>
            </p:cNvSpPr>
            <p:nvPr>
              <p:custDataLst>
                <p:tags r:id="rId7"/>
              </p:custDataLst>
            </p:nvPr>
          </p:nvSpPr>
          <p:spPr bwMode="auto">
            <a:xfrm rot="5400000">
              <a:off x="8048538" y="24470"/>
              <a:ext cx="441736" cy="1058108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vert="horz" wrap="none" lIns="0" tIns="0" rIns="0" bIns="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3" name="Oval 9"/>
            <p:cNvSpPr>
              <a:spLocks noChangeArrowheads="1"/>
            </p:cNvSpPr>
            <p:nvPr>
              <p:custDataLst>
                <p:tags r:id="rId8"/>
              </p:custDataLst>
            </p:nvPr>
          </p:nvSpPr>
          <p:spPr bwMode="auto">
            <a:xfrm rot="5400000">
              <a:off x="7788484" y="419308"/>
              <a:ext cx="275658" cy="275657"/>
            </a:xfrm>
            <a:prstGeom prst="ellipse">
              <a:avLst/>
            </a:prstGeom>
            <a:solidFill>
              <a:srgbClr val="FF0000"/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non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4" name="Oval 8"/>
            <p:cNvSpPr>
              <a:spLocks noChangeArrowheads="1"/>
            </p:cNvSpPr>
            <p:nvPr>
              <p:custDataLst>
                <p:tags r:id="rId9"/>
              </p:custDataLst>
            </p:nvPr>
          </p:nvSpPr>
          <p:spPr bwMode="auto">
            <a:xfrm rot="5400000">
              <a:off x="8472806" y="419308"/>
              <a:ext cx="275658" cy="275657"/>
            </a:xfrm>
            <a:prstGeom prst="ellipse">
              <a:avLst/>
            </a:prstGeom>
            <a:solidFill>
              <a:schemeClr val="tx1">
                <a:lumMod val="60000"/>
                <a:lumOff val="40000"/>
              </a:schemeClr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squar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5" name="Oval 9"/>
            <p:cNvSpPr>
              <a:spLocks noChangeArrowheads="1"/>
            </p:cNvSpPr>
            <p:nvPr>
              <p:custDataLst>
                <p:tags r:id="rId10"/>
              </p:custDataLst>
            </p:nvPr>
          </p:nvSpPr>
          <p:spPr bwMode="auto">
            <a:xfrm rot="5400000">
              <a:off x="8123012" y="414354"/>
              <a:ext cx="275658" cy="275657"/>
            </a:xfrm>
            <a:prstGeom prst="ellipse">
              <a:avLst/>
            </a:prstGeom>
            <a:solidFill>
              <a:srgbClr val="FFC000"/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non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693031" y="6195700"/>
            <a:ext cx="3132348" cy="510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sz="1050" dirty="0">
                <a:latin typeface="+mj-lt"/>
                <a:cs typeface="Arial" pitchFamily="34" charset="0"/>
                <a:sym typeface="Wingdings 2" panose="05020102010507070707" pitchFamily="18" charset="2"/>
              </a:rPr>
              <a:t>Rating:</a:t>
            </a:r>
          </a:p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16A43F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cs typeface="Arial" pitchFamily="34" charset="0"/>
                <a:sym typeface="Wingdings 2" panose="05020102010507070707" pitchFamily="18" charset="2"/>
              </a:rPr>
              <a:t> Fully on track, no intervention needed</a:t>
            </a:r>
          </a:p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FDB508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solidFill>
                  <a:srgbClr val="FFC000"/>
                </a:solidFill>
                <a:cs typeface="Arial" pitchFamily="34" charset="0"/>
                <a:sym typeface="Wingdings 2" panose="05020102010507070707" pitchFamily="18" charset="2"/>
              </a:rPr>
              <a:t> </a:t>
            </a:r>
            <a:r>
              <a:rPr lang="en-GB" sz="800" dirty="0"/>
              <a:t>Off-track, but a credible plan is in-place to get back on-track</a:t>
            </a:r>
            <a:endParaRPr lang="en-US" sz="800" dirty="0">
              <a:cs typeface="Arial" pitchFamily="34" charset="0"/>
              <a:sym typeface="Wingdings 2" panose="05020102010507070707" pitchFamily="18" charset="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731671" y="6366190"/>
            <a:ext cx="3998278" cy="335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FF0000"/>
                </a:solidFill>
                <a:cs typeface="Arial" pitchFamily="34" charset="0"/>
                <a:sym typeface="Wingdings 2" panose="05020102010507070707" pitchFamily="18" charset="2"/>
              </a:rPr>
              <a:t> </a:t>
            </a:r>
            <a:r>
              <a:rPr lang="en-GB" sz="800" dirty="0"/>
              <a:t>Off-track and no credible plan in-place to get back on-track. Intervention required.</a:t>
            </a:r>
          </a:p>
          <a:p>
            <a:pPr>
              <a:lnSpc>
                <a:spcPts val="900"/>
              </a:lnSpc>
            </a:pPr>
            <a:r>
              <a:rPr lang="en-US" sz="800" dirty="0">
                <a:solidFill>
                  <a:srgbClr val="0070C0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solidFill>
                  <a:srgbClr val="FF0000"/>
                </a:solidFill>
                <a:cs typeface="Arial" pitchFamily="34" charset="0"/>
                <a:sym typeface="Wingdings 2" panose="05020102010507070707" pitchFamily="18" charset="2"/>
              </a:rPr>
              <a:t> </a:t>
            </a:r>
            <a:r>
              <a:rPr lang="en-GB" sz="800" dirty="0"/>
              <a:t>Completed.</a:t>
            </a:r>
          </a:p>
        </p:txBody>
      </p:sp>
      <p:grpSp>
        <p:nvGrpSpPr>
          <p:cNvPr id="16" name="Group 15"/>
          <p:cNvGrpSpPr/>
          <p:nvPr>
            <p:custDataLst>
              <p:tags r:id="rId3"/>
            </p:custDataLst>
          </p:nvPr>
        </p:nvGrpSpPr>
        <p:grpSpPr>
          <a:xfrm>
            <a:off x="218754" y="474844"/>
            <a:ext cx="5383555" cy="2290972"/>
            <a:chOff x="179512" y="1057014"/>
            <a:chExt cx="4320480" cy="3016888"/>
          </a:xfrm>
        </p:grpSpPr>
        <p:sp>
          <p:nvSpPr>
            <p:cNvPr id="17" name="Rectangle 16"/>
            <p:cNvSpPr/>
            <p:nvPr/>
          </p:nvSpPr>
          <p:spPr bwMode="auto">
            <a:xfrm>
              <a:off x="179512" y="1406360"/>
              <a:ext cx="4320480" cy="2667542"/>
            </a:xfrm>
            <a:prstGeom prst="rect">
              <a:avLst/>
            </a:prstGeom>
            <a:solidFill>
              <a:srgbClr val="F1F2E7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/>
                <a:t>Logistic Delivery Satellites – Unit Test (end-to-end) in progress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err="1" smtClean="0"/>
                <a:t>Dynasys</a:t>
              </a:r>
              <a:r>
                <a:rPr lang="en-GB" sz="1000" dirty="0" smtClean="0"/>
                <a:t> UT closed</a:t>
              </a:r>
              <a:endParaRPr lang="en-GB" sz="1000" dirty="0"/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/>
                <a:t>TMs </a:t>
              </a:r>
              <a:r>
                <a:rPr lang="en-GB" sz="1000" dirty="0" err="1"/>
                <a:t>Kewilll</a:t>
              </a:r>
              <a:r>
                <a:rPr lang="en-GB" sz="1000" dirty="0"/>
                <a:t> </a:t>
              </a:r>
              <a:r>
                <a:rPr lang="en-GB" sz="1000" dirty="0" smtClean="0"/>
                <a:t>UT closed</a:t>
              </a:r>
              <a:endParaRPr lang="en-GB" sz="1000" dirty="0"/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endParaRPr lang="en-GB" sz="1000" dirty="0" smtClean="0"/>
            </a:p>
          </p:txBody>
        </p:sp>
        <p:sp>
          <p:nvSpPr>
            <p:cNvPr id="18" name="Rectangle 17"/>
            <p:cNvSpPr/>
            <p:nvPr/>
          </p:nvSpPr>
          <p:spPr bwMode="auto">
            <a:xfrm>
              <a:off x="179512" y="1057014"/>
              <a:ext cx="4320480" cy="360040"/>
            </a:xfrm>
            <a:prstGeom prst="rect">
              <a:avLst/>
            </a:prstGeom>
            <a:solidFill>
              <a:srgbClr val="5F7800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algn="ctr" eaLnBrk="0" hangingPunct="0">
                <a:spcAft>
                  <a:spcPts val="600"/>
                </a:spcAft>
              </a:pPr>
              <a:r>
                <a:rPr lang="en-US" sz="1000" b="1" dirty="0">
                  <a:solidFill>
                    <a:srgbClr val="FFFFFF"/>
                  </a:solidFill>
                  <a:latin typeface="+mj-lt"/>
                  <a:cs typeface="Arial" pitchFamily="34" charset="0"/>
                </a:rPr>
                <a:t>Activities completed</a:t>
              </a:r>
            </a:p>
          </p:txBody>
        </p:sp>
      </p:grpSp>
      <p:graphicFrame>
        <p:nvGraphicFramePr>
          <p:cNvPr id="30" name="Table 29"/>
          <p:cNvGraphicFramePr>
            <a:graphicFrameLocks noGrp="1"/>
          </p:cNvGraphicFramePr>
          <p:nvPr>
            <p:custDataLst>
              <p:tags r:id="rId4"/>
            </p:custDataLst>
            <p:extLst>
              <p:ext uri="{D42A27DB-BD31-4B8C-83A1-F6EECF244321}">
                <p14:modId xmlns:p14="http://schemas.microsoft.com/office/powerpoint/2010/main" val="1264988269"/>
              </p:ext>
            </p:extLst>
          </p:nvPr>
        </p:nvGraphicFramePr>
        <p:xfrm>
          <a:off x="218754" y="5416086"/>
          <a:ext cx="11578292" cy="667807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5344917"/>
                <a:gridCol w="1746987"/>
                <a:gridCol w="2411848"/>
                <a:gridCol w="2074540"/>
              </a:tblGrid>
              <a:tr h="27851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Intervention or decision required</a:t>
                      </a:r>
                      <a:endParaRPr kumimoji="0" 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smtClean="0">
                          <a:latin typeface="+mj-lt"/>
                          <a:cs typeface="Calibri" panose="020F0502020204030204" pitchFamily="34" charset="0"/>
                        </a:rPr>
                        <a:t>Raised by Interface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aseline="0" dirty="0" smtClean="0">
                          <a:latin typeface="+mj-lt"/>
                          <a:cs typeface="Calibri" panose="020F0502020204030204" pitchFamily="34" charset="0"/>
                        </a:rPr>
                        <a:t>Responsible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CH" sz="1000" dirty="0" smtClean="0">
                          <a:latin typeface="+mj-lt"/>
                          <a:cs typeface="Calibri" panose="020F0502020204030204" pitchFamily="34" charset="0"/>
                        </a:rPr>
                        <a:t>Due by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</a:tr>
              <a:tr h="194647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</a:tr>
              <a:tr h="194647">
                <a:tc>
                  <a:txBody>
                    <a:bodyPr/>
                    <a:lstStyle/>
                    <a:p>
                      <a:pPr marL="0" marR="0" indent="0" algn="l" defTabSz="6858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</a:tr>
            </a:tbl>
          </a:graphicData>
        </a:graphic>
      </p:graphicFrame>
      <p:grpSp>
        <p:nvGrpSpPr>
          <p:cNvPr id="23" name="Group 22"/>
          <p:cNvGrpSpPr/>
          <p:nvPr>
            <p:custDataLst>
              <p:tags r:id="rId5"/>
            </p:custDataLst>
          </p:nvPr>
        </p:nvGrpSpPr>
        <p:grpSpPr>
          <a:xfrm>
            <a:off x="6376908" y="445449"/>
            <a:ext cx="5385816" cy="2295144"/>
            <a:chOff x="179512" y="1196752"/>
            <a:chExt cx="4320480" cy="2852161"/>
          </a:xfrm>
        </p:grpSpPr>
        <p:sp>
          <p:nvSpPr>
            <p:cNvPr id="27" name="Rectangle 26"/>
            <p:cNvSpPr/>
            <p:nvPr/>
          </p:nvSpPr>
          <p:spPr bwMode="auto">
            <a:xfrm>
              <a:off x="179512" y="1556792"/>
              <a:ext cx="4320480" cy="2492121"/>
            </a:xfrm>
            <a:prstGeom prst="rect">
              <a:avLst/>
            </a:prstGeom>
            <a:solidFill>
              <a:srgbClr val="F1F2E7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Confirm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</a:t>
              </a:r>
              <a:r>
                <a:rPr lang="en-GB" sz="1000" dirty="0" err="1" smtClean="0">
                  <a:latin typeface="+mj-lt"/>
                </a:rPr>
                <a:t>WeMap</a:t>
              </a:r>
              <a:r>
                <a:rPr lang="en-GB" sz="1000" dirty="0" smtClean="0">
                  <a:latin typeface="+mj-lt"/>
                </a:rPr>
                <a:t> changes Feedback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Close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flat file ECC design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Close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GD design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Finalize GKO fixes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Evaluate decommissioning of AILOG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endParaRPr lang="en-GB" sz="1000" dirty="0" smtClean="0">
                <a:latin typeface="+mj-lt"/>
              </a:endParaRPr>
            </a:p>
          </p:txBody>
        </p:sp>
        <p:sp>
          <p:nvSpPr>
            <p:cNvPr id="29" name="Rectangle 28"/>
            <p:cNvSpPr/>
            <p:nvPr/>
          </p:nvSpPr>
          <p:spPr bwMode="auto">
            <a:xfrm>
              <a:off x="179512" y="1196752"/>
              <a:ext cx="4320480" cy="360040"/>
            </a:xfrm>
            <a:prstGeom prst="rect">
              <a:avLst/>
            </a:prstGeom>
            <a:solidFill>
              <a:schemeClr val="accent6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lvl="0" algn="ctr">
                <a:defRPr/>
              </a:pPr>
              <a:r>
                <a:rPr lang="en-US" sz="1000" b="1" dirty="0">
                  <a:solidFill>
                    <a:srgbClr val="FFFFFF"/>
                  </a:solidFill>
                  <a:latin typeface="+mj-lt"/>
                  <a:cs typeface="Arial" pitchFamily="34" charset="0"/>
                </a:rPr>
                <a:t>Activities for coming week</a:t>
              </a:r>
            </a:p>
          </p:txBody>
        </p:sp>
      </p:grpSp>
      <p:sp>
        <p:nvSpPr>
          <p:cNvPr id="31" name="Oval 9"/>
          <p:cNvSpPr>
            <a:spLocks noChangeArrowheads="1"/>
          </p:cNvSpPr>
          <p:nvPr>
            <p:custDataLst>
              <p:tags r:id="rId6"/>
            </p:custDataLst>
          </p:nvPr>
        </p:nvSpPr>
        <p:spPr bwMode="auto">
          <a:xfrm rot="5400000">
            <a:off x="10949448" y="119760"/>
            <a:ext cx="275658" cy="275657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 w="28575" algn="ctr">
            <a:solidFill>
              <a:schemeClr val="bg1"/>
            </a:solidFill>
            <a:round/>
            <a:headEnd/>
            <a:tailEnd/>
          </a:ln>
          <a:effectLst/>
        </p:spPr>
        <p:txBody>
          <a:bodyPr vert="horz" wrap="none" lIns="72000" tIns="72000" rIns="72000" bIns="72000" numCol="1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dirty="0">
              <a:latin typeface="Arial" pitchFamily="34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2744354"/>
              </p:ext>
            </p:extLst>
          </p:nvPr>
        </p:nvGraphicFramePr>
        <p:xfrm>
          <a:off x="207331" y="2830566"/>
          <a:ext cx="11555392" cy="2473713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084622"/>
                <a:gridCol w="2823590"/>
                <a:gridCol w="2823590"/>
                <a:gridCol w="2823590"/>
              </a:tblGrid>
              <a:tr h="213426">
                <a:tc gridSpan="4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Data</a:t>
                      </a:r>
                      <a:r>
                        <a:rPr lang="de-CH" sz="1000" b="1" kern="1200" baseline="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 Objects Needed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COMM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n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err="1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PnS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FIP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Nut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</a:tr>
              <a:tr h="305689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Customer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Transport master data 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Credit Limit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685814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</a:p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Material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Bank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Customer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Pricing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Carrier tracking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Fiscally relevant transactional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Material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n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38554">
                <a:tc>
                  <a:txBody>
                    <a:bodyPr/>
                    <a:lstStyle/>
                    <a:p>
                      <a:pPr marL="0" marR="0" indent="0" algn="ctr" defTabSz="685814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Freight invoices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FI/CO-postings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Production orders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5277251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4296992"/>
              </p:ext>
            </p:extLst>
          </p:nvPr>
        </p:nvGraphicFramePr>
        <p:xfrm>
          <a:off x="193182" y="161782"/>
          <a:ext cx="11797048" cy="592796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803043"/>
                <a:gridCol w="1481071"/>
                <a:gridCol w="862884"/>
                <a:gridCol w="2422504"/>
                <a:gridCol w="542902"/>
                <a:gridCol w="591417"/>
                <a:gridCol w="608195"/>
                <a:gridCol w="1578960"/>
                <a:gridCol w="1906072"/>
              </a:tblGrid>
              <a:tr h="434160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Satellites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Data needed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Streams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Solution Readiness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Environment Readiness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Data Requirements identified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Cutover Strategy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</a:tr>
              <a:tr h="262068">
                <a:tc vMerge="1"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IST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5F78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UAT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5F78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PROD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5F7800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Agroview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(stand alone)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PecSyn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YES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(still in design phase)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(MD/TD)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Plussoft SaaS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  <a:r>
                        <a:rPr lang="pt-BR" sz="12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(flat file ready)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SPOT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(stand alone - design on going)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(MD/TD)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Teamspace (SIPExc mngt)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(stand alone)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Bank Payment Processing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Credito Rural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(flat file ready)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94324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Easy IRPJ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(flat file ready)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73858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(interfaces </a:t>
                      </a:r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ready)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MasterSAF DW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(interfaces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full upload/refresh)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Payroll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?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Rhadar Cartão de Visitar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Serasa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59386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Synseg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TPS (Pricing) 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TP-Tool / BW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GD 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in design)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 design)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ML Substitute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(build plan 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Monitoramento Logistico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(decomission)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WebMap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delta update)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212374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Ailog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(on hold)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Carrier Web Services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in unit test)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Dynasys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</a:t>
                      </a:r>
                      <a:r>
                        <a:rPr lang="en-US" sz="12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file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ready)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manual maint)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GKO Frete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in unit test)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delta upload)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One Source Global 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Painel e-Kanban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(decomission)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51480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TMS Kewill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ready)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manual maint)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51480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Toledo scale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to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Dynasys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</a:tbl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1287888" y="6284889"/>
            <a:ext cx="5731098" cy="386367"/>
          </a:xfrm>
          <a:prstGeom prst="rect">
            <a:avLst/>
          </a:prstGeom>
          <a:noFill/>
        </p:spPr>
        <p:txBody>
          <a:bodyPr wrap="none" rtlCol="0">
            <a:normAutofit fontScale="70000" lnSpcReduction="2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* No data is sent, just retrieved from Satellite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** Stand alone systems have data being inputed manually</a:t>
            </a:r>
          </a:p>
        </p:txBody>
      </p:sp>
    </p:spTree>
    <p:extLst>
      <p:ext uri="{BB962C8B-B14F-4D97-AF65-F5344CB8AC3E}">
        <p14:creationId xmlns:p14="http://schemas.microsoft.com/office/powerpoint/2010/main" val="68827079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PnS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14744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DYNASYS / Toledo Scale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8215463" y="381696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IST / UAT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8" name="Rectangle 57"/>
          <p:cNvSpPr/>
          <p:nvPr/>
        </p:nvSpPr>
        <p:spPr bwMode="auto">
          <a:xfrm>
            <a:off x="10835183" y="389252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4" name="Elbow Connector 73"/>
          <p:cNvCxnSpPr>
            <a:stCxn id="7" idx="2"/>
            <a:endCxn id="58" idx="0"/>
          </p:cNvCxnSpPr>
          <p:nvPr/>
        </p:nvCxnSpPr>
        <p:spPr bwMode="auto">
          <a:xfrm rot="5400000">
            <a:off x="10408237" y="3041600"/>
            <a:ext cx="1701848" cy="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0" name="Rectangle 89"/>
          <p:cNvSpPr/>
          <p:nvPr/>
        </p:nvSpPr>
        <p:spPr bwMode="auto">
          <a:xfrm>
            <a:off x="4697423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3" name="Straight Arrow Connector 92"/>
          <p:cNvCxnSpPr>
            <a:stCxn id="71" idx="3"/>
            <a:endCxn id="90" idx="1"/>
          </p:cNvCxnSpPr>
          <p:nvPr/>
        </p:nvCxnSpPr>
        <p:spPr bwMode="auto">
          <a:xfrm flipV="1">
            <a:off x="3456077" y="1905361"/>
            <a:ext cx="1241346" cy="109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16200000" flipH="1">
            <a:off x="4572847" y="2745579"/>
            <a:ext cx="1109982" cy="12879"/>
          </a:xfrm>
          <a:prstGeom prst="bentConnector3">
            <a:avLst>
              <a:gd name="adj1" fmla="val 5911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649700" y="381575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122" name="Elbow Connector 121"/>
          <p:cNvCxnSpPr>
            <a:stCxn id="8" idx="2"/>
            <a:endCxn id="39" idx="1"/>
          </p:cNvCxnSpPr>
          <p:nvPr/>
        </p:nvCxnSpPr>
        <p:spPr bwMode="auto">
          <a:xfrm rot="16200000" flipH="1">
            <a:off x="6946654" y="2839826"/>
            <a:ext cx="1461975" cy="1075643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39" idx="0"/>
          </p:cNvCxnSpPr>
          <p:nvPr/>
        </p:nvCxnSpPr>
        <p:spPr bwMode="auto">
          <a:xfrm rot="16200000" flipH="1">
            <a:off x="8050837" y="3228365"/>
            <a:ext cx="1170307" cy="689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39" idx="3"/>
          </p:cNvCxnSpPr>
          <p:nvPr/>
        </p:nvCxnSpPr>
        <p:spPr bwMode="auto">
          <a:xfrm rot="5400000">
            <a:off x="8519449" y="2734643"/>
            <a:ext cx="1917958" cy="83002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483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48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333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682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40" name="Rectangle 139"/>
          <p:cNvSpPr/>
          <p:nvPr/>
        </p:nvSpPr>
        <p:spPr bwMode="auto">
          <a:xfrm>
            <a:off x="4710480" y="453125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TOLEDO scale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cxnSp>
        <p:nvCxnSpPr>
          <p:cNvPr id="141" name="Elbow Connector 140"/>
          <p:cNvCxnSpPr>
            <a:stCxn id="140" idx="0"/>
            <a:endCxn id="38" idx="2"/>
          </p:cNvCxnSpPr>
          <p:nvPr/>
        </p:nvCxnSpPr>
        <p:spPr bwMode="auto">
          <a:xfrm rot="16200000" flipV="1">
            <a:off x="4813911" y="4210713"/>
            <a:ext cx="640913" cy="17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45" name="Rectangle 144"/>
          <p:cNvSpPr/>
          <p:nvPr/>
        </p:nvSpPr>
        <p:spPr bwMode="auto">
          <a:xfrm>
            <a:off x="10841537" y="540502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TOLEDO scale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46" name="Elbow Connector 145"/>
          <p:cNvCxnSpPr>
            <a:stCxn id="145" idx="0"/>
            <a:endCxn id="58" idx="2"/>
          </p:cNvCxnSpPr>
          <p:nvPr/>
        </p:nvCxnSpPr>
        <p:spPr bwMode="auto">
          <a:xfrm rot="16200000" flipV="1">
            <a:off x="10797753" y="4937267"/>
            <a:ext cx="929166" cy="635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Elbow Connector 47"/>
          <p:cNvCxnSpPr>
            <a:stCxn id="145" idx="1"/>
            <a:endCxn id="39" idx="2"/>
          </p:cNvCxnSpPr>
          <p:nvPr/>
        </p:nvCxnSpPr>
        <p:spPr bwMode="auto">
          <a:xfrm rot="10800000">
            <a:off x="8639439" y="4400303"/>
            <a:ext cx="2202098" cy="1296392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5199243" y="244585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372419" y="4481570"/>
            <a:ext cx="79380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 smtClean="0"/>
              <a:t>2008 server</a:t>
            </a:r>
            <a:endParaRPr lang="pt-BR" sz="900" dirty="0"/>
          </a:p>
        </p:txBody>
      </p:sp>
      <p:sp>
        <p:nvSpPr>
          <p:cNvPr id="53" name="Rectangle 52"/>
          <p:cNvSpPr/>
          <p:nvPr/>
        </p:nvSpPr>
        <p:spPr>
          <a:xfrm>
            <a:off x="10461271" y="4544150"/>
            <a:ext cx="79380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 smtClean="0"/>
              <a:t>2008 server</a:t>
            </a:r>
            <a:endParaRPr lang="pt-BR" sz="900" dirty="0"/>
          </a:p>
        </p:txBody>
      </p:sp>
      <p:sp>
        <p:nvSpPr>
          <p:cNvPr id="70" name="Rectangle 69"/>
          <p:cNvSpPr/>
          <p:nvPr/>
        </p:nvSpPr>
        <p:spPr bwMode="auto">
          <a:xfrm>
            <a:off x="400805" y="1604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1" name="Rectangle 70"/>
          <p:cNvSpPr/>
          <p:nvPr/>
        </p:nvSpPr>
        <p:spPr bwMode="auto">
          <a:xfrm>
            <a:off x="2608126" y="161478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2605683" y="268303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3" name="Straight Arrow Connector 72"/>
          <p:cNvCxnSpPr>
            <a:stCxn id="70" idx="3"/>
            <a:endCxn id="71" idx="1"/>
          </p:cNvCxnSpPr>
          <p:nvPr/>
        </p:nvCxnSpPr>
        <p:spPr bwMode="auto">
          <a:xfrm>
            <a:off x="1248756" y="1896504"/>
            <a:ext cx="1359370" cy="994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Straight Arrow Connector 74"/>
          <p:cNvCxnSpPr>
            <a:stCxn id="70" idx="3"/>
            <a:endCxn id="72" idx="1"/>
          </p:cNvCxnSpPr>
          <p:nvPr/>
        </p:nvCxnSpPr>
        <p:spPr bwMode="auto">
          <a:xfrm>
            <a:off x="1248756" y="1896504"/>
            <a:ext cx="1356927" cy="1078195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pic>
        <p:nvPicPr>
          <p:cNvPr id="13" name="Picture 12">
            <a:hlinkClick r:id="rId2" action="ppaction://hlinkfile" tooltip="RFC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7171" y="2555336"/>
            <a:ext cx="427958" cy="427958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3471021" y="5317524"/>
            <a:ext cx="5585495" cy="132917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Dynasys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Dynasys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pic>
        <p:nvPicPr>
          <p:cNvPr id="3" name="Picture 2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1875" y="3978820"/>
            <a:ext cx="425118" cy="530663"/>
          </a:xfrm>
          <a:prstGeom prst="rect">
            <a:avLst/>
          </a:prstGeom>
        </p:spPr>
      </p:pic>
      <p:pic>
        <p:nvPicPr>
          <p:cNvPr id="59" name="Picture 58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8672" y="3073472"/>
            <a:ext cx="425118" cy="530663"/>
          </a:xfrm>
          <a:prstGeom prst="rect">
            <a:avLst/>
          </a:prstGeom>
        </p:spPr>
      </p:pic>
      <p:pic>
        <p:nvPicPr>
          <p:cNvPr id="60" name="Picture 59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1393" y="2808140"/>
            <a:ext cx="425118" cy="530663"/>
          </a:xfrm>
          <a:prstGeom prst="rect">
            <a:avLst/>
          </a:prstGeom>
        </p:spPr>
      </p:pic>
      <p:pic>
        <p:nvPicPr>
          <p:cNvPr id="61" name="Picture 60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2435" y="4752096"/>
            <a:ext cx="425118" cy="530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0073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TMS Kewill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2153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608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3146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3146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842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3134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4196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9104105" y="4229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  Sandbox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16200000" flipH="1">
            <a:off x="7822173" y="2523539"/>
            <a:ext cx="791735" cy="26200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39" idx="0"/>
          </p:cNvCxnSpPr>
          <p:nvPr/>
        </p:nvCxnSpPr>
        <p:spPr bwMode="auto">
          <a:xfrm rot="16200000" flipH="1">
            <a:off x="8568534" y="3269900"/>
            <a:ext cx="791735" cy="11273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39" idx="0"/>
          </p:cNvCxnSpPr>
          <p:nvPr/>
        </p:nvCxnSpPr>
        <p:spPr bwMode="auto">
          <a:xfrm rot="5400000">
            <a:off x="9314895" y="3650900"/>
            <a:ext cx="791735" cy="3653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4229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 PROD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857550" y="3827834"/>
            <a:ext cx="80322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649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643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2686104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681491" y="319847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2159361"/>
            <a:ext cx="1479014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261787" y="3323519"/>
            <a:ext cx="1744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556" y="5328891"/>
            <a:ext cx="4898926" cy="121879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PI/PO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TMS PROD to POP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TMS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2150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3142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140628" y="298147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558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39275" y="4846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(5); (6)</a:t>
            </a:r>
          </a:p>
        </p:txBody>
      </p:sp>
      <p:sp>
        <p:nvSpPr>
          <p:cNvPr id="110" name="Rectangle 109"/>
          <p:cNvSpPr/>
          <p:nvPr/>
        </p:nvSpPr>
        <p:spPr bwMode="auto">
          <a:xfrm>
            <a:off x="2699811" y="419600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Sandbox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1" name="Elbow Connector 110"/>
          <p:cNvCxnSpPr>
            <a:stCxn id="88" idx="2"/>
            <a:endCxn id="110" idx="0"/>
          </p:cNvCxnSpPr>
          <p:nvPr/>
        </p:nvCxnSpPr>
        <p:spPr bwMode="auto">
          <a:xfrm rot="16200000" flipH="1">
            <a:off x="2244443" y="3316664"/>
            <a:ext cx="1744981" cy="1370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4" name="Elbow Connector 113"/>
          <p:cNvCxnSpPr>
            <a:stCxn id="89" idx="2"/>
            <a:endCxn id="110" idx="0"/>
          </p:cNvCxnSpPr>
          <p:nvPr/>
        </p:nvCxnSpPr>
        <p:spPr bwMode="auto">
          <a:xfrm rot="16200000" flipH="1">
            <a:off x="1907527" y="2979748"/>
            <a:ext cx="414201" cy="20183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20" name="TextBox 119"/>
          <p:cNvSpPr txBox="1"/>
          <p:nvPr/>
        </p:nvSpPr>
        <p:spPr>
          <a:xfrm>
            <a:off x="995382" y="2567492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577551" y="2577303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53872" y="2574239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501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499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79170" y="360046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endParaRPr lang="pt-BR" sz="1200" dirty="0" smtClean="0"/>
          </a:p>
        </p:txBody>
      </p:sp>
      <p:cxnSp>
        <p:nvCxnSpPr>
          <p:cNvPr id="61" name="Straight Connector 60"/>
          <p:cNvCxnSpPr/>
          <p:nvPr/>
        </p:nvCxnSpPr>
        <p:spPr bwMode="auto">
          <a:xfrm>
            <a:off x="388624" y="3981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62" name="Straight Connector 61"/>
          <p:cNvCxnSpPr/>
          <p:nvPr/>
        </p:nvCxnSpPr>
        <p:spPr bwMode="auto">
          <a:xfrm>
            <a:off x="6417610" y="396743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graphicFrame>
        <p:nvGraphicFramePr>
          <p:cNvPr id="3" name="Object 2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57095708"/>
              </p:ext>
            </p:extLst>
          </p:nvPr>
        </p:nvGraphicFramePr>
        <p:xfrm>
          <a:off x="4460124" y="3282157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42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460124" y="3282157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3" name="Object 62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16898571"/>
              </p:ext>
            </p:extLst>
          </p:nvPr>
        </p:nvGraphicFramePr>
        <p:xfrm>
          <a:off x="2462590" y="3448572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43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462590" y="3448572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4" name="Object 63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24175539"/>
              </p:ext>
            </p:extLst>
          </p:nvPr>
        </p:nvGraphicFramePr>
        <p:xfrm>
          <a:off x="8847636" y="3831209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44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8847636" y="3831209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" name="Object 64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32150068"/>
              </p:ext>
            </p:extLst>
          </p:nvPr>
        </p:nvGraphicFramePr>
        <p:xfrm>
          <a:off x="10587252" y="3713218"/>
          <a:ext cx="863125" cy="62122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45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0587252" y="3713218"/>
                        <a:ext cx="863125" cy="62122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6" name="Straight Arrow Connector 65"/>
          <p:cNvCxnSpPr>
            <a:endCxn id="90" idx="1"/>
          </p:cNvCxnSpPr>
          <p:nvPr/>
        </p:nvCxnSpPr>
        <p:spPr bwMode="auto">
          <a:xfrm>
            <a:off x="3534055" y="2150504"/>
            <a:ext cx="1176247" cy="885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endCxn id="89" idx="0"/>
          </p:cNvCxnSpPr>
          <p:nvPr/>
        </p:nvCxnSpPr>
        <p:spPr bwMode="auto">
          <a:xfrm>
            <a:off x="684282" y="2459076"/>
            <a:ext cx="421185" cy="73939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1629811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GKO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765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765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461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753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3964483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GKO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6818105" y="3594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GKO Sandbox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16200000" flipH="1">
            <a:off x="6806173" y="3158539"/>
            <a:ext cx="537735" cy="3340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39" idx="0"/>
          </p:cNvCxnSpPr>
          <p:nvPr/>
        </p:nvCxnSpPr>
        <p:spPr bwMode="auto">
          <a:xfrm rot="5400000">
            <a:off x="7552534" y="2746260"/>
            <a:ext cx="537735" cy="11586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39" idx="0"/>
          </p:cNvCxnSpPr>
          <p:nvPr/>
        </p:nvCxnSpPr>
        <p:spPr bwMode="auto">
          <a:xfrm rot="5400000">
            <a:off x="8298895" y="1999900"/>
            <a:ext cx="537735" cy="26513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3594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GKO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984550" y="3319834"/>
            <a:ext cx="54922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268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262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1851860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334458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" name="Straight Arrow Connector 91"/>
          <p:cNvCxnSpPr>
            <a:stCxn id="88" idx="3"/>
            <a:endCxn id="89" idx="1"/>
          </p:cNvCxnSpPr>
          <p:nvPr/>
        </p:nvCxnSpPr>
        <p:spPr bwMode="auto">
          <a:xfrm>
            <a:off x="2699811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3" name="Straight Arrow Connector 92"/>
          <p:cNvCxnSpPr>
            <a:stCxn id="89" idx="3"/>
            <a:endCxn id="90" idx="1"/>
          </p:cNvCxnSpPr>
          <p:nvPr/>
        </p:nvCxnSpPr>
        <p:spPr bwMode="auto">
          <a:xfrm>
            <a:off x="4192532" y="1778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1839156" y="5614022"/>
            <a:ext cx="7871606" cy="111179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3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Implement Changes in GKO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POP to FEP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/>
              <a:t>Automatically </a:t>
            </a:r>
            <a:r>
              <a:rPr lang="pt-BR" sz="1200" dirty="0" smtClean="0"/>
              <a:t>create MD in GKO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761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447088" y="2097786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86047" y="443154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 (6); (7)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84144" y="2120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62" name="Rectangle 61"/>
          <p:cNvSpPr/>
          <p:nvPr/>
        </p:nvSpPr>
        <p:spPr bwMode="auto">
          <a:xfrm>
            <a:off x="361867" y="296077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Rectangle 62"/>
          <p:cNvSpPr/>
          <p:nvPr/>
        </p:nvSpPr>
        <p:spPr bwMode="auto">
          <a:xfrm>
            <a:off x="1854588" y="296077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4" name="Straight Arrow Connector 63"/>
          <p:cNvCxnSpPr>
            <a:stCxn id="62" idx="3"/>
            <a:endCxn id="63" idx="1"/>
          </p:cNvCxnSpPr>
          <p:nvPr/>
        </p:nvCxnSpPr>
        <p:spPr bwMode="auto">
          <a:xfrm>
            <a:off x="1209818" y="3252439"/>
            <a:ext cx="644770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Rectangle 64"/>
          <p:cNvSpPr/>
          <p:nvPr/>
        </p:nvSpPr>
        <p:spPr bwMode="auto">
          <a:xfrm>
            <a:off x="3347309" y="296077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>
            <a:off x="2702539" y="3252440"/>
            <a:ext cx="644770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7" name="Rectangle 66"/>
          <p:cNvSpPr/>
          <p:nvPr/>
        </p:nvSpPr>
        <p:spPr bwMode="auto">
          <a:xfrm>
            <a:off x="4713030" y="298092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8" name="Straight Arrow Connector 67"/>
          <p:cNvCxnSpPr>
            <a:stCxn id="65" idx="3"/>
            <a:endCxn id="67" idx="1"/>
          </p:cNvCxnSpPr>
          <p:nvPr/>
        </p:nvCxnSpPr>
        <p:spPr bwMode="auto">
          <a:xfrm>
            <a:off x="4195260" y="3252441"/>
            <a:ext cx="517770" cy="2015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5268022" y="317904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cxnSp>
        <p:nvCxnSpPr>
          <p:cNvPr id="72" name="Elbow Connector 71"/>
          <p:cNvCxnSpPr>
            <a:stCxn id="67" idx="2"/>
            <a:endCxn id="38" idx="0"/>
          </p:cNvCxnSpPr>
          <p:nvPr/>
        </p:nvCxnSpPr>
        <p:spPr bwMode="auto">
          <a:xfrm rot="5400000">
            <a:off x="4935531" y="3763008"/>
            <a:ext cx="400222" cy="27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87" idx="2"/>
            <a:endCxn id="62" idx="0"/>
          </p:cNvCxnSpPr>
          <p:nvPr/>
        </p:nvCxnSpPr>
        <p:spPr bwMode="auto">
          <a:xfrm rot="16200000" flipH="1">
            <a:off x="339108" y="2514035"/>
            <a:ext cx="890743" cy="27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88" idx="2"/>
            <a:endCxn id="63" idx="0"/>
          </p:cNvCxnSpPr>
          <p:nvPr/>
        </p:nvCxnSpPr>
        <p:spPr bwMode="auto">
          <a:xfrm rot="16200000" flipH="1">
            <a:off x="1831828" y="2514036"/>
            <a:ext cx="890744" cy="27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7" name="Elbow Connector 76"/>
          <p:cNvCxnSpPr>
            <a:stCxn id="89" idx="2"/>
            <a:endCxn id="65" idx="0"/>
          </p:cNvCxnSpPr>
          <p:nvPr/>
        </p:nvCxnSpPr>
        <p:spPr bwMode="auto">
          <a:xfrm rot="16200000" flipH="1">
            <a:off x="3324549" y="2514036"/>
            <a:ext cx="890745" cy="27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0" name="Elbow Connector 79"/>
          <p:cNvCxnSpPr>
            <a:stCxn id="90" idx="2"/>
            <a:endCxn id="67" idx="0"/>
          </p:cNvCxnSpPr>
          <p:nvPr/>
        </p:nvCxnSpPr>
        <p:spPr bwMode="auto">
          <a:xfrm rot="16200000" flipH="1">
            <a:off x="4680193" y="2524113"/>
            <a:ext cx="910898" cy="27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5" name="TextBox 94"/>
          <p:cNvSpPr txBox="1"/>
          <p:nvPr/>
        </p:nvSpPr>
        <p:spPr>
          <a:xfrm>
            <a:off x="881327" y="212997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ABAP Proxy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594851" y="212655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ABAP Proxy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044992" y="212407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ABAP Proxy</a:t>
            </a:r>
          </a:p>
        </p:txBody>
      </p:sp>
      <p:sp>
        <p:nvSpPr>
          <p:cNvPr id="115" name="Cloud Callout 114"/>
          <p:cNvSpPr/>
          <p:nvPr/>
        </p:nvSpPr>
        <p:spPr bwMode="auto">
          <a:xfrm>
            <a:off x="9637068" y="4683369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cxnSp>
        <p:nvCxnSpPr>
          <p:cNvPr id="116" name="Elbow Connector 115"/>
          <p:cNvCxnSpPr>
            <a:stCxn id="58" idx="2"/>
            <a:endCxn id="115" idx="3"/>
          </p:cNvCxnSpPr>
          <p:nvPr/>
        </p:nvCxnSpPr>
        <p:spPr bwMode="auto">
          <a:xfrm rot="5400000">
            <a:off x="10527896" y="3997756"/>
            <a:ext cx="551240" cy="91129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8" name="TextBox 117"/>
          <p:cNvSpPr txBox="1"/>
          <p:nvPr/>
        </p:nvSpPr>
        <p:spPr>
          <a:xfrm>
            <a:off x="11403762" y="42334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FTP</a:t>
            </a:r>
          </a:p>
        </p:txBody>
      </p:sp>
      <p:sp>
        <p:nvSpPr>
          <p:cNvPr id="119" name="Cloud Callout 118"/>
          <p:cNvSpPr/>
          <p:nvPr/>
        </p:nvSpPr>
        <p:spPr bwMode="auto">
          <a:xfrm>
            <a:off x="1526517" y="4707668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SEFAZ</a:t>
            </a:r>
          </a:p>
        </p:txBody>
      </p:sp>
      <p:sp>
        <p:nvSpPr>
          <p:cNvPr id="121" name="Cloud Callout 120"/>
          <p:cNvSpPr/>
          <p:nvPr/>
        </p:nvSpPr>
        <p:spPr bwMode="auto">
          <a:xfrm>
            <a:off x="7696236" y="473256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SEFAZ</a:t>
            </a:r>
          </a:p>
        </p:txBody>
      </p:sp>
      <p:cxnSp>
        <p:nvCxnSpPr>
          <p:cNvPr id="85" name="Elbow Connector 84"/>
          <p:cNvCxnSpPr>
            <a:stCxn id="38" idx="1"/>
            <a:endCxn id="119" idx="3"/>
          </p:cNvCxnSpPr>
          <p:nvPr/>
        </p:nvCxnSpPr>
        <p:spPr bwMode="auto">
          <a:xfrm rot="10800000" flipV="1">
            <a:off x="2237318" y="4256150"/>
            <a:ext cx="2472984" cy="497171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58" idx="1"/>
            <a:endCxn id="121" idx="3"/>
          </p:cNvCxnSpPr>
          <p:nvPr/>
        </p:nvCxnSpPr>
        <p:spPr bwMode="auto">
          <a:xfrm rot="10800000" flipV="1">
            <a:off x="8407037" y="3886116"/>
            <a:ext cx="2428150" cy="892102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4" name="Straight Connector 113"/>
          <p:cNvCxnSpPr/>
          <p:nvPr/>
        </p:nvCxnSpPr>
        <p:spPr bwMode="auto">
          <a:xfrm>
            <a:off x="6395678" y="4616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20" name="Straight Connector 119"/>
          <p:cNvCxnSpPr/>
          <p:nvPr/>
        </p:nvCxnSpPr>
        <p:spPr bwMode="auto">
          <a:xfrm>
            <a:off x="261624" y="4616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graphicFrame>
        <p:nvGraphicFramePr>
          <p:cNvPr id="76" name="Object 75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6952427"/>
              </p:ext>
            </p:extLst>
          </p:nvPr>
        </p:nvGraphicFramePr>
        <p:xfrm>
          <a:off x="1526517" y="3964483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84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26517" y="3964483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3" name="Object 82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81097484"/>
              </p:ext>
            </p:extLst>
          </p:nvPr>
        </p:nvGraphicFramePr>
        <p:xfrm>
          <a:off x="8268401" y="4078619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85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8268401" y="4078619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2">
            <a:hlinkClick r:id="rId3" action="ppaction://hlinkfile"/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2117" y="3553406"/>
            <a:ext cx="451672" cy="451672"/>
          </a:xfrm>
          <a:prstGeom prst="rect">
            <a:avLst/>
          </a:prstGeom>
        </p:spPr>
      </p:pic>
      <p:pic>
        <p:nvPicPr>
          <p:cNvPr id="78" name="Picture 77">
            <a:hlinkClick r:id="rId3" action="ppaction://hlinkfile"/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42832" y="3101734"/>
            <a:ext cx="451672" cy="451672"/>
          </a:xfrm>
          <a:prstGeom prst="rect">
            <a:avLst/>
          </a:prstGeom>
        </p:spPr>
      </p:pic>
      <p:pic>
        <p:nvPicPr>
          <p:cNvPr id="84" name="Picture 83">
            <a:hlinkClick r:id="rId3" action="ppaction://hlinkfile"/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7553" y="3412182"/>
            <a:ext cx="451672" cy="451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889935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OneSource Global Trade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2026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481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3019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3019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715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3007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9" name="Rectangle 38"/>
          <p:cNvSpPr/>
          <p:nvPr/>
        </p:nvSpPr>
        <p:spPr bwMode="auto">
          <a:xfrm>
            <a:off x="6484023" y="4102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5400000">
            <a:off x="6512133" y="3706580"/>
            <a:ext cx="791735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1" idx="0"/>
          </p:cNvCxnSpPr>
          <p:nvPr/>
        </p:nvCxnSpPr>
        <p:spPr bwMode="auto">
          <a:xfrm rot="16200000" flipH="1">
            <a:off x="8007758" y="3703676"/>
            <a:ext cx="789823" cy="389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2" idx="0"/>
          </p:cNvCxnSpPr>
          <p:nvPr/>
        </p:nvCxnSpPr>
        <p:spPr bwMode="auto">
          <a:xfrm rot="16200000" flipH="1">
            <a:off x="9500416" y="3703739"/>
            <a:ext cx="789822" cy="377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410301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Prod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857268" y="3701116"/>
            <a:ext cx="803791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522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516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9628" y="5179722"/>
            <a:ext cx="5125017" cy="14424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OSGT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Connect OSGT to </a:t>
            </a:r>
            <a:r>
              <a:rPr lang="pt-BR" sz="1200" dirty="0" smtClean="0"/>
              <a:t>POP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Automatically create MD in OSGT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Configuration tables for OSGT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2023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3015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431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39275" y="4719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 (5); (7)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374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372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84231" y="342138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47743" y="345869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7980641" y="410053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IST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9473236" y="41005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UAT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8425595" y="3420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03599" y="3420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65" name="Straight Arrow Connector 64"/>
          <p:cNvCxnSpPr>
            <a:stCxn id="39" idx="3"/>
            <a:endCxn id="61" idx="1"/>
          </p:cNvCxnSpPr>
          <p:nvPr/>
        </p:nvCxnSpPr>
        <p:spPr bwMode="auto">
          <a:xfrm flipV="1">
            <a:off x="7331974" y="4392204"/>
            <a:ext cx="648667" cy="19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61" idx="3"/>
            <a:endCxn id="62" idx="1"/>
          </p:cNvCxnSpPr>
          <p:nvPr/>
        </p:nvCxnSpPr>
        <p:spPr bwMode="auto">
          <a:xfrm flipV="1">
            <a:off x="8828592" y="4392203"/>
            <a:ext cx="64464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62" idx="3"/>
            <a:endCxn id="58" idx="1"/>
          </p:cNvCxnSpPr>
          <p:nvPr/>
        </p:nvCxnSpPr>
        <p:spPr bwMode="auto">
          <a:xfrm>
            <a:off x="10321187" y="4392203"/>
            <a:ext cx="514000" cy="24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7" name="TextBox 46"/>
          <p:cNvSpPr txBox="1"/>
          <p:nvPr/>
        </p:nvSpPr>
        <p:spPr>
          <a:xfrm>
            <a:off x="11361364" y="227837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cxnSp>
        <p:nvCxnSpPr>
          <p:cNvPr id="48" name="Straight Connector 47"/>
          <p:cNvCxnSpPr/>
          <p:nvPr/>
        </p:nvCxnSpPr>
        <p:spPr bwMode="auto">
          <a:xfrm>
            <a:off x="6395678" y="3727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173298051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Carrier WebServices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588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880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5" name="Elbow Connector 44"/>
          <p:cNvCxnSpPr>
            <a:stCxn id="29" idx="2"/>
            <a:endCxn id="66" idx="3"/>
          </p:cNvCxnSpPr>
          <p:nvPr/>
        </p:nvCxnSpPr>
        <p:spPr bwMode="auto">
          <a:xfrm rot="16200000" flipH="1">
            <a:off x="7803753" y="2287960"/>
            <a:ext cx="927981" cy="271948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6" idx="3"/>
          </p:cNvCxnSpPr>
          <p:nvPr/>
        </p:nvCxnSpPr>
        <p:spPr bwMode="auto">
          <a:xfrm rot="16200000" flipH="1">
            <a:off x="8550113" y="3034320"/>
            <a:ext cx="927981" cy="12267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6" idx="3"/>
          </p:cNvCxnSpPr>
          <p:nvPr/>
        </p:nvCxnSpPr>
        <p:spPr bwMode="auto">
          <a:xfrm rot="5400000">
            <a:off x="9296474" y="3514725"/>
            <a:ext cx="927981" cy="265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35" idx="2"/>
            <a:endCxn id="66" idx="3"/>
          </p:cNvCxnSpPr>
          <p:nvPr/>
        </p:nvCxnSpPr>
        <p:spPr bwMode="auto">
          <a:xfrm rot="5400000">
            <a:off x="9973589" y="2826119"/>
            <a:ext cx="939473" cy="163167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395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389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964" y="5332948"/>
            <a:ext cx="4790642" cy="121040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Decommision Carrier WS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Map Carrier http and FTP links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888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57037" y="384122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12689" y="46424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247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245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66" name="Cloud Callout 65"/>
          <p:cNvSpPr/>
          <p:nvPr/>
        </p:nvSpPr>
        <p:spPr bwMode="auto">
          <a:xfrm>
            <a:off x="8916685" y="4066040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cxnSp>
        <p:nvCxnSpPr>
          <p:cNvPr id="65" name="Straight Connector 64"/>
          <p:cNvCxnSpPr/>
          <p:nvPr/>
        </p:nvCxnSpPr>
        <p:spPr bwMode="auto">
          <a:xfrm>
            <a:off x="426678" y="3981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67" name="Straight Connector 66"/>
          <p:cNvCxnSpPr/>
          <p:nvPr/>
        </p:nvCxnSpPr>
        <p:spPr bwMode="auto">
          <a:xfrm>
            <a:off x="6512916" y="396743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sp>
        <p:nvSpPr>
          <p:cNvPr id="68" name="Rectangle 67"/>
          <p:cNvSpPr/>
          <p:nvPr/>
        </p:nvSpPr>
        <p:spPr bwMode="auto">
          <a:xfrm>
            <a:off x="4710302" y="2926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>
                <a:solidFill>
                  <a:schemeClr val="tx1"/>
                </a:solidFill>
                <a:latin typeface="Arial" charset="0"/>
              </a:rPr>
              <a:t>Carrier 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WS  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69" name="Rectangle 68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0" name="Rectangle 69"/>
          <p:cNvSpPr/>
          <p:nvPr/>
        </p:nvSpPr>
        <p:spPr bwMode="auto">
          <a:xfrm>
            <a:off x="2592544" y="161722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2579675" y="286023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3" name="Rectangle 72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5" name="Straight Arrow Connector 74"/>
          <p:cNvCxnSpPr>
            <a:stCxn id="69" idx="3"/>
            <a:endCxn id="70" idx="1"/>
          </p:cNvCxnSpPr>
          <p:nvPr/>
        </p:nvCxnSpPr>
        <p:spPr bwMode="auto">
          <a:xfrm>
            <a:off x="1207090" y="1905361"/>
            <a:ext cx="1385454" cy="353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69" idx="3"/>
            <a:endCxn id="72" idx="1"/>
          </p:cNvCxnSpPr>
          <p:nvPr/>
        </p:nvCxnSpPr>
        <p:spPr bwMode="auto">
          <a:xfrm>
            <a:off x="1207090" y="1905361"/>
            <a:ext cx="1372585" cy="124653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70" idx="3"/>
            <a:endCxn id="73" idx="1"/>
          </p:cNvCxnSpPr>
          <p:nvPr/>
        </p:nvCxnSpPr>
        <p:spPr bwMode="auto">
          <a:xfrm flipV="1">
            <a:off x="3440495" y="1905361"/>
            <a:ext cx="1269807" cy="353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Elbow Connector 77"/>
          <p:cNvCxnSpPr>
            <a:stCxn id="73" idx="2"/>
            <a:endCxn id="68" idx="0"/>
          </p:cNvCxnSpPr>
          <p:nvPr/>
        </p:nvCxnSpPr>
        <p:spPr bwMode="auto">
          <a:xfrm rot="5400000">
            <a:off x="4769787" y="2561519"/>
            <a:ext cx="728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none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5193330" y="249358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80" name="Cloud Callout 79"/>
          <p:cNvSpPr/>
          <p:nvPr/>
        </p:nvSpPr>
        <p:spPr bwMode="auto">
          <a:xfrm>
            <a:off x="4417127" y="4378832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cxnSp>
        <p:nvCxnSpPr>
          <p:cNvPr id="82" name="Elbow Connector 81"/>
          <p:cNvCxnSpPr>
            <a:stCxn id="68" idx="2"/>
            <a:endCxn id="80" idx="3"/>
          </p:cNvCxnSpPr>
          <p:nvPr/>
        </p:nvCxnSpPr>
        <p:spPr bwMode="auto">
          <a:xfrm rot="5400000">
            <a:off x="4673533" y="3963740"/>
            <a:ext cx="915141" cy="63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none" w="med" len="med"/>
          </a:ln>
          <a:effectLst/>
        </p:spPr>
      </p:cxnSp>
      <p:sp>
        <p:nvSpPr>
          <p:cNvPr id="83" name="TextBox 82"/>
          <p:cNvSpPr txBox="1"/>
          <p:nvPr/>
        </p:nvSpPr>
        <p:spPr>
          <a:xfrm>
            <a:off x="5205090" y="363582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606663" y="220350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9345" y="3941989"/>
            <a:ext cx="435394" cy="435394"/>
          </a:xfrm>
          <a:prstGeom prst="rect">
            <a:avLst/>
          </a:prstGeom>
        </p:spPr>
      </p:pic>
      <p:pic>
        <p:nvPicPr>
          <p:cNvPr id="58" name="Picture 5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1741" y="3630645"/>
            <a:ext cx="435394" cy="435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490185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Status of Data Migration Strategy for PnS Satellite Systems (MASTER DATA)</a:t>
            </a:r>
            <a:endParaRPr lang="pt-BR" dirty="0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414" y="1010207"/>
            <a:ext cx="11597255" cy="4147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80130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Status of Data Migration Strategy for PnS Satellite Systems (TRANSACTIONAL DATA)</a:t>
            </a:r>
            <a:endParaRPr lang="pt-BR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449" y="686584"/>
            <a:ext cx="10717185" cy="5499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2453551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FiP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094580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71389" y="704008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HR (GPS)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4710302" y="3434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310471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1617365" y="259467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1897629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452287" y="2752019"/>
            <a:ext cx="1363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80543" y="5512004"/>
            <a:ext cx="4893197" cy="115834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HR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GPS to FEP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634548" y="25064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2" name="Rectangle 41"/>
          <p:cNvSpPr/>
          <p:nvPr/>
        </p:nvSpPr>
        <p:spPr bwMode="auto">
          <a:xfrm>
            <a:off x="3344580" y="342904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43" name="Rectangle 42"/>
          <p:cNvSpPr/>
          <p:nvPr/>
        </p:nvSpPr>
        <p:spPr bwMode="auto">
          <a:xfrm>
            <a:off x="359139" y="342904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40628" y="265646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53" name="Elbow Connector 52"/>
          <p:cNvCxnSpPr>
            <a:stCxn id="89" idx="2"/>
            <a:endCxn id="42" idx="0"/>
          </p:cNvCxnSpPr>
          <p:nvPr/>
        </p:nvCxnSpPr>
        <p:spPr bwMode="auto">
          <a:xfrm rot="16200000" flipH="1">
            <a:off x="2779430" y="2439916"/>
            <a:ext cx="251036" cy="172721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7" idx="2"/>
            <a:endCxn id="43" idx="0"/>
          </p:cNvCxnSpPr>
          <p:nvPr/>
        </p:nvCxnSpPr>
        <p:spPr bwMode="auto">
          <a:xfrm rot="5400000">
            <a:off x="103608" y="2749535"/>
            <a:ext cx="135901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43" idx="3"/>
            <a:endCxn id="42" idx="1"/>
          </p:cNvCxnSpPr>
          <p:nvPr/>
        </p:nvCxnSpPr>
        <p:spPr bwMode="auto">
          <a:xfrm>
            <a:off x="1207090" y="3720710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42" idx="3"/>
            <a:endCxn id="38" idx="1"/>
          </p:cNvCxnSpPr>
          <p:nvPr/>
        </p:nvCxnSpPr>
        <p:spPr bwMode="auto">
          <a:xfrm>
            <a:off x="4192531" y="3720710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6" name="TextBox 75"/>
          <p:cNvSpPr txBox="1"/>
          <p:nvPr/>
        </p:nvSpPr>
        <p:spPr>
          <a:xfrm>
            <a:off x="3257464" y="250394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90221" y="254362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1" name="Rectangle 50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4" name="Rectangle 53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5" name="Rectangle 54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6" name="Rectangle 55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8" name="Straight Arrow Connector 57"/>
          <p:cNvCxnSpPr>
            <a:stCxn id="51" idx="3"/>
            <a:endCxn id="54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9" name="Straight Arrow Connector 58"/>
          <p:cNvCxnSpPr>
            <a:stCxn id="54" idx="3"/>
            <a:endCxn id="55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0" name="Straight Arrow Connector 59"/>
          <p:cNvCxnSpPr>
            <a:stCxn id="55" idx="3"/>
            <a:endCxn id="56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" name="Rectangle 3"/>
          <p:cNvSpPr/>
          <p:nvPr/>
        </p:nvSpPr>
        <p:spPr bwMode="auto">
          <a:xfrm>
            <a:off x="6485037" y="153906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92720" y="15369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51740" y="153690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5369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 flipV="1">
            <a:off x="7332988" y="1828573"/>
            <a:ext cx="659732" cy="216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 flipV="1">
            <a:off x="8840671" y="1828572"/>
            <a:ext cx="61106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 flipV="1">
            <a:off x="10299691" y="1828571"/>
            <a:ext cx="535496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608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16200000" flipH="1">
            <a:off x="10604044" y="2775356"/>
            <a:ext cx="1326310" cy="1607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0338287" y="2150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120275" y="4084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(4);(</a:t>
            </a:r>
            <a:r>
              <a:rPr lang="pt-BR" sz="1400" dirty="0">
                <a:solidFill>
                  <a:srgbClr val="FF0000"/>
                </a:solidFill>
              </a:rPr>
              <a:t>5</a:t>
            </a:r>
            <a:r>
              <a:rPr lang="pt-BR" sz="1400" dirty="0" smtClean="0">
                <a:solidFill>
                  <a:srgbClr val="FF0000"/>
                </a:solidFill>
              </a:rPr>
              <a:t>)</a:t>
            </a:r>
          </a:p>
        </p:txBody>
      </p: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729500" y="3029575"/>
            <a:ext cx="539234" cy="28140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8990067" y="2543134"/>
            <a:ext cx="544201" cy="125925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16200000" flipH="1">
            <a:off x="9221444" y="2774511"/>
            <a:ext cx="1324623" cy="1607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356725" y="2973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48239" y="2973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333491" y="2491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682393" y="2500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4" name="Rectangle 43"/>
          <p:cNvSpPr/>
          <p:nvPr/>
        </p:nvSpPr>
        <p:spPr bwMode="auto">
          <a:xfrm>
            <a:off x="10851260" y="34465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467818" y="344486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6" name="Rectangle 45"/>
          <p:cNvSpPr/>
          <p:nvPr/>
        </p:nvSpPr>
        <p:spPr bwMode="auto">
          <a:xfrm>
            <a:off x="6434437" y="343989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0" name="Straight Arrow Connector 69"/>
          <p:cNvCxnSpPr>
            <a:stCxn id="46" idx="3"/>
            <a:endCxn id="45" idx="1"/>
          </p:cNvCxnSpPr>
          <p:nvPr/>
        </p:nvCxnSpPr>
        <p:spPr bwMode="auto">
          <a:xfrm>
            <a:off x="7282388" y="3731563"/>
            <a:ext cx="2185430" cy="496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45" idx="3"/>
            <a:endCxn id="44" idx="1"/>
          </p:cNvCxnSpPr>
          <p:nvPr/>
        </p:nvCxnSpPr>
        <p:spPr bwMode="auto">
          <a:xfrm>
            <a:off x="10315769" y="3736530"/>
            <a:ext cx="535491" cy="1686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1" name="TextBox 60"/>
          <p:cNvSpPr txBox="1"/>
          <p:nvPr/>
        </p:nvSpPr>
        <p:spPr>
          <a:xfrm>
            <a:off x="10350092" y="32990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72" name="Straight Arrow Connector 71"/>
          <p:cNvCxnSpPr/>
          <p:nvPr/>
        </p:nvCxnSpPr>
        <p:spPr bwMode="auto">
          <a:xfrm>
            <a:off x="1207090" y="1778360"/>
            <a:ext cx="644770" cy="867458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>
            <a:endCxn id="90" idx="1"/>
          </p:cNvCxnSpPr>
          <p:nvPr/>
        </p:nvCxnSpPr>
        <p:spPr bwMode="auto">
          <a:xfrm>
            <a:off x="3952670" y="1776047"/>
            <a:ext cx="757632" cy="23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3994486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Rhadar / Synseg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4710302" y="305301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278602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1550226" y="243372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1578932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642787" y="2561519"/>
            <a:ext cx="982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4172725" y="5883760"/>
            <a:ext cx="4147028" cy="66709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GPS Cutover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42" name="Rectangle 41"/>
          <p:cNvSpPr/>
          <p:nvPr/>
        </p:nvSpPr>
        <p:spPr bwMode="auto">
          <a:xfrm>
            <a:off x="3344580" y="304804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43" name="Rectangle 42"/>
          <p:cNvSpPr/>
          <p:nvPr/>
        </p:nvSpPr>
        <p:spPr bwMode="auto">
          <a:xfrm>
            <a:off x="359139" y="304804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cxnSp>
        <p:nvCxnSpPr>
          <p:cNvPr id="53" name="Elbow Connector 52"/>
          <p:cNvCxnSpPr>
            <a:stCxn id="89" idx="2"/>
            <a:endCxn id="42" idx="0"/>
          </p:cNvCxnSpPr>
          <p:nvPr/>
        </p:nvCxnSpPr>
        <p:spPr bwMode="auto">
          <a:xfrm rot="16200000" flipH="1">
            <a:off x="2855886" y="2135372"/>
            <a:ext cx="30986" cy="179435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7" idx="2"/>
            <a:endCxn id="43" idx="0"/>
          </p:cNvCxnSpPr>
          <p:nvPr/>
        </p:nvCxnSpPr>
        <p:spPr bwMode="auto">
          <a:xfrm rot="5400000">
            <a:off x="294108" y="2559035"/>
            <a:ext cx="97801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7" name="Rectangle 46"/>
          <p:cNvSpPr/>
          <p:nvPr/>
        </p:nvSpPr>
        <p:spPr bwMode="auto">
          <a:xfrm>
            <a:off x="4702133" y="420863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Rhadar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8" name="Rectangle 47"/>
          <p:cNvSpPr/>
          <p:nvPr/>
        </p:nvSpPr>
        <p:spPr bwMode="auto">
          <a:xfrm>
            <a:off x="4701443" y="495967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SynSEG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1" name="Elbow Connector 50"/>
          <p:cNvCxnSpPr>
            <a:stCxn id="38" idx="2"/>
            <a:endCxn id="47" idx="1"/>
          </p:cNvCxnSpPr>
          <p:nvPr/>
        </p:nvCxnSpPr>
        <p:spPr bwMode="auto">
          <a:xfrm rot="5400000">
            <a:off x="4486226" y="3852253"/>
            <a:ext cx="863960" cy="432145"/>
          </a:xfrm>
          <a:prstGeom prst="bentConnector4">
            <a:avLst>
              <a:gd name="adj1" fmla="val 33120"/>
              <a:gd name="adj2" fmla="val 152899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4" name="Elbow Connector 53"/>
          <p:cNvCxnSpPr>
            <a:stCxn id="38" idx="2"/>
            <a:endCxn id="48" idx="1"/>
          </p:cNvCxnSpPr>
          <p:nvPr/>
        </p:nvCxnSpPr>
        <p:spPr bwMode="auto">
          <a:xfrm rot="5400000">
            <a:off x="4110364" y="4227425"/>
            <a:ext cx="1614994" cy="432835"/>
          </a:xfrm>
          <a:prstGeom prst="bentConnector4">
            <a:avLst>
              <a:gd name="adj1" fmla="val 17844"/>
              <a:gd name="adj2" fmla="val 15281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Flowchart: Document 62"/>
          <p:cNvSpPr/>
          <p:nvPr/>
        </p:nvSpPr>
        <p:spPr bwMode="auto">
          <a:xfrm>
            <a:off x="5638430" y="471543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4" name="Flowchart: Document 63"/>
          <p:cNvSpPr/>
          <p:nvPr/>
        </p:nvSpPr>
        <p:spPr bwMode="auto">
          <a:xfrm>
            <a:off x="5656900" y="544443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67" name="Straight Arrow Connector 66"/>
          <p:cNvCxnSpPr>
            <a:stCxn id="43" idx="3"/>
            <a:endCxn id="42" idx="1"/>
          </p:cNvCxnSpPr>
          <p:nvPr/>
        </p:nvCxnSpPr>
        <p:spPr bwMode="auto">
          <a:xfrm>
            <a:off x="1207090" y="3339710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42" idx="3"/>
            <a:endCxn id="38" idx="1"/>
          </p:cNvCxnSpPr>
          <p:nvPr/>
        </p:nvCxnSpPr>
        <p:spPr bwMode="auto">
          <a:xfrm>
            <a:off x="4192531" y="3339710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Rectangle 67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9" name="Rectangle 68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1" name="Rectangle 70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5" name="Straight Arrow Connector 74"/>
          <p:cNvCxnSpPr>
            <a:stCxn id="68" idx="3"/>
            <a:endCxn id="69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69" idx="3"/>
            <a:endCxn id="71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Straight Arrow Connector 77"/>
          <p:cNvCxnSpPr>
            <a:stCxn id="71" idx="3"/>
            <a:endCxn id="72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4634548" y="25064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57464" y="250394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03926" y="250394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49353" y="367272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321007" y="142540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79904" y="142458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390405" y="142458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25035" y="142458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 flipV="1">
            <a:off x="7168958" y="1716252"/>
            <a:ext cx="710946" cy="81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727855" y="1716252"/>
            <a:ext cx="66255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 flipV="1">
            <a:off x="10238356" y="1716251"/>
            <a:ext cx="48667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481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5400000">
            <a:off x="10485616" y="2654465"/>
            <a:ext cx="1309943" cy="1684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446551" y="3103416"/>
            <a:ext cx="896024" cy="23651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8694710" y="2584492"/>
            <a:ext cx="882562" cy="12609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5400000">
            <a:off x="8966259" y="2808101"/>
            <a:ext cx="1648304" cy="479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229725" y="2846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921239" y="2846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206491" y="2364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555393" y="2373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4" name="Rectangle 43"/>
          <p:cNvSpPr/>
          <p:nvPr/>
        </p:nvSpPr>
        <p:spPr bwMode="auto">
          <a:xfrm>
            <a:off x="10708187" y="331786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342465" y="365622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6" name="Rectangle 45"/>
          <p:cNvSpPr/>
          <p:nvPr/>
        </p:nvSpPr>
        <p:spPr bwMode="auto">
          <a:xfrm>
            <a:off x="6352330" y="366968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1516503" y="425596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49" name="Rectangle 48"/>
          <p:cNvSpPr/>
          <p:nvPr/>
        </p:nvSpPr>
        <p:spPr bwMode="auto">
          <a:xfrm>
            <a:off x="10714538" y="446263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Rhadar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0" name="Rectangle 49"/>
          <p:cNvSpPr/>
          <p:nvPr/>
        </p:nvSpPr>
        <p:spPr bwMode="auto">
          <a:xfrm>
            <a:off x="10713848" y="521367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SynSEG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6" name="Elbow Connector 55"/>
          <p:cNvCxnSpPr>
            <a:stCxn id="44" idx="2"/>
            <a:endCxn id="49" idx="1"/>
          </p:cNvCxnSpPr>
          <p:nvPr/>
        </p:nvCxnSpPr>
        <p:spPr bwMode="auto">
          <a:xfrm rot="5400000">
            <a:off x="10496797" y="4118938"/>
            <a:ext cx="853109" cy="417625"/>
          </a:xfrm>
          <a:prstGeom prst="bentConnector4">
            <a:avLst>
              <a:gd name="adj1" fmla="val 32906"/>
              <a:gd name="adj2" fmla="val 154738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44" idx="2"/>
            <a:endCxn id="50" idx="1"/>
          </p:cNvCxnSpPr>
          <p:nvPr/>
        </p:nvCxnSpPr>
        <p:spPr bwMode="auto">
          <a:xfrm rot="5400000">
            <a:off x="10120935" y="4494110"/>
            <a:ext cx="1604143" cy="418315"/>
          </a:xfrm>
          <a:prstGeom prst="bentConnector4">
            <a:avLst>
              <a:gd name="adj1" fmla="val 18429"/>
              <a:gd name="adj2" fmla="val 154648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Flowchart: Document 64"/>
          <p:cNvSpPr/>
          <p:nvPr/>
        </p:nvSpPr>
        <p:spPr bwMode="auto">
          <a:xfrm>
            <a:off x="11633306" y="496943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6" name="Flowchart: Document 65"/>
          <p:cNvSpPr/>
          <p:nvPr/>
        </p:nvSpPr>
        <p:spPr bwMode="auto">
          <a:xfrm>
            <a:off x="11651776" y="569843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73" name="Straight Arrow Connector 72"/>
          <p:cNvCxnSpPr>
            <a:stCxn id="46" idx="3"/>
            <a:endCxn id="45" idx="1"/>
          </p:cNvCxnSpPr>
          <p:nvPr/>
        </p:nvCxnSpPr>
        <p:spPr bwMode="auto">
          <a:xfrm flipV="1">
            <a:off x="7200281" y="3947891"/>
            <a:ext cx="2142184" cy="1346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45" idx="3"/>
            <a:endCxn id="44" idx="1"/>
          </p:cNvCxnSpPr>
          <p:nvPr/>
        </p:nvCxnSpPr>
        <p:spPr bwMode="auto">
          <a:xfrm flipV="1">
            <a:off x="10190416" y="3609529"/>
            <a:ext cx="517771" cy="33836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0" name="TextBox 79"/>
          <p:cNvSpPr txBox="1"/>
          <p:nvPr/>
        </p:nvSpPr>
        <p:spPr>
          <a:xfrm>
            <a:off x="11526039" y="339082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81" name="Elbow Connector 80"/>
          <p:cNvCxnSpPr>
            <a:stCxn id="46" idx="2"/>
            <a:endCxn id="50" idx="1"/>
          </p:cNvCxnSpPr>
          <p:nvPr/>
        </p:nvCxnSpPr>
        <p:spPr bwMode="auto">
          <a:xfrm rot="16200000" flipH="1">
            <a:off x="8118918" y="2910408"/>
            <a:ext cx="1252319" cy="3937542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84" name="Elbow Connector 83"/>
          <p:cNvCxnSpPr>
            <a:stCxn id="46" idx="2"/>
            <a:endCxn id="49" idx="1"/>
          </p:cNvCxnSpPr>
          <p:nvPr/>
        </p:nvCxnSpPr>
        <p:spPr bwMode="auto">
          <a:xfrm rot="16200000" flipH="1">
            <a:off x="8494780" y="2534546"/>
            <a:ext cx="501285" cy="3938232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45" idx="2"/>
            <a:endCxn id="49" idx="1"/>
          </p:cNvCxnSpPr>
          <p:nvPr/>
        </p:nvCxnSpPr>
        <p:spPr bwMode="auto">
          <a:xfrm rot="16200000" flipH="1">
            <a:off x="9983116" y="4022882"/>
            <a:ext cx="514747" cy="94809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45" idx="2"/>
            <a:endCxn id="50" idx="1"/>
          </p:cNvCxnSpPr>
          <p:nvPr/>
        </p:nvCxnSpPr>
        <p:spPr bwMode="auto">
          <a:xfrm rot="16200000" flipH="1">
            <a:off x="9607254" y="4398744"/>
            <a:ext cx="1265781" cy="94740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86" name="TextBox 85"/>
          <p:cNvSpPr txBox="1"/>
          <p:nvPr/>
        </p:nvSpPr>
        <p:spPr>
          <a:xfrm>
            <a:off x="11138513" y="392924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cxnSp>
        <p:nvCxnSpPr>
          <p:cNvPr id="111" name="Straight Arrow Connector 110"/>
          <p:cNvCxnSpPr>
            <a:endCxn id="89" idx="0"/>
          </p:cNvCxnSpPr>
          <p:nvPr/>
        </p:nvCxnSpPr>
        <p:spPr bwMode="auto">
          <a:xfrm>
            <a:off x="1207090" y="1658534"/>
            <a:ext cx="767112" cy="775187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/>
          <p:cNvCxnSpPr>
            <a:endCxn id="90" idx="1"/>
          </p:cNvCxnSpPr>
          <p:nvPr/>
        </p:nvCxnSpPr>
        <p:spPr bwMode="auto">
          <a:xfrm>
            <a:off x="3626911" y="1765381"/>
            <a:ext cx="1083391" cy="1298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663051522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GRC NFE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342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08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204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697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190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352236" y="39144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857486" y="391446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 flipV="1">
            <a:off x="7200187" y="4206134"/>
            <a:ext cx="65729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364209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 flipV="1">
            <a:off x="8705437" y="4205422"/>
            <a:ext cx="658772" cy="7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732818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>
            <a:off x="10212160" y="4205422"/>
            <a:ext cx="520658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104" idx="0"/>
          </p:cNvCxnSpPr>
          <p:nvPr/>
        </p:nvCxnSpPr>
        <p:spPr bwMode="auto">
          <a:xfrm rot="16200000" flipH="1">
            <a:off x="9419893" y="2410227"/>
            <a:ext cx="708578" cy="1548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112" idx="0"/>
          </p:cNvCxnSpPr>
          <p:nvPr/>
        </p:nvCxnSpPr>
        <p:spPr bwMode="auto">
          <a:xfrm rot="16200000" flipH="1">
            <a:off x="10790190" y="2405650"/>
            <a:ext cx="708577" cy="2463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289461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1292020" y="233609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1687521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942234" y="5608114"/>
            <a:ext cx="4353129" cy="1176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GRCNFE TRs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11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13429" y="42139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10" name="Rectangle 109"/>
          <p:cNvSpPr/>
          <p:nvPr/>
        </p:nvSpPr>
        <p:spPr bwMode="auto">
          <a:xfrm>
            <a:off x="359138" y="295770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0" name="Rectangle 59"/>
          <p:cNvSpPr/>
          <p:nvPr/>
        </p:nvSpPr>
        <p:spPr bwMode="auto">
          <a:xfrm>
            <a:off x="355182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847903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2" name="Straight Arrow Connector 61"/>
          <p:cNvCxnSpPr>
            <a:stCxn id="60" idx="3"/>
            <a:endCxn id="61" idx="1"/>
          </p:cNvCxnSpPr>
          <p:nvPr/>
        </p:nvCxnSpPr>
        <p:spPr bwMode="auto">
          <a:xfrm>
            <a:off x="1203133" y="422277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Rectangle 62"/>
          <p:cNvSpPr/>
          <p:nvPr/>
        </p:nvSpPr>
        <p:spPr bwMode="auto">
          <a:xfrm>
            <a:off x="3340624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4" name="Straight Arrow Connector 63"/>
          <p:cNvCxnSpPr>
            <a:stCxn id="61" idx="3"/>
            <a:endCxn id="63" idx="1"/>
          </p:cNvCxnSpPr>
          <p:nvPr/>
        </p:nvCxnSpPr>
        <p:spPr bwMode="auto">
          <a:xfrm>
            <a:off x="2695854" y="422277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Rectangle 64"/>
          <p:cNvSpPr/>
          <p:nvPr/>
        </p:nvSpPr>
        <p:spPr bwMode="auto">
          <a:xfrm>
            <a:off x="4706345" y="391961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 flipV="1">
            <a:off x="4188575" y="4211279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Elbow Connector 71"/>
          <p:cNvCxnSpPr>
            <a:stCxn id="89" idx="2"/>
            <a:endCxn id="78" idx="0"/>
          </p:cNvCxnSpPr>
          <p:nvPr/>
        </p:nvCxnSpPr>
        <p:spPr bwMode="auto">
          <a:xfrm rot="16200000" flipH="1">
            <a:off x="2723140" y="1912290"/>
            <a:ext cx="38272" cy="20525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90" idx="2"/>
            <a:endCxn id="79" idx="0"/>
          </p:cNvCxnSpPr>
          <p:nvPr/>
        </p:nvCxnSpPr>
        <p:spPr bwMode="auto">
          <a:xfrm rot="16200000" flipH="1">
            <a:off x="4687283" y="2517022"/>
            <a:ext cx="903651" cy="96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5567914" y="147220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77" name="Rectangle 76"/>
          <p:cNvSpPr/>
          <p:nvPr/>
        </p:nvSpPr>
        <p:spPr bwMode="auto">
          <a:xfrm>
            <a:off x="1863254" y="295770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3344580" y="295770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9" name="Rectangle 78"/>
          <p:cNvSpPr/>
          <p:nvPr/>
        </p:nvSpPr>
        <p:spPr bwMode="auto">
          <a:xfrm>
            <a:off x="4719963" y="297367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0" name="Rectangle 79"/>
          <p:cNvSpPr/>
          <p:nvPr/>
        </p:nvSpPr>
        <p:spPr bwMode="auto">
          <a:xfrm>
            <a:off x="6357024" y="2776095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1" name="Rectangle 80"/>
          <p:cNvSpPr/>
          <p:nvPr/>
        </p:nvSpPr>
        <p:spPr bwMode="auto">
          <a:xfrm>
            <a:off x="7861570" y="2776094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4" name="Elbow Connector 83"/>
          <p:cNvCxnSpPr>
            <a:stCxn id="88" idx="2"/>
            <a:endCxn id="77" idx="0"/>
          </p:cNvCxnSpPr>
          <p:nvPr/>
        </p:nvCxnSpPr>
        <p:spPr bwMode="auto">
          <a:xfrm rot="5400000">
            <a:off x="2359070" y="1998189"/>
            <a:ext cx="887678" cy="103135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5" name="Elbow Connector 84"/>
          <p:cNvCxnSpPr>
            <a:stCxn id="87" idx="2"/>
            <a:endCxn id="110" idx="0"/>
          </p:cNvCxnSpPr>
          <p:nvPr/>
        </p:nvCxnSpPr>
        <p:spPr bwMode="auto">
          <a:xfrm rot="5400000">
            <a:off x="339276" y="2513867"/>
            <a:ext cx="88767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6" name="Elbow Connector 85"/>
          <p:cNvCxnSpPr>
            <a:stCxn id="60" idx="0"/>
            <a:endCxn id="110" idx="2"/>
          </p:cNvCxnSpPr>
          <p:nvPr/>
        </p:nvCxnSpPr>
        <p:spPr bwMode="auto">
          <a:xfrm rot="5400000" flipH="1" flipV="1">
            <a:off x="586105" y="3734094"/>
            <a:ext cx="390062" cy="3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61" idx="0"/>
            <a:endCxn id="77" idx="2"/>
          </p:cNvCxnSpPr>
          <p:nvPr/>
        </p:nvCxnSpPr>
        <p:spPr bwMode="auto">
          <a:xfrm rot="5400000" flipH="1" flipV="1">
            <a:off x="2084523" y="3728397"/>
            <a:ext cx="390062" cy="1535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63" idx="0"/>
            <a:endCxn id="78" idx="2"/>
          </p:cNvCxnSpPr>
          <p:nvPr/>
        </p:nvCxnSpPr>
        <p:spPr bwMode="auto">
          <a:xfrm rot="5400000" flipH="1" flipV="1">
            <a:off x="3571547" y="3734094"/>
            <a:ext cx="390062" cy="3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00" name="Elbow Connector 99"/>
          <p:cNvCxnSpPr>
            <a:stCxn id="65" idx="0"/>
            <a:endCxn id="79" idx="2"/>
          </p:cNvCxnSpPr>
          <p:nvPr/>
        </p:nvCxnSpPr>
        <p:spPr bwMode="auto">
          <a:xfrm rot="5400000" flipH="1" flipV="1">
            <a:off x="4955832" y="3731504"/>
            <a:ext cx="362597" cy="1361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4" name="Rectangle 103"/>
          <p:cNvSpPr/>
          <p:nvPr/>
        </p:nvSpPr>
        <p:spPr bwMode="auto">
          <a:xfrm>
            <a:off x="9357946" y="277225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2" name="Rectangle 111"/>
          <p:cNvSpPr/>
          <p:nvPr/>
        </p:nvSpPr>
        <p:spPr bwMode="auto">
          <a:xfrm>
            <a:off x="10732818" y="277225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3" name="Elbow Connector 112"/>
          <p:cNvCxnSpPr>
            <a:stCxn id="4" idx="2"/>
            <a:endCxn id="80" idx="0"/>
          </p:cNvCxnSpPr>
          <p:nvPr/>
        </p:nvCxnSpPr>
        <p:spPr bwMode="auto">
          <a:xfrm rot="5400000">
            <a:off x="6424792" y="2419886"/>
            <a:ext cx="71241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5" name="Elbow Connector 114"/>
          <p:cNvCxnSpPr>
            <a:stCxn id="5" idx="2"/>
            <a:endCxn id="81" idx="0"/>
          </p:cNvCxnSpPr>
          <p:nvPr/>
        </p:nvCxnSpPr>
        <p:spPr bwMode="auto">
          <a:xfrm rot="16200000" flipH="1">
            <a:off x="7923425" y="2413973"/>
            <a:ext cx="712416" cy="1182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0" name="TextBox 129"/>
          <p:cNvSpPr txBox="1"/>
          <p:nvPr/>
        </p:nvSpPr>
        <p:spPr>
          <a:xfrm>
            <a:off x="11171313" y="341066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68" name="Straight Arrow Connector 67"/>
          <p:cNvCxnSpPr>
            <a:stCxn id="110" idx="3"/>
            <a:endCxn id="77" idx="1"/>
          </p:cNvCxnSpPr>
          <p:nvPr/>
        </p:nvCxnSpPr>
        <p:spPr bwMode="auto">
          <a:xfrm>
            <a:off x="1207089" y="3249374"/>
            <a:ext cx="656165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77" idx="3"/>
            <a:endCxn id="78" idx="1"/>
          </p:cNvCxnSpPr>
          <p:nvPr/>
        </p:nvCxnSpPr>
        <p:spPr bwMode="auto">
          <a:xfrm>
            <a:off x="2711205" y="3249374"/>
            <a:ext cx="633375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2" name="Straight Arrow Connector 81"/>
          <p:cNvCxnSpPr>
            <a:stCxn id="78" idx="3"/>
            <a:endCxn id="79" idx="1"/>
          </p:cNvCxnSpPr>
          <p:nvPr/>
        </p:nvCxnSpPr>
        <p:spPr bwMode="auto">
          <a:xfrm>
            <a:off x="4192531" y="3249374"/>
            <a:ext cx="527432" cy="1597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Straight Arrow Connector 82"/>
          <p:cNvCxnSpPr>
            <a:stCxn id="80" idx="3"/>
            <a:endCxn id="81" idx="1"/>
          </p:cNvCxnSpPr>
          <p:nvPr/>
        </p:nvCxnSpPr>
        <p:spPr bwMode="auto">
          <a:xfrm flipV="1">
            <a:off x="7204975" y="3067762"/>
            <a:ext cx="656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Straight Arrow Connector 107"/>
          <p:cNvCxnSpPr>
            <a:stCxn id="104" idx="3"/>
            <a:endCxn id="112" idx="1"/>
          </p:cNvCxnSpPr>
          <p:nvPr/>
        </p:nvCxnSpPr>
        <p:spPr bwMode="auto">
          <a:xfrm flipV="1">
            <a:off x="10205897" y="3063923"/>
            <a:ext cx="526921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9" name="Rectangle 108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1" name="Rectangle 110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4" name="Rectangle 113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7" name="Rectangle 116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8" name="Straight Arrow Connector 117"/>
          <p:cNvCxnSpPr>
            <a:stCxn id="109" idx="3"/>
            <a:endCxn id="111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0" name="Straight Arrow Connector 119"/>
          <p:cNvCxnSpPr>
            <a:stCxn id="111" idx="3"/>
            <a:endCxn id="114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4" idx="3"/>
            <a:endCxn id="117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TextBox 121"/>
          <p:cNvSpPr txBox="1"/>
          <p:nvPr/>
        </p:nvSpPr>
        <p:spPr>
          <a:xfrm>
            <a:off x="776473" y="239781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358991" y="239608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831461" y="239352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155265" y="239125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30865" y="353661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29" name="TextBox 128"/>
          <p:cNvSpPr txBox="1"/>
          <p:nvPr/>
        </p:nvSpPr>
        <p:spPr>
          <a:xfrm>
            <a:off x="2348888" y="353661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1" name="TextBox 130"/>
          <p:cNvSpPr txBox="1"/>
          <p:nvPr/>
        </p:nvSpPr>
        <p:spPr>
          <a:xfrm>
            <a:off x="3903674" y="353371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2" name="Cloud Callout 131"/>
          <p:cNvSpPr/>
          <p:nvPr/>
        </p:nvSpPr>
        <p:spPr bwMode="auto">
          <a:xfrm>
            <a:off x="2242060" y="5122382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133" name="Elbow Connector 132"/>
          <p:cNvCxnSpPr>
            <a:stCxn id="132" idx="3"/>
            <a:endCxn id="60" idx="2"/>
          </p:cNvCxnSpPr>
          <p:nvPr/>
        </p:nvCxnSpPr>
        <p:spPr bwMode="auto">
          <a:xfrm rot="16200000" flipV="1">
            <a:off x="1539211" y="3754385"/>
            <a:ext cx="653598" cy="217370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4" name="Elbow Connector 133"/>
          <p:cNvCxnSpPr>
            <a:stCxn id="132" idx="3"/>
            <a:endCxn id="61" idx="2"/>
          </p:cNvCxnSpPr>
          <p:nvPr/>
        </p:nvCxnSpPr>
        <p:spPr bwMode="auto">
          <a:xfrm rot="16200000" flipV="1">
            <a:off x="2285571" y="4500746"/>
            <a:ext cx="653598" cy="68098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5" name="Elbow Connector 134"/>
          <p:cNvCxnSpPr>
            <a:stCxn id="132" idx="3"/>
            <a:endCxn id="63" idx="2"/>
          </p:cNvCxnSpPr>
          <p:nvPr/>
        </p:nvCxnSpPr>
        <p:spPr bwMode="auto">
          <a:xfrm rot="5400000" flipH="1" flipV="1">
            <a:off x="3031931" y="4435368"/>
            <a:ext cx="653598" cy="81173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6" name="Elbow Connector 135"/>
          <p:cNvCxnSpPr>
            <a:stCxn id="132" idx="3"/>
            <a:endCxn id="65" idx="2"/>
          </p:cNvCxnSpPr>
          <p:nvPr/>
        </p:nvCxnSpPr>
        <p:spPr bwMode="auto">
          <a:xfrm rot="5400000" flipH="1" flipV="1">
            <a:off x="3709046" y="3746761"/>
            <a:ext cx="665090" cy="21774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7" name="TextBox 136"/>
          <p:cNvSpPr txBox="1"/>
          <p:nvPr/>
        </p:nvSpPr>
        <p:spPr>
          <a:xfrm>
            <a:off x="2719824" y="459798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357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49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69" name="Elbow Connector 168"/>
          <p:cNvCxnSpPr>
            <a:stCxn id="32" idx="0"/>
            <a:endCxn id="104" idx="2"/>
          </p:cNvCxnSpPr>
          <p:nvPr/>
        </p:nvCxnSpPr>
        <p:spPr bwMode="auto">
          <a:xfrm rot="16200000" flipV="1">
            <a:off x="9505973" y="3631541"/>
            <a:ext cx="558163" cy="626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72" name="Elbow Connector 171"/>
          <p:cNvCxnSpPr>
            <a:stCxn id="35" idx="0"/>
            <a:endCxn id="112" idx="2"/>
          </p:cNvCxnSpPr>
          <p:nvPr/>
        </p:nvCxnSpPr>
        <p:spPr bwMode="auto">
          <a:xfrm rot="5400000" flipH="1" flipV="1">
            <a:off x="10877712" y="3634672"/>
            <a:ext cx="55816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79" name="TextBox 178"/>
          <p:cNvSpPr txBox="1"/>
          <p:nvPr/>
        </p:nvSpPr>
        <p:spPr>
          <a:xfrm>
            <a:off x="6801908" y="251160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384426" y="25098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856896" y="250731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180700" y="250504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958670" y="35227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0" name="TextBox 199"/>
          <p:cNvSpPr txBox="1"/>
          <p:nvPr/>
        </p:nvSpPr>
        <p:spPr>
          <a:xfrm>
            <a:off x="8476693" y="352274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1" name="TextBox 200"/>
          <p:cNvSpPr txBox="1"/>
          <p:nvPr/>
        </p:nvSpPr>
        <p:spPr>
          <a:xfrm>
            <a:off x="10031479" y="351984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2" name="Cloud Callout 201"/>
          <p:cNvSpPr/>
          <p:nvPr/>
        </p:nvSpPr>
        <p:spPr bwMode="auto">
          <a:xfrm>
            <a:off x="8408685" y="505989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203" name="Elbow Connector 202"/>
          <p:cNvCxnSpPr>
            <a:stCxn id="202" idx="3"/>
            <a:endCxn id="29" idx="2"/>
          </p:cNvCxnSpPr>
          <p:nvPr/>
        </p:nvCxnSpPr>
        <p:spPr bwMode="auto">
          <a:xfrm rot="16200000" flipV="1">
            <a:off x="7643976" y="3630038"/>
            <a:ext cx="607746" cy="234327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4" name="Elbow Connector 203"/>
          <p:cNvCxnSpPr>
            <a:stCxn id="202" idx="3"/>
            <a:endCxn id="30" idx="2"/>
          </p:cNvCxnSpPr>
          <p:nvPr/>
        </p:nvCxnSpPr>
        <p:spPr bwMode="auto">
          <a:xfrm rot="16200000" flipV="1">
            <a:off x="8396601" y="4382663"/>
            <a:ext cx="607747" cy="8380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5" name="Elbow Connector 204"/>
          <p:cNvCxnSpPr>
            <a:stCxn id="202" idx="3"/>
            <a:endCxn id="32" idx="2"/>
          </p:cNvCxnSpPr>
          <p:nvPr/>
        </p:nvCxnSpPr>
        <p:spPr bwMode="auto">
          <a:xfrm rot="5400000" flipH="1" flipV="1">
            <a:off x="9149606" y="4466970"/>
            <a:ext cx="608459" cy="66869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6" name="Elbow Connector 205"/>
          <p:cNvCxnSpPr>
            <a:stCxn id="202" idx="3"/>
            <a:endCxn id="35" idx="2"/>
          </p:cNvCxnSpPr>
          <p:nvPr/>
        </p:nvCxnSpPr>
        <p:spPr bwMode="auto">
          <a:xfrm rot="5400000" flipH="1" flipV="1">
            <a:off x="9833911" y="3782665"/>
            <a:ext cx="608459" cy="203730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07" name="TextBox 206"/>
          <p:cNvSpPr txBox="1"/>
          <p:nvPr/>
        </p:nvSpPr>
        <p:spPr>
          <a:xfrm>
            <a:off x="8874103" y="451443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212" name="Elbow Connector 211"/>
          <p:cNvCxnSpPr>
            <a:stCxn id="29" idx="0"/>
            <a:endCxn id="80" idx="2"/>
          </p:cNvCxnSpPr>
          <p:nvPr/>
        </p:nvCxnSpPr>
        <p:spPr bwMode="auto">
          <a:xfrm rot="5400000" flipH="1" flipV="1">
            <a:off x="6501088" y="3634555"/>
            <a:ext cx="555037" cy="47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15" name="Elbow Connector 214"/>
          <p:cNvCxnSpPr>
            <a:stCxn id="30" idx="0"/>
            <a:endCxn id="81" idx="2"/>
          </p:cNvCxnSpPr>
          <p:nvPr/>
        </p:nvCxnSpPr>
        <p:spPr bwMode="auto">
          <a:xfrm rot="5400000" flipH="1" flipV="1">
            <a:off x="8005986" y="3634906"/>
            <a:ext cx="555037" cy="408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20" name="TextBox 219"/>
          <p:cNvSpPr txBox="1"/>
          <p:nvPr/>
        </p:nvSpPr>
        <p:spPr>
          <a:xfrm>
            <a:off x="10231509" y="31836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124" name="Straight Arrow Connector 123"/>
          <p:cNvCxnSpPr>
            <a:stCxn id="81" idx="3"/>
            <a:endCxn id="104" idx="1"/>
          </p:cNvCxnSpPr>
          <p:nvPr/>
        </p:nvCxnSpPr>
        <p:spPr bwMode="auto">
          <a:xfrm flipV="1">
            <a:off x="8709521" y="3063924"/>
            <a:ext cx="648425" cy="383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7" name="Straight Connector 106"/>
          <p:cNvCxnSpPr/>
          <p:nvPr/>
        </p:nvCxnSpPr>
        <p:spPr bwMode="auto">
          <a:xfrm>
            <a:off x="388624" y="4997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6" name="Straight Connector 115"/>
          <p:cNvCxnSpPr/>
          <p:nvPr/>
        </p:nvCxnSpPr>
        <p:spPr bwMode="auto">
          <a:xfrm>
            <a:off x="6432991" y="4998462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38" name="Straight Arrow Connector 137"/>
          <p:cNvCxnSpPr>
            <a:endCxn id="89" idx="0"/>
          </p:cNvCxnSpPr>
          <p:nvPr/>
        </p:nvCxnSpPr>
        <p:spPr bwMode="auto">
          <a:xfrm>
            <a:off x="1203133" y="1769504"/>
            <a:ext cx="512863" cy="566595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Arrow Connector 139"/>
          <p:cNvCxnSpPr>
            <a:endCxn id="90" idx="1"/>
          </p:cNvCxnSpPr>
          <p:nvPr/>
        </p:nvCxnSpPr>
        <p:spPr bwMode="auto">
          <a:xfrm flipV="1">
            <a:off x="3742562" y="1778361"/>
            <a:ext cx="967740" cy="570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37848411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MasterSAF DW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26081" y="280197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PRD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5400000">
            <a:off x="10822572" y="2500269"/>
            <a:ext cx="873183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86" idx="2"/>
            <a:endCxn id="38" idx="0"/>
          </p:cNvCxnSpPr>
          <p:nvPr/>
        </p:nvCxnSpPr>
        <p:spPr bwMode="auto">
          <a:xfrm rot="5400000">
            <a:off x="4779655" y="2431573"/>
            <a:ext cx="74080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80543" y="5512004"/>
            <a:ext cx="4893197" cy="10172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 lnSpcReduction="1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MSAF AOL changes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MSAF AOL to FEP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74275" y="2433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(4);(</a:t>
            </a:r>
            <a:r>
              <a:rPr lang="pt-BR" sz="1400" dirty="0">
                <a:solidFill>
                  <a:srgbClr val="FF0000"/>
                </a:solidFill>
              </a:rPr>
              <a:t>5</a:t>
            </a:r>
            <a:r>
              <a:rPr lang="pt-BR" sz="1400" dirty="0" smtClean="0">
                <a:solidFill>
                  <a:srgbClr val="FF0000"/>
                </a:solidFill>
              </a:rPr>
              <a:t>)</a:t>
            </a:r>
          </a:p>
        </p:txBody>
      </p: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793000" y="2585075"/>
            <a:ext cx="412234" cy="28140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9053567" y="2098634"/>
            <a:ext cx="417201" cy="125925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5400000">
            <a:off x="9456026" y="2499446"/>
            <a:ext cx="873184" cy="164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2" name="Rectangle 41"/>
          <p:cNvSpPr/>
          <p:nvPr/>
        </p:nvSpPr>
        <p:spPr bwMode="auto">
          <a:xfrm>
            <a:off x="2404118" y="279279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QAS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374918" y="279700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MSAF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4" name="Rectangle 43"/>
          <p:cNvSpPr/>
          <p:nvPr/>
        </p:nvSpPr>
        <p:spPr bwMode="auto">
          <a:xfrm>
            <a:off x="10835187" y="293686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 AOL   PRD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467818" y="293686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AOL 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QAS</a:t>
            </a:r>
          </a:p>
        </p:txBody>
      </p:sp>
      <p:sp>
        <p:nvSpPr>
          <p:cNvPr id="46" name="Rectangle 45"/>
          <p:cNvSpPr/>
          <p:nvPr/>
        </p:nvSpPr>
        <p:spPr bwMode="auto">
          <a:xfrm>
            <a:off x="6434437" y="293189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AOL  DEV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195335" y="22230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53" name="Elbow Connector 52"/>
          <p:cNvCxnSpPr>
            <a:stCxn id="85" idx="2"/>
            <a:endCxn id="42" idx="0"/>
          </p:cNvCxnSpPr>
          <p:nvPr/>
        </p:nvCxnSpPr>
        <p:spPr bwMode="auto">
          <a:xfrm rot="5400000">
            <a:off x="2940402" y="1948863"/>
            <a:ext cx="731627" cy="95624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2" idx="2"/>
            <a:endCxn id="43" idx="0"/>
          </p:cNvCxnSpPr>
          <p:nvPr/>
        </p:nvCxnSpPr>
        <p:spPr bwMode="auto">
          <a:xfrm rot="5400000">
            <a:off x="430976" y="2429089"/>
            <a:ext cx="735836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43" idx="3"/>
            <a:endCxn id="42" idx="1"/>
          </p:cNvCxnSpPr>
          <p:nvPr/>
        </p:nvCxnSpPr>
        <p:spPr bwMode="auto">
          <a:xfrm flipV="1">
            <a:off x="1222869" y="3084466"/>
            <a:ext cx="1181249" cy="420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42" idx="3"/>
            <a:endCxn id="38" idx="1"/>
          </p:cNvCxnSpPr>
          <p:nvPr/>
        </p:nvCxnSpPr>
        <p:spPr bwMode="auto">
          <a:xfrm>
            <a:off x="3252069" y="3084466"/>
            <a:ext cx="1474012" cy="91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46" idx="3"/>
            <a:endCxn id="45" idx="1"/>
          </p:cNvCxnSpPr>
          <p:nvPr/>
        </p:nvCxnSpPr>
        <p:spPr bwMode="auto">
          <a:xfrm>
            <a:off x="7282388" y="3223563"/>
            <a:ext cx="2185430" cy="496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45" idx="3"/>
            <a:endCxn id="44" idx="1"/>
          </p:cNvCxnSpPr>
          <p:nvPr/>
        </p:nvCxnSpPr>
        <p:spPr bwMode="auto">
          <a:xfrm flipV="1">
            <a:off x="10315769" y="3228529"/>
            <a:ext cx="519418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2" name="Elbow Connector 61"/>
          <p:cNvCxnSpPr>
            <a:stCxn id="61" idx="0"/>
            <a:endCxn id="43" idx="2"/>
          </p:cNvCxnSpPr>
          <p:nvPr/>
        </p:nvCxnSpPr>
        <p:spPr bwMode="auto">
          <a:xfrm rot="5400000" flipH="1" flipV="1">
            <a:off x="428880" y="3750356"/>
            <a:ext cx="74002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63" name="Elbow Connector 62"/>
          <p:cNvCxnSpPr>
            <a:stCxn id="68" idx="0"/>
            <a:endCxn id="42" idx="2"/>
          </p:cNvCxnSpPr>
          <p:nvPr/>
        </p:nvCxnSpPr>
        <p:spPr bwMode="auto">
          <a:xfrm rot="5400000" flipH="1" flipV="1">
            <a:off x="1761849" y="4188615"/>
            <a:ext cx="1878727" cy="25376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66" name="Elbow Connector 65"/>
          <p:cNvCxnSpPr>
            <a:stCxn id="76" idx="0"/>
            <a:endCxn id="38" idx="2"/>
          </p:cNvCxnSpPr>
          <p:nvPr/>
        </p:nvCxnSpPr>
        <p:spPr bwMode="auto">
          <a:xfrm rot="5400000" flipH="1" flipV="1">
            <a:off x="4782527" y="3752840"/>
            <a:ext cx="73506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Flowchart: Document 68"/>
          <p:cNvSpPr/>
          <p:nvPr/>
        </p:nvSpPr>
        <p:spPr bwMode="auto">
          <a:xfrm>
            <a:off x="455307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Flowchart: Document 70"/>
          <p:cNvSpPr/>
          <p:nvPr/>
        </p:nvSpPr>
        <p:spPr bwMode="auto">
          <a:xfrm>
            <a:off x="3425887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2" name="Flowchart: Document 71"/>
          <p:cNvSpPr/>
          <p:nvPr/>
        </p:nvSpPr>
        <p:spPr bwMode="auto">
          <a:xfrm>
            <a:off x="4753661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5" name="Flowchart: Document 74"/>
          <p:cNvSpPr/>
          <p:nvPr/>
        </p:nvSpPr>
        <p:spPr bwMode="auto">
          <a:xfrm>
            <a:off x="487171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8" name="Flowchart: Document 77"/>
          <p:cNvSpPr/>
          <p:nvPr/>
        </p:nvSpPr>
        <p:spPr bwMode="auto">
          <a:xfrm>
            <a:off x="3457751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9" name="Flowchart: Document 78"/>
          <p:cNvSpPr/>
          <p:nvPr/>
        </p:nvSpPr>
        <p:spPr bwMode="auto">
          <a:xfrm>
            <a:off x="4785525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5179809" y="375748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374918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5" name="Rectangle 64"/>
          <p:cNvSpPr/>
          <p:nvPr/>
        </p:nvSpPr>
        <p:spPr bwMode="auto">
          <a:xfrm>
            <a:off x="2998305" y="413879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8" name="Rectangle 67"/>
          <p:cNvSpPr/>
          <p:nvPr/>
        </p:nvSpPr>
        <p:spPr bwMode="auto">
          <a:xfrm>
            <a:off x="2150354" y="525486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6" name="Rectangle 75"/>
          <p:cNvSpPr/>
          <p:nvPr/>
        </p:nvSpPr>
        <p:spPr bwMode="auto">
          <a:xfrm>
            <a:off x="4726081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Straight Arrow Connector 76"/>
          <p:cNvCxnSpPr>
            <a:stCxn id="61" idx="3"/>
            <a:endCxn id="65" idx="1"/>
          </p:cNvCxnSpPr>
          <p:nvPr/>
        </p:nvCxnSpPr>
        <p:spPr bwMode="auto">
          <a:xfrm>
            <a:off x="1222869" y="4412038"/>
            <a:ext cx="1775436" cy="1842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2" name="Rectangle 81"/>
          <p:cNvSpPr/>
          <p:nvPr/>
        </p:nvSpPr>
        <p:spPr bwMode="auto">
          <a:xfrm>
            <a:off x="374918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4" name="Rectangle 83"/>
          <p:cNvSpPr/>
          <p:nvPr/>
        </p:nvSpPr>
        <p:spPr bwMode="auto">
          <a:xfrm>
            <a:off x="1867639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5" name="Rectangle 84"/>
          <p:cNvSpPr/>
          <p:nvPr/>
        </p:nvSpPr>
        <p:spPr bwMode="auto">
          <a:xfrm>
            <a:off x="3360360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6" name="Rectangle 85"/>
          <p:cNvSpPr/>
          <p:nvPr/>
        </p:nvSpPr>
        <p:spPr bwMode="auto">
          <a:xfrm>
            <a:off x="4726081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5" name="Straight Arrow Connector 94"/>
          <p:cNvCxnSpPr>
            <a:stCxn id="82" idx="3"/>
            <a:endCxn id="84" idx="1"/>
          </p:cNvCxnSpPr>
          <p:nvPr/>
        </p:nvCxnSpPr>
        <p:spPr bwMode="auto">
          <a:xfrm>
            <a:off x="1222869" y="176950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6" name="Straight Arrow Connector 95"/>
          <p:cNvCxnSpPr>
            <a:stCxn id="84" idx="3"/>
            <a:endCxn id="85" idx="1"/>
          </p:cNvCxnSpPr>
          <p:nvPr/>
        </p:nvCxnSpPr>
        <p:spPr bwMode="auto">
          <a:xfrm>
            <a:off x="2715590" y="176950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0" name="Straight Arrow Connector 99"/>
          <p:cNvCxnSpPr>
            <a:stCxn id="85" idx="3"/>
            <a:endCxn id="86" idx="1"/>
          </p:cNvCxnSpPr>
          <p:nvPr/>
        </p:nvCxnSpPr>
        <p:spPr bwMode="auto">
          <a:xfrm>
            <a:off x="4208311" y="1769504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1" name="Rectangle 100"/>
          <p:cNvSpPr/>
          <p:nvPr/>
        </p:nvSpPr>
        <p:spPr bwMode="auto">
          <a:xfrm>
            <a:off x="10817251" y="3670054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PRD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3" name="Rectangle 102"/>
          <p:cNvSpPr/>
          <p:nvPr/>
        </p:nvSpPr>
        <p:spPr bwMode="auto">
          <a:xfrm>
            <a:off x="9451529" y="366508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QAS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4" name="Rectangle 103"/>
          <p:cNvSpPr/>
          <p:nvPr/>
        </p:nvSpPr>
        <p:spPr bwMode="auto">
          <a:xfrm>
            <a:off x="6466088" y="366508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MSAF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6" name="Straight Arrow Connector 105"/>
          <p:cNvCxnSpPr>
            <a:stCxn id="104" idx="3"/>
            <a:endCxn id="103" idx="1"/>
          </p:cNvCxnSpPr>
          <p:nvPr/>
        </p:nvCxnSpPr>
        <p:spPr bwMode="auto">
          <a:xfrm>
            <a:off x="7314039" y="3956754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7" name="Straight Arrow Connector 106"/>
          <p:cNvCxnSpPr>
            <a:stCxn id="103" idx="3"/>
            <a:endCxn id="101" idx="1"/>
          </p:cNvCxnSpPr>
          <p:nvPr/>
        </p:nvCxnSpPr>
        <p:spPr bwMode="auto">
          <a:xfrm>
            <a:off x="10299480" y="3956754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Elbow Connector 107"/>
          <p:cNvCxnSpPr>
            <a:stCxn id="116" idx="0"/>
            <a:endCxn id="104" idx="2"/>
          </p:cNvCxnSpPr>
          <p:nvPr/>
        </p:nvCxnSpPr>
        <p:spPr bwMode="auto">
          <a:xfrm rot="5400000" flipH="1" flipV="1">
            <a:off x="6647050" y="4491435"/>
            <a:ext cx="48602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110" name="Elbow Connector 109"/>
          <p:cNvCxnSpPr>
            <a:stCxn id="118" idx="0"/>
            <a:endCxn id="103" idx="2"/>
          </p:cNvCxnSpPr>
          <p:nvPr/>
        </p:nvCxnSpPr>
        <p:spPr bwMode="auto">
          <a:xfrm rot="16200000" flipV="1">
            <a:off x="9632492" y="4491434"/>
            <a:ext cx="48602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111" name="Elbow Connector 110"/>
          <p:cNvCxnSpPr>
            <a:stCxn id="119" idx="0"/>
            <a:endCxn id="101" idx="2"/>
          </p:cNvCxnSpPr>
          <p:nvPr/>
        </p:nvCxnSpPr>
        <p:spPr bwMode="auto">
          <a:xfrm rot="5400000" flipH="1" flipV="1">
            <a:off x="11000697" y="4493919"/>
            <a:ext cx="48106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sp>
        <p:nvSpPr>
          <p:cNvPr id="112" name="Flowchart: Document 111"/>
          <p:cNvSpPr/>
          <p:nvPr/>
        </p:nvSpPr>
        <p:spPr bwMode="auto">
          <a:xfrm>
            <a:off x="6578341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3" name="Flowchart: Document 112"/>
          <p:cNvSpPr/>
          <p:nvPr/>
        </p:nvSpPr>
        <p:spPr bwMode="auto">
          <a:xfrm>
            <a:off x="9548921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4" name="Flowchart: Document 113"/>
          <p:cNvSpPr/>
          <p:nvPr/>
        </p:nvSpPr>
        <p:spPr bwMode="auto">
          <a:xfrm>
            <a:off x="10876695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6" name="Rectangle 115"/>
          <p:cNvSpPr/>
          <p:nvPr/>
        </p:nvSpPr>
        <p:spPr bwMode="auto">
          <a:xfrm>
            <a:off x="6466088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117" name="Rectangle 116"/>
          <p:cNvSpPr/>
          <p:nvPr/>
        </p:nvSpPr>
        <p:spPr bwMode="auto">
          <a:xfrm>
            <a:off x="7958809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8" name="Rectangle 117"/>
          <p:cNvSpPr/>
          <p:nvPr/>
        </p:nvSpPr>
        <p:spPr bwMode="auto">
          <a:xfrm>
            <a:off x="9451530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9" name="Rectangle 118"/>
          <p:cNvSpPr/>
          <p:nvPr/>
        </p:nvSpPr>
        <p:spPr bwMode="auto">
          <a:xfrm>
            <a:off x="10817251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20" name="Straight Arrow Connector 119"/>
          <p:cNvCxnSpPr>
            <a:stCxn id="116" idx="3"/>
            <a:endCxn id="117" idx="1"/>
          </p:cNvCxnSpPr>
          <p:nvPr/>
        </p:nvCxnSpPr>
        <p:spPr bwMode="auto">
          <a:xfrm>
            <a:off x="7314039" y="502611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7" idx="3"/>
            <a:endCxn id="118" idx="1"/>
          </p:cNvCxnSpPr>
          <p:nvPr/>
        </p:nvCxnSpPr>
        <p:spPr bwMode="auto">
          <a:xfrm>
            <a:off x="8806760" y="502611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3" name="Straight Arrow Connector 122"/>
          <p:cNvCxnSpPr>
            <a:stCxn id="118" idx="3"/>
            <a:endCxn id="119" idx="1"/>
          </p:cNvCxnSpPr>
          <p:nvPr/>
        </p:nvCxnSpPr>
        <p:spPr bwMode="auto">
          <a:xfrm>
            <a:off x="10299481" y="502611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4" name="TextBox 123"/>
          <p:cNvSpPr txBox="1"/>
          <p:nvPr/>
        </p:nvSpPr>
        <p:spPr>
          <a:xfrm>
            <a:off x="10338287" y="285421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87" name="Straight Arrow Connector 86"/>
          <p:cNvCxnSpPr>
            <a:stCxn id="65" idx="3"/>
            <a:endCxn id="76" idx="1"/>
          </p:cNvCxnSpPr>
          <p:nvPr/>
        </p:nvCxnSpPr>
        <p:spPr bwMode="auto">
          <a:xfrm flipV="1">
            <a:off x="3846256" y="4412038"/>
            <a:ext cx="879825" cy="1842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8" name="Straight Arrow Connector 87"/>
          <p:cNvCxnSpPr>
            <a:endCxn id="68" idx="1"/>
          </p:cNvCxnSpPr>
          <p:nvPr/>
        </p:nvCxnSpPr>
        <p:spPr bwMode="auto">
          <a:xfrm>
            <a:off x="924419" y="4695303"/>
            <a:ext cx="1225935" cy="851225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93415379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SERASA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588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880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5" name="Elbow Connector 44"/>
          <p:cNvCxnSpPr>
            <a:stCxn id="29" idx="2"/>
            <a:endCxn id="66" idx="3"/>
          </p:cNvCxnSpPr>
          <p:nvPr/>
        </p:nvCxnSpPr>
        <p:spPr bwMode="auto">
          <a:xfrm rot="16200000" flipH="1">
            <a:off x="7803753" y="2287960"/>
            <a:ext cx="927981" cy="271948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6" idx="3"/>
          </p:cNvCxnSpPr>
          <p:nvPr/>
        </p:nvCxnSpPr>
        <p:spPr bwMode="auto">
          <a:xfrm rot="16200000" flipH="1">
            <a:off x="8550113" y="3034320"/>
            <a:ext cx="927981" cy="12267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6" idx="3"/>
          </p:cNvCxnSpPr>
          <p:nvPr/>
        </p:nvCxnSpPr>
        <p:spPr bwMode="auto">
          <a:xfrm rot="5400000">
            <a:off x="9296474" y="3514725"/>
            <a:ext cx="927981" cy="265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35" idx="2"/>
            <a:endCxn id="66" idx="3"/>
          </p:cNvCxnSpPr>
          <p:nvPr/>
        </p:nvCxnSpPr>
        <p:spPr bwMode="auto">
          <a:xfrm rot="5400000">
            <a:off x="9973589" y="2826119"/>
            <a:ext cx="939473" cy="163167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395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389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964" y="5332948"/>
            <a:ext cx="4790642" cy="121040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Map SERASA http links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888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304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12689" y="46424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247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245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23284" y="3261530"/>
            <a:ext cx="456801" cy="309093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WS?</a:t>
            </a:r>
          </a:p>
        </p:txBody>
      </p:sp>
      <p:sp>
        <p:nvSpPr>
          <p:cNvPr id="66" name="Cloud Callout 65"/>
          <p:cNvSpPr/>
          <p:nvPr/>
        </p:nvSpPr>
        <p:spPr bwMode="auto">
          <a:xfrm>
            <a:off x="8916685" y="4066040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SERASA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cxnSp>
        <p:nvCxnSpPr>
          <p:cNvPr id="39" name="Straight Connector 38"/>
          <p:cNvCxnSpPr/>
          <p:nvPr/>
        </p:nvCxnSpPr>
        <p:spPr bwMode="auto">
          <a:xfrm>
            <a:off x="6484024" y="385079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365239226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Credito Rural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Rural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Rural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4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Rural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73393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207090" y="1905361"/>
            <a:ext cx="1466303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Credito Rural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Credito Rural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cxnSp>
        <p:nvCxnSpPr>
          <p:cNvPr id="92" name="Elbow Connector 91"/>
          <p:cNvCxnSpPr>
            <a:stCxn id="66" idx="2"/>
            <a:endCxn id="49" idx="2"/>
          </p:cNvCxnSpPr>
          <p:nvPr/>
        </p:nvCxnSpPr>
        <p:spPr bwMode="auto">
          <a:xfrm flipV="1">
            <a:off x="4176826" y="3890345"/>
            <a:ext cx="957452" cy="75130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cxnSp>
        <p:nvCxnSpPr>
          <p:cNvPr id="55" name="Elbow Connector 54"/>
          <p:cNvCxnSpPr>
            <a:stCxn id="70" idx="2"/>
            <a:endCxn id="51" idx="2"/>
          </p:cNvCxnSpPr>
          <p:nvPr/>
        </p:nvCxnSpPr>
        <p:spPr bwMode="auto">
          <a:xfrm flipV="1">
            <a:off x="7447995" y="3923783"/>
            <a:ext cx="1953086" cy="70663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6" name="Elbow Connector 55"/>
          <p:cNvCxnSpPr>
            <a:stCxn id="70" idx="2"/>
            <a:endCxn id="52" idx="2"/>
          </p:cNvCxnSpPr>
          <p:nvPr/>
        </p:nvCxnSpPr>
        <p:spPr bwMode="auto">
          <a:xfrm flipV="1">
            <a:off x="7447995" y="3923783"/>
            <a:ext cx="3684168" cy="70663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7" name="Flowchart: Document 56"/>
          <p:cNvSpPr/>
          <p:nvPr/>
        </p:nvSpPr>
        <p:spPr bwMode="auto">
          <a:xfrm>
            <a:off x="9009854" y="400647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9" name="Flowchart: Document 58"/>
          <p:cNvSpPr/>
          <p:nvPr/>
        </p:nvSpPr>
        <p:spPr bwMode="auto">
          <a:xfrm>
            <a:off x="10702389" y="400647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6" name="Cloud Callout 65"/>
          <p:cNvSpPr/>
          <p:nvPr/>
        </p:nvSpPr>
        <p:spPr bwMode="auto">
          <a:xfrm>
            <a:off x="3022196" y="4350985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200" dirty="0" smtClean="0">
                <a:latin typeface="Arial" charset="0"/>
              </a:rPr>
              <a:t>BANKS</a:t>
            </a:r>
          </a:p>
        </p:txBody>
      </p:sp>
      <p:sp>
        <p:nvSpPr>
          <p:cNvPr id="70" name="Cloud Callout 69"/>
          <p:cNvSpPr/>
          <p:nvPr/>
        </p:nvSpPr>
        <p:spPr bwMode="auto">
          <a:xfrm>
            <a:off x="6293365" y="4339754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200" dirty="0" smtClean="0">
                <a:latin typeface="Arial" charset="0"/>
              </a:rPr>
              <a:t>BANKS</a:t>
            </a:r>
          </a:p>
        </p:txBody>
      </p:sp>
      <p:cxnSp>
        <p:nvCxnSpPr>
          <p:cNvPr id="71" name="Straight Connector 70"/>
          <p:cNvCxnSpPr/>
          <p:nvPr/>
        </p:nvCxnSpPr>
        <p:spPr bwMode="auto">
          <a:xfrm>
            <a:off x="359139" y="4264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74" name="Straight Connector 73"/>
          <p:cNvCxnSpPr/>
          <p:nvPr/>
        </p:nvCxnSpPr>
        <p:spPr bwMode="auto">
          <a:xfrm>
            <a:off x="6462311" y="4264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sp>
        <p:nvSpPr>
          <p:cNvPr id="76" name="Rectangle 75"/>
          <p:cNvSpPr/>
          <p:nvPr/>
        </p:nvSpPr>
        <p:spPr bwMode="auto">
          <a:xfrm>
            <a:off x="1265262" y="299985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Straight Arrow Connector 76"/>
          <p:cNvCxnSpPr>
            <a:endCxn id="76" idx="0"/>
          </p:cNvCxnSpPr>
          <p:nvPr/>
        </p:nvCxnSpPr>
        <p:spPr bwMode="auto">
          <a:xfrm>
            <a:off x="1044467" y="2221333"/>
            <a:ext cx="644771" cy="778526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Straight Arrow Connector 77"/>
          <p:cNvCxnSpPr>
            <a:endCxn id="62" idx="1"/>
          </p:cNvCxnSpPr>
          <p:nvPr/>
        </p:nvCxnSpPr>
        <p:spPr bwMode="auto">
          <a:xfrm>
            <a:off x="3521344" y="1896504"/>
            <a:ext cx="1188958" cy="885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pic>
        <p:nvPicPr>
          <p:cNvPr id="3" name="Picture 2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7534" y="3987288"/>
            <a:ext cx="507113" cy="609600"/>
          </a:xfrm>
          <a:prstGeom prst="rect">
            <a:avLst/>
          </a:prstGeom>
        </p:spPr>
      </p:pic>
      <p:pic>
        <p:nvPicPr>
          <p:cNvPr id="61" name="Picture 60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9243" y="3363859"/>
            <a:ext cx="507113" cy="609600"/>
          </a:xfrm>
          <a:prstGeom prst="rect">
            <a:avLst/>
          </a:prstGeom>
        </p:spPr>
      </p:pic>
      <p:pic>
        <p:nvPicPr>
          <p:cNvPr id="64" name="Picture 63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5099" y="3346798"/>
            <a:ext cx="507113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025472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Easy IRPJ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Easy IRPJ Support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Easy IRPJ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Easy IRPJ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Easy IRPJ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59" name="Rectangle 5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Easy IRPJ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6" name="Rectangle 65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0" name="Rectangle 69"/>
          <p:cNvSpPr/>
          <p:nvPr/>
        </p:nvSpPr>
        <p:spPr bwMode="auto">
          <a:xfrm>
            <a:off x="1851860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1" name="Rectangle 70"/>
          <p:cNvSpPr/>
          <p:nvPr/>
        </p:nvSpPr>
        <p:spPr bwMode="auto">
          <a:xfrm>
            <a:off x="1905314" y="390590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4" name="Rectangle 73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6" name="Straight Arrow Connector 75"/>
          <p:cNvCxnSpPr>
            <a:stCxn id="66" idx="3"/>
            <a:endCxn id="70" idx="1"/>
          </p:cNvCxnSpPr>
          <p:nvPr/>
        </p:nvCxnSpPr>
        <p:spPr bwMode="auto">
          <a:xfrm>
            <a:off x="1207090" y="1905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66" idx="3"/>
            <a:endCxn id="71" idx="1"/>
          </p:cNvCxnSpPr>
          <p:nvPr/>
        </p:nvCxnSpPr>
        <p:spPr bwMode="auto">
          <a:xfrm>
            <a:off x="1207090" y="1905361"/>
            <a:ext cx="698224" cy="229220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Straight Arrow Connector 77"/>
          <p:cNvCxnSpPr>
            <a:stCxn id="70" idx="3"/>
            <a:endCxn id="74" idx="1"/>
          </p:cNvCxnSpPr>
          <p:nvPr/>
        </p:nvCxnSpPr>
        <p:spPr bwMode="auto">
          <a:xfrm>
            <a:off x="2699811" y="1905361"/>
            <a:ext cx="2010491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Elbow Connector 82"/>
          <p:cNvCxnSpPr>
            <a:stCxn id="74" idx="2"/>
            <a:endCxn id="5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84" name="Flowchart: Document 83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91" name="Rectangle 90"/>
          <p:cNvSpPr/>
          <p:nvPr/>
        </p:nvSpPr>
        <p:spPr bwMode="auto">
          <a:xfrm>
            <a:off x="3364941" y="330700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Easy IRPJ Support</a:t>
            </a:r>
          </a:p>
        </p:txBody>
      </p:sp>
      <p:cxnSp>
        <p:nvCxnSpPr>
          <p:cNvPr id="92" name="Elbow Connector 91"/>
          <p:cNvCxnSpPr>
            <a:stCxn id="70" idx="2"/>
            <a:endCxn id="91" idx="1"/>
          </p:cNvCxnSpPr>
          <p:nvPr/>
        </p:nvCxnSpPr>
        <p:spPr bwMode="auto">
          <a:xfrm rot="16200000" flipH="1">
            <a:off x="2119564" y="2353299"/>
            <a:ext cx="1401649" cy="108910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4" name="Flowchart: Document 93"/>
          <p:cNvSpPr/>
          <p:nvPr/>
        </p:nvSpPr>
        <p:spPr bwMode="auto">
          <a:xfrm>
            <a:off x="3070210" y="3300063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2308944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</p:spTree>
    <p:extLst>
      <p:ext uri="{BB962C8B-B14F-4D97-AF65-F5344CB8AC3E}">
        <p14:creationId xmlns:p14="http://schemas.microsoft.com/office/powerpoint/2010/main" val="69043441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201540" y="938711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VIM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342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08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204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697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190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352236" y="39144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857486" y="391446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 flipV="1">
            <a:off x="7200187" y="4206134"/>
            <a:ext cx="65729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364209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 flipV="1">
            <a:off x="8705437" y="4205422"/>
            <a:ext cx="658772" cy="7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732818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>
            <a:off x="10212160" y="4205422"/>
            <a:ext cx="520658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104" idx="0"/>
          </p:cNvCxnSpPr>
          <p:nvPr/>
        </p:nvCxnSpPr>
        <p:spPr bwMode="auto">
          <a:xfrm rot="16200000" flipH="1">
            <a:off x="9419893" y="2410227"/>
            <a:ext cx="708578" cy="1548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112" idx="0"/>
          </p:cNvCxnSpPr>
          <p:nvPr/>
        </p:nvCxnSpPr>
        <p:spPr bwMode="auto">
          <a:xfrm rot="16200000" flipH="1">
            <a:off x="10790190" y="2405650"/>
            <a:ext cx="708577" cy="2463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291491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1277696" y="252902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1707821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942234" y="5608114"/>
            <a:ext cx="4353129" cy="1176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GRCNFE TRs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</p:txBody>
      </p:sp>
      <p:sp>
        <p:nvSpPr>
          <p:cNvPr id="105" name="TextBox 104"/>
          <p:cNvSpPr txBox="1"/>
          <p:nvPr/>
        </p:nvSpPr>
        <p:spPr>
          <a:xfrm>
            <a:off x="10211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13429" y="42139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10" name="Rectangle 109"/>
          <p:cNvSpPr/>
          <p:nvPr/>
        </p:nvSpPr>
        <p:spPr bwMode="auto">
          <a:xfrm>
            <a:off x="359138" y="323177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0" name="Rectangle 59"/>
          <p:cNvSpPr/>
          <p:nvPr/>
        </p:nvSpPr>
        <p:spPr bwMode="auto">
          <a:xfrm>
            <a:off x="354365" y="424019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848896" y="424019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2" name="Straight Arrow Connector 61"/>
          <p:cNvCxnSpPr>
            <a:stCxn id="60" idx="3"/>
            <a:endCxn id="61" idx="1"/>
          </p:cNvCxnSpPr>
          <p:nvPr/>
        </p:nvCxnSpPr>
        <p:spPr bwMode="auto">
          <a:xfrm>
            <a:off x="1202316" y="4531863"/>
            <a:ext cx="64658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Rectangle 62"/>
          <p:cNvSpPr/>
          <p:nvPr/>
        </p:nvSpPr>
        <p:spPr bwMode="auto">
          <a:xfrm>
            <a:off x="3338887" y="423778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4" name="Straight Arrow Connector 63"/>
          <p:cNvCxnSpPr>
            <a:stCxn id="61" idx="3"/>
            <a:endCxn id="63" idx="1"/>
          </p:cNvCxnSpPr>
          <p:nvPr/>
        </p:nvCxnSpPr>
        <p:spPr bwMode="auto">
          <a:xfrm flipV="1">
            <a:off x="2696847" y="4529450"/>
            <a:ext cx="642040" cy="241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Rectangle 64"/>
          <p:cNvSpPr/>
          <p:nvPr/>
        </p:nvSpPr>
        <p:spPr bwMode="auto">
          <a:xfrm>
            <a:off x="4751660" y="423778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>
            <a:off x="4186838" y="4529450"/>
            <a:ext cx="564822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Elbow Connector 71"/>
          <p:cNvCxnSpPr>
            <a:stCxn id="89" idx="2"/>
            <a:endCxn id="78" idx="0"/>
          </p:cNvCxnSpPr>
          <p:nvPr/>
        </p:nvCxnSpPr>
        <p:spPr bwMode="auto">
          <a:xfrm rot="16200000" flipH="1">
            <a:off x="2667976" y="2146060"/>
            <a:ext cx="134276" cy="206688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90" idx="2"/>
            <a:endCxn id="79" idx="0"/>
          </p:cNvCxnSpPr>
          <p:nvPr/>
        </p:nvCxnSpPr>
        <p:spPr bwMode="auto">
          <a:xfrm rot="16200000" flipH="1">
            <a:off x="4567339" y="2636967"/>
            <a:ext cx="1176612" cy="4273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5567914" y="147220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77" name="Rectangle 76"/>
          <p:cNvSpPr/>
          <p:nvPr/>
        </p:nvSpPr>
        <p:spPr bwMode="auto">
          <a:xfrm>
            <a:off x="1863254" y="324664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3344580" y="324664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9" name="Rectangle 78"/>
          <p:cNvSpPr/>
          <p:nvPr/>
        </p:nvSpPr>
        <p:spPr bwMode="auto">
          <a:xfrm>
            <a:off x="4753036" y="324664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0" name="Rectangle 79"/>
          <p:cNvSpPr/>
          <p:nvPr/>
        </p:nvSpPr>
        <p:spPr bwMode="auto">
          <a:xfrm>
            <a:off x="6357024" y="2776095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1" name="Rectangle 80"/>
          <p:cNvSpPr/>
          <p:nvPr/>
        </p:nvSpPr>
        <p:spPr bwMode="auto">
          <a:xfrm>
            <a:off x="7861570" y="2776094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4" name="Elbow Connector 83"/>
          <p:cNvCxnSpPr>
            <a:stCxn id="88" idx="2"/>
            <a:endCxn id="77" idx="0"/>
          </p:cNvCxnSpPr>
          <p:nvPr/>
        </p:nvCxnSpPr>
        <p:spPr bwMode="auto">
          <a:xfrm rot="5400000">
            <a:off x="2224753" y="2132506"/>
            <a:ext cx="1176613" cy="105165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5" name="Elbow Connector 84"/>
          <p:cNvCxnSpPr>
            <a:stCxn id="87" idx="2"/>
            <a:endCxn id="110" idx="0"/>
          </p:cNvCxnSpPr>
          <p:nvPr/>
        </p:nvCxnSpPr>
        <p:spPr bwMode="auto">
          <a:xfrm rot="5400000">
            <a:off x="202243" y="2650900"/>
            <a:ext cx="116174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6" name="Elbow Connector 85"/>
          <p:cNvCxnSpPr>
            <a:stCxn id="60" idx="0"/>
            <a:endCxn id="110" idx="2"/>
          </p:cNvCxnSpPr>
          <p:nvPr/>
        </p:nvCxnSpPr>
        <p:spPr bwMode="auto">
          <a:xfrm rot="5400000" flipH="1" flipV="1">
            <a:off x="568183" y="4025265"/>
            <a:ext cx="425088" cy="477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61" idx="0"/>
            <a:endCxn id="77" idx="2"/>
          </p:cNvCxnSpPr>
          <p:nvPr/>
        </p:nvCxnSpPr>
        <p:spPr bwMode="auto">
          <a:xfrm rot="5400000" flipH="1" flipV="1">
            <a:off x="2074942" y="4027907"/>
            <a:ext cx="410219" cy="1435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63" idx="0"/>
            <a:endCxn id="78" idx="2"/>
          </p:cNvCxnSpPr>
          <p:nvPr/>
        </p:nvCxnSpPr>
        <p:spPr bwMode="auto">
          <a:xfrm rot="5400000" flipH="1" flipV="1">
            <a:off x="3561806" y="4031033"/>
            <a:ext cx="407807" cy="569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00" name="Elbow Connector 99"/>
          <p:cNvCxnSpPr>
            <a:stCxn id="65" idx="0"/>
            <a:endCxn id="79" idx="2"/>
          </p:cNvCxnSpPr>
          <p:nvPr/>
        </p:nvCxnSpPr>
        <p:spPr bwMode="auto">
          <a:xfrm rot="5400000" flipH="1" flipV="1">
            <a:off x="4972421" y="4033191"/>
            <a:ext cx="407807" cy="137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4" name="Rectangle 103"/>
          <p:cNvSpPr/>
          <p:nvPr/>
        </p:nvSpPr>
        <p:spPr bwMode="auto">
          <a:xfrm>
            <a:off x="9357946" y="277225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2" name="Rectangle 111"/>
          <p:cNvSpPr/>
          <p:nvPr/>
        </p:nvSpPr>
        <p:spPr bwMode="auto">
          <a:xfrm>
            <a:off x="10732818" y="277225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3" name="Elbow Connector 112"/>
          <p:cNvCxnSpPr>
            <a:stCxn id="4" idx="2"/>
            <a:endCxn id="80" idx="0"/>
          </p:cNvCxnSpPr>
          <p:nvPr/>
        </p:nvCxnSpPr>
        <p:spPr bwMode="auto">
          <a:xfrm rot="5400000">
            <a:off x="6424792" y="2419886"/>
            <a:ext cx="71241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5" name="Elbow Connector 114"/>
          <p:cNvCxnSpPr>
            <a:stCxn id="5" idx="2"/>
            <a:endCxn id="81" idx="0"/>
          </p:cNvCxnSpPr>
          <p:nvPr/>
        </p:nvCxnSpPr>
        <p:spPr bwMode="auto">
          <a:xfrm rot="16200000" flipH="1">
            <a:off x="7923425" y="2413973"/>
            <a:ext cx="712416" cy="1182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0" name="TextBox 129"/>
          <p:cNvSpPr txBox="1"/>
          <p:nvPr/>
        </p:nvSpPr>
        <p:spPr>
          <a:xfrm>
            <a:off x="11171313" y="341066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68" name="Straight Arrow Connector 67"/>
          <p:cNvCxnSpPr>
            <a:stCxn id="110" idx="3"/>
            <a:endCxn id="77" idx="1"/>
          </p:cNvCxnSpPr>
          <p:nvPr/>
        </p:nvCxnSpPr>
        <p:spPr bwMode="auto">
          <a:xfrm>
            <a:off x="1207089" y="3523440"/>
            <a:ext cx="656165" cy="1486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77" idx="3"/>
            <a:endCxn id="78" idx="1"/>
          </p:cNvCxnSpPr>
          <p:nvPr/>
        </p:nvCxnSpPr>
        <p:spPr bwMode="auto">
          <a:xfrm flipV="1">
            <a:off x="2711205" y="3538308"/>
            <a:ext cx="63337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2" name="Straight Arrow Connector 81"/>
          <p:cNvCxnSpPr>
            <a:stCxn id="78" idx="3"/>
            <a:endCxn id="79" idx="1"/>
          </p:cNvCxnSpPr>
          <p:nvPr/>
        </p:nvCxnSpPr>
        <p:spPr bwMode="auto">
          <a:xfrm>
            <a:off x="4192531" y="3538308"/>
            <a:ext cx="560505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Straight Arrow Connector 82"/>
          <p:cNvCxnSpPr>
            <a:stCxn id="80" idx="3"/>
            <a:endCxn id="81" idx="1"/>
          </p:cNvCxnSpPr>
          <p:nvPr/>
        </p:nvCxnSpPr>
        <p:spPr bwMode="auto">
          <a:xfrm flipV="1">
            <a:off x="7204975" y="3067762"/>
            <a:ext cx="656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Straight Arrow Connector 107"/>
          <p:cNvCxnSpPr>
            <a:stCxn id="104" idx="3"/>
            <a:endCxn id="112" idx="1"/>
          </p:cNvCxnSpPr>
          <p:nvPr/>
        </p:nvCxnSpPr>
        <p:spPr bwMode="auto">
          <a:xfrm flipV="1">
            <a:off x="10205897" y="3063923"/>
            <a:ext cx="526921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9" name="Rectangle 108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1" name="Rectangle 110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4" name="Rectangle 113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7" name="Rectangle 116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8" name="Straight Arrow Connector 117"/>
          <p:cNvCxnSpPr>
            <a:stCxn id="109" idx="3"/>
            <a:endCxn id="111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0" name="Straight Arrow Connector 119"/>
          <p:cNvCxnSpPr>
            <a:stCxn id="111" idx="3"/>
            <a:endCxn id="114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4" idx="3"/>
            <a:endCxn id="117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TextBox 121"/>
          <p:cNvSpPr txBox="1"/>
          <p:nvPr/>
        </p:nvSpPr>
        <p:spPr>
          <a:xfrm>
            <a:off x="776473" y="239781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358991" y="239608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831461" y="239352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155265" y="239125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30865" y="353661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29" name="TextBox 128"/>
          <p:cNvSpPr txBox="1"/>
          <p:nvPr/>
        </p:nvSpPr>
        <p:spPr>
          <a:xfrm>
            <a:off x="2348888" y="353661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1" name="TextBox 130"/>
          <p:cNvSpPr txBox="1"/>
          <p:nvPr/>
        </p:nvSpPr>
        <p:spPr>
          <a:xfrm>
            <a:off x="3903674" y="353371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2" name="Cloud Callout 131"/>
          <p:cNvSpPr/>
          <p:nvPr/>
        </p:nvSpPr>
        <p:spPr bwMode="auto">
          <a:xfrm>
            <a:off x="2287659" y="5282285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133" name="Elbow Connector 132"/>
          <p:cNvCxnSpPr>
            <a:stCxn id="132" idx="3"/>
            <a:endCxn id="60" idx="2"/>
          </p:cNvCxnSpPr>
          <p:nvPr/>
        </p:nvCxnSpPr>
        <p:spPr bwMode="auto">
          <a:xfrm rot="16200000" flipV="1">
            <a:off x="1636197" y="3965675"/>
            <a:ext cx="504409" cy="222011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4" name="Elbow Connector 133"/>
          <p:cNvCxnSpPr>
            <a:stCxn id="132" idx="3"/>
            <a:endCxn id="61" idx="2"/>
          </p:cNvCxnSpPr>
          <p:nvPr/>
        </p:nvCxnSpPr>
        <p:spPr bwMode="auto">
          <a:xfrm rot="16200000" flipV="1">
            <a:off x="2383462" y="4712941"/>
            <a:ext cx="504409" cy="7255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5" name="Elbow Connector 134"/>
          <p:cNvCxnSpPr>
            <a:stCxn id="132" idx="3"/>
            <a:endCxn id="63" idx="2"/>
          </p:cNvCxnSpPr>
          <p:nvPr/>
        </p:nvCxnSpPr>
        <p:spPr bwMode="auto">
          <a:xfrm rot="5400000" flipH="1" flipV="1">
            <a:off x="3127250" y="4692327"/>
            <a:ext cx="506822" cy="76440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6" name="Elbow Connector 135"/>
          <p:cNvCxnSpPr>
            <a:stCxn id="132" idx="3"/>
            <a:endCxn id="65" idx="2"/>
          </p:cNvCxnSpPr>
          <p:nvPr/>
        </p:nvCxnSpPr>
        <p:spPr bwMode="auto">
          <a:xfrm rot="5400000" flipH="1" flipV="1">
            <a:off x="3833637" y="3985940"/>
            <a:ext cx="506822" cy="217717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7" name="TextBox 136"/>
          <p:cNvSpPr txBox="1"/>
          <p:nvPr/>
        </p:nvSpPr>
        <p:spPr>
          <a:xfrm>
            <a:off x="2719824" y="459798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357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49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69" name="Elbow Connector 168"/>
          <p:cNvCxnSpPr>
            <a:stCxn id="32" idx="0"/>
            <a:endCxn id="104" idx="2"/>
          </p:cNvCxnSpPr>
          <p:nvPr/>
        </p:nvCxnSpPr>
        <p:spPr bwMode="auto">
          <a:xfrm rot="16200000" flipV="1">
            <a:off x="9505973" y="3631541"/>
            <a:ext cx="558163" cy="626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72" name="Elbow Connector 171"/>
          <p:cNvCxnSpPr>
            <a:stCxn id="35" idx="0"/>
            <a:endCxn id="112" idx="2"/>
          </p:cNvCxnSpPr>
          <p:nvPr/>
        </p:nvCxnSpPr>
        <p:spPr bwMode="auto">
          <a:xfrm rot="5400000" flipH="1" flipV="1">
            <a:off x="10877712" y="3634672"/>
            <a:ext cx="55816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79" name="TextBox 178"/>
          <p:cNvSpPr txBox="1"/>
          <p:nvPr/>
        </p:nvSpPr>
        <p:spPr>
          <a:xfrm>
            <a:off x="6801908" y="251160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384426" y="25098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856896" y="250731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180700" y="250504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958670" y="35227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0" name="TextBox 199"/>
          <p:cNvSpPr txBox="1"/>
          <p:nvPr/>
        </p:nvSpPr>
        <p:spPr>
          <a:xfrm>
            <a:off x="8476693" y="352274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1" name="TextBox 200"/>
          <p:cNvSpPr txBox="1"/>
          <p:nvPr/>
        </p:nvSpPr>
        <p:spPr>
          <a:xfrm>
            <a:off x="10031479" y="351984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2" name="Cloud Callout 201"/>
          <p:cNvSpPr/>
          <p:nvPr/>
        </p:nvSpPr>
        <p:spPr bwMode="auto">
          <a:xfrm>
            <a:off x="8408685" y="505989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203" name="Elbow Connector 202"/>
          <p:cNvCxnSpPr>
            <a:stCxn id="202" idx="3"/>
            <a:endCxn id="29" idx="2"/>
          </p:cNvCxnSpPr>
          <p:nvPr/>
        </p:nvCxnSpPr>
        <p:spPr bwMode="auto">
          <a:xfrm rot="16200000" flipV="1">
            <a:off x="7643976" y="3630038"/>
            <a:ext cx="607746" cy="234327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4" name="Elbow Connector 203"/>
          <p:cNvCxnSpPr>
            <a:stCxn id="202" idx="3"/>
            <a:endCxn id="30" idx="2"/>
          </p:cNvCxnSpPr>
          <p:nvPr/>
        </p:nvCxnSpPr>
        <p:spPr bwMode="auto">
          <a:xfrm rot="16200000" flipV="1">
            <a:off x="8396601" y="4382663"/>
            <a:ext cx="607747" cy="8380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5" name="Elbow Connector 204"/>
          <p:cNvCxnSpPr>
            <a:stCxn id="202" idx="3"/>
            <a:endCxn id="32" idx="2"/>
          </p:cNvCxnSpPr>
          <p:nvPr/>
        </p:nvCxnSpPr>
        <p:spPr bwMode="auto">
          <a:xfrm rot="5400000" flipH="1" flipV="1">
            <a:off x="9149606" y="4466970"/>
            <a:ext cx="608459" cy="66869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6" name="Elbow Connector 205"/>
          <p:cNvCxnSpPr>
            <a:stCxn id="202" idx="3"/>
            <a:endCxn id="35" idx="2"/>
          </p:cNvCxnSpPr>
          <p:nvPr/>
        </p:nvCxnSpPr>
        <p:spPr bwMode="auto">
          <a:xfrm rot="5400000" flipH="1" flipV="1">
            <a:off x="9833911" y="3782665"/>
            <a:ext cx="608459" cy="203730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07" name="TextBox 206"/>
          <p:cNvSpPr txBox="1"/>
          <p:nvPr/>
        </p:nvSpPr>
        <p:spPr>
          <a:xfrm>
            <a:off x="8874103" y="451443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212" name="Elbow Connector 211"/>
          <p:cNvCxnSpPr>
            <a:stCxn id="29" idx="0"/>
            <a:endCxn id="80" idx="2"/>
          </p:cNvCxnSpPr>
          <p:nvPr/>
        </p:nvCxnSpPr>
        <p:spPr bwMode="auto">
          <a:xfrm rot="5400000" flipH="1" flipV="1">
            <a:off x="6501088" y="3634555"/>
            <a:ext cx="555037" cy="47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15" name="Elbow Connector 214"/>
          <p:cNvCxnSpPr>
            <a:stCxn id="30" idx="0"/>
            <a:endCxn id="81" idx="2"/>
          </p:cNvCxnSpPr>
          <p:nvPr/>
        </p:nvCxnSpPr>
        <p:spPr bwMode="auto">
          <a:xfrm rot="5400000" flipH="1" flipV="1">
            <a:off x="8005986" y="3634906"/>
            <a:ext cx="555037" cy="408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20" name="TextBox 219"/>
          <p:cNvSpPr txBox="1"/>
          <p:nvPr/>
        </p:nvSpPr>
        <p:spPr>
          <a:xfrm>
            <a:off x="10231509" y="31836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124" name="Straight Arrow Connector 123"/>
          <p:cNvCxnSpPr>
            <a:stCxn id="81" idx="3"/>
            <a:endCxn id="104" idx="1"/>
          </p:cNvCxnSpPr>
          <p:nvPr/>
        </p:nvCxnSpPr>
        <p:spPr bwMode="auto">
          <a:xfrm flipV="1">
            <a:off x="8709521" y="3063924"/>
            <a:ext cx="648425" cy="383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7" name="Rectangle 10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cxnSp>
        <p:nvCxnSpPr>
          <p:cNvPr id="116" name="Straight Connector 115"/>
          <p:cNvCxnSpPr/>
          <p:nvPr/>
        </p:nvCxnSpPr>
        <p:spPr bwMode="auto">
          <a:xfrm>
            <a:off x="359139" y="5026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9" name="Straight Connector 118"/>
          <p:cNvCxnSpPr/>
          <p:nvPr/>
        </p:nvCxnSpPr>
        <p:spPr bwMode="auto">
          <a:xfrm>
            <a:off x="6352236" y="5014460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44" name="Straight Arrow Connector 143"/>
          <p:cNvCxnSpPr>
            <a:endCxn id="90" idx="1"/>
          </p:cNvCxnSpPr>
          <p:nvPr/>
        </p:nvCxnSpPr>
        <p:spPr bwMode="auto">
          <a:xfrm flipV="1">
            <a:off x="3751573" y="1778361"/>
            <a:ext cx="958729" cy="1805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46" name="Straight Arrow Connector 145"/>
          <p:cNvCxnSpPr>
            <a:endCxn id="89" idx="0"/>
          </p:cNvCxnSpPr>
          <p:nvPr/>
        </p:nvCxnSpPr>
        <p:spPr bwMode="auto">
          <a:xfrm>
            <a:off x="1214355" y="1778360"/>
            <a:ext cx="487317" cy="750669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9382346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Biller Direct Solution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645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645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645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100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9" name="Rectangle 38"/>
          <p:cNvSpPr/>
          <p:nvPr/>
        </p:nvSpPr>
        <p:spPr bwMode="auto">
          <a:xfrm>
            <a:off x="6484023" y="2705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BDD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4" idx="2"/>
            <a:endCxn id="39" idx="0"/>
          </p:cNvCxnSpPr>
          <p:nvPr/>
        </p:nvCxnSpPr>
        <p:spPr bwMode="auto">
          <a:xfrm rot="5400000">
            <a:off x="6523615" y="2321063"/>
            <a:ext cx="768770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5" idx="2"/>
            <a:endCxn id="61" idx="0"/>
          </p:cNvCxnSpPr>
          <p:nvPr/>
        </p:nvCxnSpPr>
        <p:spPr bwMode="auto">
          <a:xfrm rot="16200000" flipH="1">
            <a:off x="8019240" y="2318159"/>
            <a:ext cx="766858" cy="389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6" idx="2"/>
            <a:endCxn id="62" idx="0"/>
          </p:cNvCxnSpPr>
          <p:nvPr/>
        </p:nvCxnSpPr>
        <p:spPr bwMode="auto">
          <a:xfrm rot="16200000" flipH="1">
            <a:off x="9511899" y="2318221"/>
            <a:ext cx="766857" cy="377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2705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 Prod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7" idx="2"/>
            <a:endCxn id="58" idx="0"/>
          </p:cNvCxnSpPr>
          <p:nvPr/>
        </p:nvCxnSpPr>
        <p:spPr bwMode="auto">
          <a:xfrm rot="5400000">
            <a:off x="10874778" y="2321063"/>
            <a:ext cx="768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0338287" y="1642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87625" y="214405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264738" y="403703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84231" y="240538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47743" y="24096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7980641" y="270353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IST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9473236" y="27035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 UAT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8425595" y="2404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03599" y="2404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28446" y="311993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809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809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95678" y="3298389"/>
            <a:ext cx="102463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/>
              <a:t>WAS JAVA 7.31</a:t>
            </a:r>
          </a:p>
        </p:txBody>
      </p:sp>
      <p:sp>
        <p:nvSpPr>
          <p:cNvPr id="66" name="Rectangle 65"/>
          <p:cNvSpPr/>
          <p:nvPr/>
        </p:nvSpPr>
        <p:spPr bwMode="auto">
          <a:xfrm>
            <a:off x="7974804" y="376646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N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DD 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NWDI</a:t>
            </a:r>
            <a:endParaRPr lang="en-US" sz="11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8" name="Straight Arrow Connector 67"/>
          <p:cNvCxnSpPr>
            <a:stCxn id="66" idx="0"/>
            <a:endCxn id="39" idx="2"/>
          </p:cNvCxnSpPr>
          <p:nvPr/>
        </p:nvCxnSpPr>
        <p:spPr bwMode="auto">
          <a:xfrm flipH="1" flipV="1">
            <a:off x="6907999" y="3288783"/>
            <a:ext cx="1490781" cy="4776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9" name="Straight Arrow Connector 68"/>
          <p:cNvCxnSpPr>
            <a:stCxn id="66" idx="0"/>
            <a:endCxn id="61" idx="2"/>
          </p:cNvCxnSpPr>
          <p:nvPr/>
        </p:nvCxnSpPr>
        <p:spPr bwMode="auto">
          <a:xfrm flipV="1">
            <a:off x="8398780" y="3286871"/>
            <a:ext cx="5837" cy="47958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Straight Arrow Connector 71"/>
          <p:cNvCxnSpPr>
            <a:stCxn id="66" idx="0"/>
            <a:endCxn id="62" idx="2"/>
          </p:cNvCxnSpPr>
          <p:nvPr/>
        </p:nvCxnSpPr>
        <p:spPr bwMode="auto">
          <a:xfrm flipV="1">
            <a:off x="8398780" y="3286870"/>
            <a:ext cx="1498432" cy="47959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66" idx="0"/>
            <a:endCxn id="58" idx="2"/>
          </p:cNvCxnSpPr>
          <p:nvPr/>
        </p:nvCxnSpPr>
        <p:spPr bwMode="auto">
          <a:xfrm flipV="1">
            <a:off x="8398780" y="3288783"/>
            <a:ext cx="2860383" cy="4776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5" name="Rectangle 74"/>
          <p:cNvSpPr/>
          <p:nvPr/>
        </p:nvSpPr>
        <p:spPr bwMode="auto">
          <a:xfrm>
            <a:off x="359139" y="1359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6" name="Rectangle 75"/>
          <p:cNvSpPr/>
          <p:nvPr/>
        </p:nvSpPr>
        <p:spPr bwMode="auto">
          <a:xfrm>
            <a:off x="2766222" y="137775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7" name="Rectangle 76"/>
          <p:cNvSpPr/>
          <p:nvPr/>
        </p:nvSpPr>
        <p:spPr bwMode="auto">
          <a:xfrm>
            <a:off x="880460" y="278091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4710302" y="1359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9" name="Straight Arrow Connector 78"/>
          <p:cNvCxnSpPr>
            <a:stCxn id="75" idx="3"/>
            <a:endCxn id="76" idx="1"/>
          </p:cNvCxnSpPr>
          <p:nvPr/>
        </p:nvCxnSpPr>
        <p:spPr bwMode="auto">
          <a:xfrm>
            <a:off x="1207090" y="1651361"/>
            <a:ext cx="1559132" cy="1805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2" name="Rectangle 81"/>
          <p:cNvSpPr/>
          <p:nvPr/>
        </p:nvSpPr>
        <p:spPr bwMode="auto">
          <a:xfrm>
            <a:off x="532817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3" name="Rectangle 82"/>
          <p:cNvSpPr/>
          <p:nvPr/>
        </p:nvSpPr>
        <p:spPr bwMode="auto">
          <a:xfrm>
            <a:off x="2025538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4" name="Rectangle 83"/>
          <p:cNvSpPr/>
          <p:nvPr/>
        </p:nvSpPr>
        <p:spPr bwMode="auto">
          <a:xfrm>
            <a:off x="3518259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5" name="Rectangle 84"/>
          <p:cNvSpPr/>
          <p:nvPr/>
        </p:nvSpPr>
        <p:spPr bwMode="auto">
          <a:xfrm>
            <a:off x="4883980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6" name="Straight Arrow Connector 85"/>
          <p:cNvCxnSpPr>
            <a:stCxn id="82" idx="3"/>
            <a:endCxn id="83" idx="1"/>
          </p:cNvCxnSpPr>
          <p:nvPr/>
        </p:nvCxnSpPr>
        <p:spPr bwMode="auto">
          <a:xfrm>
            <a:off x="1380768" y="1961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7" name="Straight Arrow Connector 86"/>
          <p:cNvCxnSpPr>
            <a:stCxn id="83" idx="3"/>
            <a:endCxn id="84" idx="1"/>
          </p:cNvCxnSpPr>
          <p:nvPr/>
        </p:nvCxnSpPr>
        <p:spPr bwMode="auto">
          <a:xfrm>
            <a:off x="2873489" y="1961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8" name="Straight Arrow Connector 87"/>
          <p:cNvCxnSpPr>
            <a:stCxn id="84" idx="3"/>
            <a:endCxn id="85" idx="1"/>
          </p:cNvCxnSpPr>
          <p:nvPr/>
        </p:nvCxnSpPr>
        <p:spPr bwMode="auto">
          <a:xfrm>
            <a:off x="4366210" y="1961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9" name="Rectangle 28"/>
          <p:cNvSpPr/>
          <p:nvPr/>
        </p:nvSpPr>
        <p:spPr bwMode="auto">
          <a:xfrm>
            <a:off x="4883979" y="271674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Extra </a:t>
            </a: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pratica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0" name="Elbow Connector 89"/>
          <p:cNvCxnSpPr>
            <a:stCxn id="85" idx="2"/>
            <a:endCxn id="89" idx="0"/>
          </p:cNvCxnSpPr>
          <p:nvPr/>
        </p:nvCxnSpPr>
        <p:spPr bwMode="auto">
          <a:xfrm rot="5400000">
            <a:off x="5075963" y="2484747"/>
            <a:ext cx="463986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0" name="Rectangle 28"/>
          <p:cNvSpPr/>
          <p:nvPr/>
        </p:nvSpPr>
        <p:spPr bwMode="auto">
          <a:xfrm>
            <a:off x="6523537" y="533842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SFDC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7320112" y="1106704"/>
            <a:ext cx="3469219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Components: FINBASIS  747 and  FSCM_CCD 617 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93950" y="3301893"/>
            <a:ext cx="3090392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050" dirty="0"/>
              <a:t>FSCM-BILLER DIRECT 6.35</a:t>
            </a:r>
          </a:p>
          <a:p>
            <a:pPr algn="ctr"/>
            <a:r>
              <a:rPr lang="en-US" sz="1050" dirty="0"/>
              <a:t>SAP JAVA DATA DICTIONARY 7.30</a:t>
            </a:r>
          </a:p>
        </p:txBody>
      </p:sp>
      <p:sp>
        <p:nvSpPr>
          <p:cNvPr id="103" name="Rectangle 102"/>
          <p:cNvSpPr/>
          <p:nvPr/>
        </p:nvSpPr>
        <p:spPr bwMode="auto">
          <a:xfrm>
            <a:off x="8809537" y="45889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050" dirty="0" smtClean="0">
                <a:solidFill>
                  <a:schemeClr val="tx1"/>
                </a:solidFill>
                <a:latin typeface="Arial" charset="0"/>
              </a:rPr>
              <a:t>Reverse Proxy Server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4" name="Straight Connector 93"/>
          <p:cNvCxnSpPr/>
          <p:nvPr/>
        </p:nvCxnSpPr>
        <p:spPr bwMode="auto">
          <a:xfrm>
            <a:off x="6395678" y="4489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07" name="Straight Connector 106"/>
          <p:cNvCxnSpPr/>
          <p:nvPr/>
        </p:nvCxnSpPr>
        <p:spPr bwMode="auto">
          <a:xfrm>
            <a:off x="6421078" y="52764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0" name="Elbow Connector 109"/>
          <p:cNvCxnSpPr>
            <a:stCxn id="58" idx="2"/>
            <a:endCxn id="103" idx="0"/>
          </p:cNvCxnSpPr>
          <p:nvPr/>
        </p:nvCxnSpPr>
        <p:spPr bwMode="auto">
          <a:xfrm rot="5400000">
            <a:off x="9596262" y="2926034"/>
            <a:ext cx="1300152" cy="20256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1" name="Elbow Connector 110"/>
          <p:cNvCxnSpPr>
            <a:stCxn id="103" idx="2"/>
            <a:endCxn id="100" idx="3"/>
          </p:cNvCxnSpPr>
          <p:nvPr/>
        </p:nvCxnSpPr>
        <p:spPr bwMode="auto">
          <a:xfrm rot="5400000">
            <a:off x="8073592" y="4470167"/>
            <a:ext cx="457819" cy="186202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3" name="TextBox 112"/>
          <p:cNvSpPr txBox="1"/>
          <p:nvPr/>
        </p:nvSpPr>
        <p:spPr>
          <a:xfrm>
            <a:off x="437430" y="4563727"/>
            <a:ext cx="5270499" cy="180836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Assembly </a:t>
            </a:r>
            <a:r>
              <a:rPr lang="pt-BR" sz="1200" dirty="0"/>
              <a:t>Developments and transport to other environments (dev, test, QA, prod</a:t>
            </a:r>
            <a:r>
              <a:rPr lang="pt-BR" sz="1200" dirty="0" smtClean="0"/>
              <a:t>)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/>
              <a:t>Configure RFC connection between </a:t>
            </a:r>
            <a:r>
              <a:rPr lang="pt-BR" sz="1200" dirty="0" smtClean="0"/>
              <a:t>BDx Prod </a:t>
            </a:r>
            <a:r>
              <a:rPr lang="pt-BR" sz="1200" dirty="0"/>
              <a:t>and </a:t>
            </a:r>
            <a:r>
              <a:rPr lang="pt-BR" sz="1200" dirty="0" smtClean="0"/>
              <a:t>Foundation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/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Install Security </a:t>
            </a:r>
            <a:r>
              <a:rPr lang="pt-BR" sz="1200" dirty="0" smtClean="0"/>
              <a:t>Certificate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Publish BD service over proxy on DMZ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Activate SSO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65" name="Cloud Callout 64"/>
          <p:cNvSpPr/>
          <p:nvPr/>
        </p:nvSpPr>
        <p:spPr bwMode="auto">
          <a:xfrm>
            <a:off x="10677824" y="5423389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900" dirty="0" smtClean="0">
                <a:latin typeface="Arial" charset="0"/>
              </a:rPr>
              <a:t>CITIBANK</a:t>
            </a:r>
          </a:p>
        </p:txBody>
      </p:sp>
      <p:cxnSp>
        <p:nvCxnSpPr>
          <p:cNvPr id="67" name="Elbow Connector 66"/>
          <p:cNvCxnSpPr>
            <a:stCxn id="58" idx="3"/>
            <a:endCxn id="65" idx="3"/>
          </p:cNvCxnSpPr>
          <p:nvPr/>
        </p:nvCxnSpPr>
        <p:spPr bwMode="auto">
          <a:xfrm flipH="1">
            <a:off x="11255621" y="2997116"/>
            <a:ext cx="427517" cy="2459511"/>
          </a:xfrm>
          <a:prstGeom prst="bentConnector4">
            <a:avLst>
              <a:gd name="adj1" fmla="val -53472"/>
              <a:gd name="adj2" fmla="val 66774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1" name="TextBox 90"/>
          <p:cNvSpPr txBox="1"/>
          <p:nvPr/>
        </p:nvSpPr>
        <p:spPr>
          <a:xfrm>
            <a:off x="11287625" y="472071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93" name="Cloud Callout 92"/>
          <p:cNvSpPr/>
          <p:nvPr/>
        </p:nvSpPr>
        <p:spPr bwMode="auto">
          <a:xfrm>
            <a:off x="9687224" y="5448789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BRADESCO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B.BRASIL</a:t>
            </a:r>
          </a:p>
        </p:txBody>
      </p:sp>
      <p:cxnSp>
        <p:nvCxnSpPr>
          <p:cNvPr id="95" name="Elbow Connector 94"/>
          <p:cNvCxnSpPr>
            <a:stCxn id="58" idx="3"/>
            <a:endCxn id="93" idx="3"/>
          </p:cNvCxnSpPr>
          <p:nvPr/>
        </p:nvCxnSpPr>
        <p:spPr bwMode="auto">
          <a:xfrm flipH="1">
            <a:off x="10265021" y="2997116"/>
            <a:ext cx="1418117" cy="2484911"/>
          </a:xfrm>
          <a:prstGeom prst="bentConnector4">
            <a:avLst>
              <a:gd name="adj1" fmla="val -16120"/>
              <a:gd name="adj2" fmla="val 552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6" name="TextBox 95"/>
          <p:cNvSpPr txBox="1"/>
          <p:nvPr/>
        </p:nvSpPr>
        <p:spPr>
          <a:xfrm>
            <a:off x="10308439" y="4588935"/>
            <a:ext cx="5832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 post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93950" y="5365950"/>
            <a:ext cx="1185980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pt-BR" sz="1200" dirty="0"/>
              <a:t>SSO Using </a:t>
            </a:r>
          </a:p>
          <a:p>
            <a:pPr algn="ctr">
              <a:spcAft>
                <a:spcPts val="600"/>
              </a:spcAft>
            </a:pPr>
            <a:r>
              <a:rPr lang="pt-BR" sz="1200" dirty="0"/>
              <a:t>SAML 2.0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496734" y="454598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>
                <a:solidFill>
                  <a:schemeClr val="accent1"/>
                </a:solidFill>
              </a:rPr>
              <a:t>DMZ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138924" y="3686613"/>
            <a:ext cx="5832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374908" y="33157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846081" y="443585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(7)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516434" y="565774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sp>
        <p:nvSpPr>
          <p:cNvPr id="114" name="Cloud Callout 113"/>
          <p:cNvSpPr/>
          <p:nvPr/>
        </p:nvSpPr>
        <p:spPr bwMode="auto">
          <a:xfrm>
            <a:off x="3937398" y="3690733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BRADESCO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B.BRASIL</a:t>
            </a:r>
          </a:p>
        </p:txBody>
      </p:sp>
      <p:cxnSp>
        <p:nvCxnSpPr>
          <p:cNvPr id="115" name="Elbow Connector 114"/>
          <p:cNvCxnSpPr>
            <a:stCxn id="89" idx="2"/>
            <a:endCxn id="114" idx="3"/>
          </p:cNvCxnSpPr>
          <p:nvPr/>
        </p:nvCxnSpPr>
        <p:spPr bwMode="auto">
          <a:xfrm rot="5400000">
            <a:off x="4699627" y="3115643"/>
            <a:ext cx="423896" cy="7927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6" name="TextBox 115"/>
          <p:cNvSpPr txBox="1"/>
          <p:nvPr/>
        </p:nvSpPr>
        <p:spPr>
          <a:xfrm>
            <a:off x="5296630" y="3451351"/>
            <a:ext cx="5832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 post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052216" y="4340078"/>
            <a:ext cx="76815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/>
              <a:t>WAS </a:t>
            </a:r>
            <a:r>
              <a:rPr lang="pt-BR" sz="900" dirty="0" smtClean="0"/>
              <a:t>JAVA</a:t>
            </a:r>
            <a:endParaRPr lang="pt-BR" sz="900" dirty="0"/>
          </a:p>
        </p:txBody>
      </p:sp>
      <p:cxnSp>
        <p:nvCxnSpPr>
          <p:cNvPr id="119" name="Straight Arrow Connector 118"/>
          <p:cNvCxnSpPr>
            <a:endCxn id="77" idx="1"/>
          </p:cNvCxnSpPr>
          <p:nvPr/>
        </p:nvCxnSpPr>
        <p:spPr bwMode="auto">
          <a:xfrm>
            <a:off x="359139" y="1936677"/>
            <a:ext cx="521321" cy="113590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0" name="Straight Arrow Connector 119"/>
          <p:cNvCxnSpPr>
            <a:endCxn id="78" idx="1"/>
          </p:cNvCxnSpPr>
          <p:nvPr/>
        </p:nvCxnSpPr>
        <p:spPr bwMode="auto">
          <a:xfrm>
            <a:off x="3615013" y="1642504"/>
            <a:ext cx="1095289" cy="885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09810338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TPS </a:t>
            </a:r>
            <a:r>
              <a:rPr lang="pt-BR" dirty="0" err="1" smtClean="0"/>
              <a:t>Pricing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TPS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200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TPS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0992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1596"/>
            <a:ext cx="1227547" cy="376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7405" y="2750136"/>
            <a:ext cx="111374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804" y="2703677"/>
            <a:ext cx="1606389" cy="14923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165" y="3449673"/>
            <a:ext cx="1606389" cy="3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623" y="2591231"/>
            <a:ext cx="2062372" cy="1261266"/>
          </a:xfrm>
          <a:prstGeom prst="bentConnector3">
            <a:avLst>
              <a:gd name="adj1" fmla="val 6186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125345" y="380319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TPS Pricing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TPS Pricing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402699586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Commercial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016971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PecSYN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230024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722745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215466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581187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461844" y="1779988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7954565" y="1779988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077975" y="1615673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570696" y="1615673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063417" y="1615673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309795" y="207165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520433" y="2728511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VPM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53" name="Elbow Connector 52"/>
          <p:cNvCxnSpPr>
            <a:stCxn id="41" idx="2"/>
            <a:endCxn id="128" idx="0"/>
          </p:cNvCxnSpPr>
          <p:nvPr/>
        </p:nvCxnSpPr>
        <p:spPr bwMode="auto">
          <a:xfrm rot="5400000">
            <a:off x="10432123" y="2474030"/>
            <a:ext cx="1139730" cy="63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232139" y="133035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813672" y="133337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838429" y="184371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583302" y="133035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080090" y="1622023"/>
            <a:ext cx="1733582" cy="302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600616" y="2320351"/>
            <a:ext cx="814821" cy="149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084287" y="1613166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95700" y="2939990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428393" y="196290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177762" y="242430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578748" y="281063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2558825" y="5808806"/>
            <a:ext cx="6505812" cy="10482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PecSYN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PecSYN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1" name="Rectangle 90"/>
          <p:cNvSpPr/>
          <p:nvPr/>
        </p:nvSpPr>
        <p:spPr bwMode="auto">
          <a:xfrm>
            <a:off x="730021" y="306114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EBI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2" name="Elbow Connector 91"/>
          <p:cNvCxnSpPr>
            <a:stCxn id="91" idx="3"/>
            <a:endCxn id="54" idx="0"/>
          </p:cNvCxnSpPr>
          <p:nvPr/>
        </p:nvCxnSpPr>
        <p:spPr bwMode="auto">
          <a:xfrm>
            <a:off x="1577972" y="3352809"/>
            <a:ext cx="1523988" cy="45420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3" name="TextBox 92"/>
          <p:cNvSpPr txBox="1"/>
          <p:nvPr/>
        </p:nvSpPr>
        <p:spPr>
          <a:xfrm>
            <a:off x="5001624" y="194336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50" name="Rectangle 49"/>
          <p:cNvSpPr/>
          <p:nvPr/>
        </p:nvSpPr>
        <p:spPr bwMode="auto">
          <a:xfrm>
            <a:off x="730021" y="226035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Pricing </a:t>
            </a:r>
            <a:r>
              <a:rPr kumimoji="0" lang="en-US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SPoT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4" name="Rectangle 53"/>
          <p:cNvSpPr/>
          <p:nvPr/>
        </p:nvSpPr>
        <p:spPr bwMode="auto">
          <a:xfrm>
            <a:off x="2613618" y="3807017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CMT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55" name="Elbow Connector 54"/>
          <p:cNvCxnSpPr>
            <a:stCxn id="49" idx="1"/>
            <a:endCxn id="54" idx="0"/>
          </p:cNvCxnSpPr>
          <p:nvPr/>
        </p:nvCxnSpPr>
        <p:spPr bwMode="auto">
          <a:xfrm rot="10800000" flipV="1">
            <a:off x="3101961" y="3020179"/>
            <a:ext cx="1418473" cy="78683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6" name="Elbow Connector 55"/>
          <p:cNvCxnSpPr>
            <a:stCxn id="62" idx="3"/>
            <a:endCxn id="54" idx="0"/>
          </p:cNvCxnSpPr>
          <p:nvPr/>
        </p:nvCxnSpPr>
        <p:spPr bwMode="auto">
          <a:xfrm flipH="1">
            <a:off x="3101960" y="1622023"/>
            <a:ext cx="2329293" cy="2184994"/>
          </a:xfrm>
          <a:prstGeom prst="bentConnector4">
            <a:avLst>
              <a:gd name="adj1" fmla="val -9814"/>
              <a:gd name="adj2" fmla="val 85556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66" name="Elbow Connector 65"/>
          <p:cNvCxnSpPr>
            <a:stCxn id="50" idx="3"/>
            <a:endCxn id="54" idx="0"/>
          </p:cNvCxnSpPr>
          <p:nvPr/>
        </p:nvCxnSpPr>
        <p:spPr bwMode="auto">
          <a:xfrm>
            <a:off x="1577972" y="2552026"/>
            <a:ext cx="1523988" cy="1254991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6" name="Rectangle 75"/>
          <p:cNvSpPr/>
          <p:nvPr/>
        </p:nvSpPr>
        <p:spPr bwMode="auto">
          <a:xfrm>
            <a:off x="1089630" y="5180947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SIP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77" name="Elbow Connector 76"/>
          <p:cNvCxnSpPr>
            <a:stCxn id="91" idx="1"/>
            <a:endCxn id="76" idx="0"/>
          </p:cNvCxnSpPr>
          <p:nvPr/>
        </p:nvCxnSpPr>
        <p:spPr bwMode="auto">
          <a:xfrm rot="10800000" flipH="1" flipV="1">
            <a:off x="730020" y="3352809"/>
            <a:ext cx="847951" cy="1828138"/>
          </a:xfrm>
          <a:prstGeom prst="bentConnector4">
            <a:avLst>
              <a:gd name="adj1" fmla="val -26959"/>
              <a:gd name="adj2" fmla="val 79111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Elbow Connector 82"/>
          <p:cNvCxnSpPr>
            <a:stCxn id="54" idx="2"/>
            <a:endCxn id="76" idx="0"/>
          </p:cNvCxnSpPr>
          <p:nvPr/>
        </p:nvCxnSpPr>
        <p:spPr bwMode="auto">
          <a:xfrm rot="5400000">
            <a:off x="1944669" y="4023655"/>
            <a:ext cx="790595" cy="15239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5" name="Flowchart: Document 94"/>
          <p:cNvSpPr/>
          <p:nvPr/>
        </p:nvSpPr>
        <p:spPr bwMode="auto">
          <a:xfrm>
            <a:off x="1632700" y="2314943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6" name="Flowchart: Document 95"/>
          <p:cNvSpPr/>
          <p:nvPr/>
        </p:nvSpPr>
        <p:spPr bwMode="auto">
          <a:xfrm>
            <a:off x="2302965" y="385812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00" name="Flowchart: Document 99"/>
          <p:cNvSpPr/>
          <p:nvPr/>
        </p:nvSpPr>
        <p:spPr bwMode="auto">
          <a:xfrm>
            <a:off x="400739" y="310298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101" name="Elbow Connector 100"/>
          <p:cNvCxnSpPr>
            <a:stCxn id="54" idx="1"/>
            <a:endCxn id="91" idx="2"/>
          </p:cNvCxnSpPr>
          <p:nvPr/>
        </p:nvCxnSpPr>
        <p:spPr bwMode="auto">
          <a:xfrm rot="10800000">
            <a:off x="1153998" y="3644477"/>
            <a:ext cx="1459621" cy="454209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Rectangle 101"/>
          <p:cNvSpPr/>
          <p:nvPr/>
        </p:nvSpPr>
        <p:spPr bwMode="auto">
          <a:xfrm>
            <a:off x="4718614" y="380411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Extrapratica</a:t>
            </a:r>
            <a:endParaRPr lang="en-US" sz="3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0" name="Rectangle 109"/>
          <p:cNvSpPr/>
          <p:nvPr/>
        </p:nvSpPr>
        <p:spPr bwMode="auto">
          <a:xfrm>
            <a:off x="4718613" y="462183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SPBF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1" name="Elbow Connector 110"/>
          <p:cNvCxnSpPr>
            <a:stCxn id="54" idx="3"/>
            <a:endCxn id="102" idx="1"/>
          </p:cNvCxnSpPr>
          <p:nvPr/>
        </p:nvCxnSpPr>
        <p:spPr bwMode="auto">
          <a:xfrm flipV="1">
            <a:off x="3590301" y="4095779"/>
            <a:ext cx="1128313" cy="290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3" name="Elbow Connector 122"/>
          <p:cNvCxnSpPr>
            <a:stCxn id="54" idx="3"/>
            <a:endCxn id="110" idx="1"/>
          </p:cNvCxnSpPr>
          <p:nvPr/>
        </p:nvCxnSpPr>
        <p:spPr bwMode="auto">
          <a:xfrm>
            <a:off x="3590301" y="4098685"/>
            <a:ext cx="1128312" cy="81482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26" name="Flowchart: Document 125"/>
          <p:cNvSpPr/>
          <p:nvPr/>
        </p:nvSpPr>
        <p:spPr bwMode="auto">
          <a:xfrm>
            <a:off x="3632461" y="385072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7" name="Flowchart: Document 126"/>
          <p:cNvSpPr/>
          <p:nvPr/>
        </p:nvSpPr>
        <p:spPr bwMode="auto">
          <a:xfrm>
            <a:off x="3678317" y="389603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0" name="Flowchart: Document 69"/>
          <p:cNvSpPr/>
          <p:nvPr/>
        </p:nvSpPr>
        <p:spPr bwMode="auto">
          <a:xfrm>
            <a:off x="1600000" y="310874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Flowchart: Document 70"/>
          <p:cNvSpPr/>
          <p:nvPr/>
        </p:nvSpPr>
        <p:spPr bwMode="auto">
          <a:xfrm>
            <a:off x="4221247" y="281255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4" name="Flowchart: Document 73"/>
          <p:cNvSpPr/>
          <p:nvPr/>
        </p:nvSpPr>
        <p:spPr bwMode="auto">
          <a:xfrm>
            <a:off x="5493313" y="138152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8" name="Flowchart: Document 77"/>
          <p:cNvSpPr/>
          <p:nvPr/>
        </p:nvSpPr>
        <p:spPr bwMode="auto">
          <a:xfrm>
            <a:off x="3147187" y="447635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6" name="Rectangle 85"/>
          <p:cNvSpPr/>
          <p:nvPr/>
        </p:nvSpPr>
        <p:spPr bwMode="auto">
          <a:xfrm>
            <a:off x="6720059" y="337970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EBI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4" name="Elbow Connector 93"/>
          <p:cNvCxnSpPr>
            <a:stCxn id="86" idx="3"/>
            <a:endCxn id="104" idx="0"/>
          </p:cNvCxnSpPr>
          <p:nvPr/>
        </p:nvCxnSpPr>
        <p:spPr bwMode="auto">
          <a:xfrm>
            <a:off x="7568010" y="3671368"/>
            <a:ext cx="1523988" cy="72466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3" name="Rectangle 102"/>
          <p:cNvSpPr/>
          <p:nvPr/>
        </p:nvSpPr>
        <p:spPr bwMode="auto">
          <a:xfrm>
            <a:off x="6720059" y="257891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Pricing </a:t>
            </a:r>
            <a:r>
              <a:rPr kumimoji="0" lang="en-US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SPoT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4" name="Rectangle 103"/>
          <p:cNvSpPr/>
          <p:nvPr/>
        </p:nvSpPr>
        <p:spPr bwMode="auto">
          <a:xfrm>
            <a:off x="8603656" y="4396035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CMT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105" name="Elbow Connector 104"/>
          <p:cNvCxnSpPr>
            <a:stCxn id="128" idx="1"/>
            <a:endCxn id="104" idx="0"/>
          </p:cNvCxnSpPr>
          <p:nvPr/>
        </p:nvCxnSpPr>
        <p:spPr bwMode="auto">
          <a:xfrm rot="10800000" flipV="1">
            <a:off x="9091999" y="3338737"/>
            <a:ext cx="1418473" cy="105729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06" name="Elbow Connector 105"/>
          <p:cNvCxnSpPr>
            <a:stCxn id="103" idx="3"/>
            <a:endCxn id="104" idx="0"/>
          </p:cNvCxnSpPr>
          <p:nvPr/>
        </p:nvCxnSpPr>
        <p:spPr bwMode="auto">
          <a:xfrm>
            <a:off x="7568010" y="2870585"/>
            <a:ext cx="1523988" cy="1525450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7" name="Rectangle 106"/>
          <p:cNvSpPr/>
          <p:nvPr/>
        </p:nvSpPr>
        <p:spPr bwMode="auto">
          <a:xfrm>
            <a:off x="10309347" y="5373400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SIP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8" name="Elbow Connector 107"/>
          <p:cNvCxnSpPr>
            <a:stCxn id="86" idx="1"/>
            <a:endCxn id="107" idx="1"/>
          </p:cNvCxnSpPr>
          <p:nvPr/>
        </p:nvCxnSpPr>
        <p:spPr bwMode="auto">
          <a:xfrm rot="10800000" flipH="1" flipV="1">
            <a:off x="6720059" y="3671368"/>
            <a:ext cx="3589288" cy="1993700"/>
          </a:xfrm>
          <a:prstGeom prst="bentConnector3">
            <a:avLst>
              <a:gd name="adj1" fmla="val -6369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09" name="Elbow Connector 108"/>
          <p:cNvCxnSpPr>
            <a:stCxn id="104" idx="2"/>
            <a:endCxn id="107" idx="1"/>
          </p:cNvCxnSpPr>
          <p:nvPr/>
        </p:nvCxnSpPr>
        <p:spPr bwMode="auto">
          <a:xfrm rot="16200000" flipH="1">
            <a:off x="9357823" y="4713544"/>
            <a:ext cx="685698" cy="1217349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12" name="Flowchart: Document 111"/>
          <p:cNvSpPr/>
          <p:nvPr/>
        </p:nvSpPr>
        <p:spPr bwMode="auto">
          <a:xfrm>
            <a:off x="7622738" y="26335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3" name="Flowchart: Document 112"/>
          <p:cNvSpPr/>
          <p:nvPr/>
        </p:nvSpPr>
        <p:spPr bwMode="auto">
          <a:xfrm>
            <a:off x="8293003" y="444714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4" name="Flowchart: Document 113"/>
          <p:cNvSpPr/>
          <p:nvPr/>
        </p:nvSpPr>
        <p:spPr bwMode="auto">
          <a:xfrm>
            <a:off x="6390777" y="342154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115" name="Elbow Connector 114"/>
          <p:cNvCxnSpPr>
            <a:stCxn id="104" idx="1"/>
            <a:endCxn id="86" idx="2"/>
          </p:cNvCxnSpPr>
          <p:nvPr/>
        </p:nvCxnSpPr>
        <p:spPr bwMode="auto">
          <a:xfrm rot="10800000">
            <a:off x="7144036" y="3963035"/>
            <a:ext cx="1459621" cy="72466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Flowchart: Document 121"/>
          <p:cNvSpPr/>
          <p:nvPr/>
        </p:nvSpPr>
        <p:spPr bwMode="auto">
          <a:xfrm>
            <a:off x="7590038" y="342730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4" name="Flowchart: Document 123"/>
          <p:cNvSpPr/>
          <p:nvPr/>
        </p:nvSpPr>
        <p:spPr bwMode="auto">
          <a:xfrm>
            <a:off x="10211285" y="313111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5" name="Flowchart: Document 124"/>
          <p:cNvSpPr/>
          <p:nvPr/>
        </p:nvSpPr>
        <p:spPr bwMode="auto">
          <a:xfrm>
            <a:off x="9137225" y="506537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8" name="Rectangle 127"/>
          <p:cNvSpPr/>
          <p:nvPr/>
        </p:nvSpPr>
        <p:spPr bwMode="auto">
          <a:xfrm>
            <a:off x="10510471" y="3047070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VPM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607061" y="4294391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502048" y="5193819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131" name="Elbow Connector 130"/>
          <p:cNvCxnSpPr>
            <a:stCxn id="41" idx="3"/>
            <a:endCxn id="104" idx="0"/>
          </p:cNvCxnSpPr>
          <p:nvPr/>
        </p:nvCxnSpPr>
        <p:spPr bwMode="auto">
          <a:xfrm flipH="1">
            <a:off x="9091998" y="1615673"/>
            <a:ext cx="2337140" cy="2780362"/>
          </a:xfrm>
          <a:prstGeom prst="bentConnector4">
            <a:avLst>
              <a:gd name="adj1" fmla="val -17496"/>
              <a:gd name="adj2" fmla="val 86743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32" name="Flowchart: Document 131"/>
          <p:cNvSpPr/>
          <p:nvPr/>
        </p:nvSpPr>
        <p:spPr bwMode="auto">
          <a:xfrm>
            <a:off x="11490957" y="139824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4082698" y="3040478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98184" y="419776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0174" y="545812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cxnSp>
        <p:nvCxnSpPr>
          <p:cNvPr id="88" name="Straight Arrow Connector 87"/>
          <p:cNvCxnSpPr>
            <a:stCxn id="60" idx="3"/>
            <a:endCxn id="62" idx="1"/>
          </p:cNvCxnSpPr>
          <p:nvPr/>
        </p:nvCxnSpPr>
        <p:spPr bwMode="auto">
          <a:xfrm flipV="1">
            <a:off x="3661623" y="1622023"/>
            <a:ext cx="921679" cy="302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6" name="Straight Arrow Connector 115"/>
          <p:cNvCxnSpPr>
            <a:stCxn id="58" idx="3"/>
            <a:endCxn id="61" idx="1"/>
          </p:cNvCxnSpPr>
          <p:nvPr/>
        </p:nvCxnSpPr>
        <p:spPr bwMode="auto">
          <a:xfrm>
            <a:off x="1080090" y="1622023"/>
            <a:ext cx="758339" cy="51336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7" name="Elbow Connector 116"/>
          <p:cNvCxnSpPr/>
          <p:nvPr/>
        </p:nvCxnSpPr>
        <p:spPr bwMode="auto">
          <a:xfrm>
            <a:off x="2711423" y="2159086"/>
            <a:ext cx="1839106" cy="64533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18" name="Elbow Connector 117"/>
          <p:cNvCxnSpPr>
            <a:stCxn id="61" idx="2"/>
          </p:cNvCxnSpPr>
          <p:nvPr/>
        </p:nvCxnSpPr>
        <p:spPr bwMode="auto">
          <a:xfrm rot="16200000" flipH="1">
            <a:off x="1992200" y="2697257"/>
            <a:ext cx="1532364" cy="99195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19" name="Elbow Connector 118"/>
          <p:cNvCxnSpPr/>
          <p:nvPr/>
        </p:nvCxnSpPr>
        <p:spPr bwMode="auto">
          <a:xfrm rot="5400000">
            <a:off x="663849" y="3753532"/>
            <a:ext cx="2752407" cy="12168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27412735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Support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861083" y="160071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634755" y="334993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892385"/>
            <a:ext cx="1653993" cy="12976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endCxn id="61" idx="0"/>
          </p:cNvCxnSpPr>
          <p:nvPr/>
        </p:nvCxnSpPr>
        <p:spPr bwMode="auto">
          <a:xfrm>
            <a:off x="634755" y="2190677"/>
            <a:ext cx="423976" cy="115925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709034" y="1892385"/>
            <a:ext cx="1001268" cy="12976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Plussoft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Plussoft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0" name="Rectangle 49"/>
          <p:cNvSpPr/>
          <p:nvPr/>
        </p:nvSpPr>
        <p:spPr bwMode="auto">
          <a:xfrm>
            <a:off x="2555508" y="352624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Support</a:t>
            </a:r>
          </a:p>
        </p:txBody>
      </p:sp>
      <p:cxnSp>
        <p:nvCxnSpPr>
          <p:cNvPr id="54" name="Elbow Connector 53"/>
          <p:cNvCxnSpPr>
            <a:stCxn id="60" idx="2"/>
            <a:endCxn id="50" idx="0"/>
          </p:cNvCxnSpPr>
          <p:nvPr/>
        </p:nvCxnSpPr>
        <p:spPr bwMode="auto">
          <a:xfrm rot="5400000">
            <a:off x="2461176" y="2702361"/>
            <a:ext cx="1342193" cy="30557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61" idx="3"/>
            <a:endCxn id="50" idx="0"/>
          </p:cNvCxnSpPr>
          <p:nvPr/>
        </p:nvCxnSpPr>
        <p:spPr bwMode="auto">
          <a:xfrm flipV="1">
            <a:off x="1482706" y="3526245"/>
            <a:ext cx="1496778" cy="115353"/>
          </a:xfrm>
          <a:prstGeom prst="bentConnector4">
            <a:avLst>
              <a:gd name="adj1" fmla="val 35837"/>
              <a:gd name="adj2" fmla="val 451023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0" name="Flowchart: Document 69"/>
          <p:cNvSpPr/>
          <p:nvPr/>
        </p:nvSpPr>
        <p:spPr bwMode="auto">
          <a:xfrm>
            <a:off x="3148343" y="308129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2733233" y="250607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smtClean="0"/>
              <a:t>Plussoft Satellite Landscape</a:t>
            </a:r>
            <a:endParaRPr lang="pt-BR" kern="0" dirty="0"/>
          </a:p>
        </p:txBody>
      </p:sp>
      <p:sp>
        <p:nvSpPr>
          <p:cNvPr id="74" name="Rectangle 73"/>
          <p:cNvSpPr/>
          <p:nvPr/>
        </p:nvSpPr>
        <p:spPr>
          <a:xfrm>
            <a:off x="2915384" y="-47640"/>
            <a:ext cx="626325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 (in design)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6568346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49" name="Rectangle 48"/>
          <p:cNvSpPr/>
          <p:nvPr/>
        </p:nvSpPr>
        <p:spPr bwMode="auto">
          <a:xfrm>
            <a:off x="4726013" y="341002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9108726" y="3633024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9074727" y="2196853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>
                <a:solidFill>
                  <a:schemeClr val="tx1"/>
                </a:solidFill>
                <a:latin typeface="Arial" charset="0"/>
              </a:rPr>
              <a:t>SPoT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3047973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781177" y="296947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23181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207090" y="1905361"/>
            <a:ext cx="1840883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574087" cy="135578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895924" y="1905361"/>
            <a:ext cx="827257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542075" y="2802110"/>
            <a:ext cx="1212997" cy="283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9922678" y="2117043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80053" y="369450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8680054" y="218698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Cutover</a:t>
            </a:r>
            <a:r>
              <a:rPr lang="pt-BR" sz="1200" dirty="0" smtClean="0"/>
              <a:t> </a:t>
            </a:r>
            <a:r>
              <a:rPr lang="pt-BR" sz="1200" dirty="0" err="1" smtClean="0"/>
              <a:t>steps</a:t>
            </a:r>
            <a:r>
              <a:rPr lang="pt-BR" sz="1200" dirty="0" smtClean="0"/>
              <a:t>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Implement</a:t>
            </a:r>
            <a:r>
              <a:rPr lang="pt-BR" sz="1200" dirty="0" smtClean="0"/>
              <a:t> Changes in </a:t>
            </a:r>
            <a:r>
              <a:rPr lang="pt-BR" sz="1200" dirty="0" err="1" smtClean="0"/>
              <a:t>SPoT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Run</a:t>
            </a:r>
            <a:r>
              <a:rPr lang="pt-BR" sz="1200" dirty="0" smtClean="0"/>
              <a:t>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50" name="Rectangle 49"/>
          <p:cNvSpPr/>
          <p:nvPr/>
        </p:nvSpPr>
        <p:spPr bwMode="auto">
          <a:xfrm>
            <a:off x="3047972" y="422571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Support</a:t>
            </a:r>
          </a:p>
        </p:txBody>
      </p:sp>
      <p:cxnSp>
        <p:nvCxnSpPr>
          <p:cNvPr id="54" name="Elbow Connector 53"/>
          <p:cNvCxnSpPr>
            <a:stCxn id="60" idx="2"/>
            <a:endCxn id="50" idx="0"/>
          </p:cNvCxnSpPr>
          <p:nvPr/>
        </p:nvCxnSpPr>
        <p:spPr bwMode="auto">
          <a:xfrm rot="5400000">
            <a:off x="2457605" y="3211372"/>
            <a:ext cx="202868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61" idx="2"/>
            <a:endCxn id="50" idx="0"/>
          </p:cNvCxnSpPr>
          <p:nvPr/>
        </p:nvCxnSpPr>
        <p:spPr bwMode="auto">
          <a:xfrm rot="16200000" flipH="1">
            <a:off x="2502097" y="3255865"/>
            <a:ext cx="672906" cy="126679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0" name="Flowchart: Document 69"/>
          <p:cNvSpPr/>
          <p:nvPr/>
        </p:nvSpPr>
        <p:spPr bwMode="auto">
          <a:xfrm>
            <a:off x="3595591" y="384028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2733233" y="250607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dirty="0" err="1" smtClean="0"/>
              <a:t>SPoT</a:t>
            </a:r>
            <a:r>
              <a:rPr lang="pt-BR" kern="0" dirty="0" smtClean="0"/>
              <a:t> </a:t>
            </a:r>
            <a:r>
              <a:rPr lang="pt-BR" kern="0" dirty="0" err="1" smtClean="0"/>
              <a:t>Satellite</a:t>
            </a:r>
            <a:r>
              <a:rPr lang="pt-BR" kern="0" dirty="0" smtClean="0"/>
              <a:t> </a:t>
            </a:r>
            <a:r>
              <a:rPr lang="pt-BR" kern="0" dirty="0" err="1" smtClean="0"/>
              <a:t>Landscape</a:t>
            </a:r>
            <a:endParaRPr lang="pt-BR" kern="0" dirty="0"/>
          </a:p>
        </p:txBody>
      </p:sp>
      <p:sp>
        <p:nvSpPr>
          <p:cNvPr id="74" name="Rectangle 73"/>
          <p:cNvSpPr/>
          <p:nvPr/>
        </p:nvSpPr>
        <p:spPr>
          <a:xfrm>
            <a:off x="4762043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76" name="Rectangle 75"/>
          <p:cNvSpPr/>
          <p:nvPr/>
        </p:nvSpPr>
        <p:spPr bwMode="auto">
          <a:xfrm>
            <a:off x="6845775" y="219685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Vendavo</a:t>
            </a:r>
            <a:endParaRPr lang="en-US" sz="7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Elbow Connector 76"/>
          <p:cNvCxnSpPr>
            <a:stCxn id="76" idx="3"/>
            <a:endCxn id="52" idx="1"/>
          </p:cNvCxnSpPr>
          <p:nvPr/>
        </p:nvCxnSpPr>
        <p:spPr bwMode="auto">
          <a:xfrm>
            <a:off x="7693726" y="2488520"/>
            <a:ext cx="1381001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8" name="Rectangle 77"/>
          <p:cNvSpPr/>
          <p:nvPr/>
        </p:nvSpPr>
        <p:spPr bwMode="auto">
          <a:xfrm>
            <a:off x="6820885" y="364238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Vendavo</a:t>
            </a:r>
            <a:endParaRPr kumimoji="0" lang="en-US" sz="12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IST/UAT</a:t>
            </a:r>
            <a:endParaRPr lang="en-US" sz="7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3" name="Elbow Connector 82"/>
          <p:cNvCxnSpPr>
            <a:stCxn id="78" idx="3"/>
            <a:endCxn id="51" idx="1"/>
          </p:cNvCxnSpPr>
          <p:nvPr/>
        </p:nvCxnSpPr>
        <p:spPr bwMode="auto">
          <a:xfrm flipV="1">
            <a:off x="7668836" y="3924692"/>
            <a:ext cx="1439890" cy="935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55652570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49" name="Rectangle 48"/>
          <p:cNvSpPr/>
          <p:nvPr/>
        </p:nvSpPr>
        <p:spPr bwMode="auto">
          <a:xfrm>
            <a:off x="1030310" y="1698332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6915589" y="3367367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8382752" y="3367367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Cutover</a:t>
            </a:r>
            <a:r>
              <a:rPr lang="pt-BR" sz="1200" dirty="0" smtClean="0"/>
              <a:t> </a:t>
            </a:r>
            <a:r>
              <a:rPr lang="pt-BR" sz="1200" dirty="0" err="1" smtClean="0"/>
              <a:t>steps</a:t>
            </a:r>
            <a:r>
              <a:rPr lang="pt-BR" sz="1200" dirty="0" smtClean="0"/>
              <a:t>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Teamspace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Run</a:t>
            </a:r>
            <a:r>
              <a:rPr lang="pt-BR" sz="1200" dirty="0" smtClean="0"/>
              <a:t> Smoke test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dirty="0" err="1" smtClean="0"/>
              <a:t>Teamspace</a:t>
            </a:r>
            <a:r>
              <a:rPr lang="pt-BR" kern="0" dirty="0" smtClean="0"/>
              <a:t> </a:t>
            </a:r>
            <a:r>
              <a:rPr lang="pt-BR" kern="0" dirty="0" err="1" smtClean="0"/>
              <a:t>Satellite</a:t>
            </a:r>
            <a:r>
              <a:rPr lang="pt-BR" kern="0" dirty="0" smtClean="0"/>
              <a:t> </a:t>
            </a:r>
            <a:r>
              <a:rPr lang="pt-BR" kern="0" dirty="0" err="1" smtClean="0"/>
              <a:t>Landscape</a:t>
            </a:r>
            <a:endParaRPr lang="pt-BR" kern="0" dirty="0"/>
          </a:p>
        </p:txBody>
      </p:sp>
      <p:sp>
        <p:nvSpPr>
          <p:cNvPr id="74" name="Rectangle 73"/>
          <p:cNvSpPr/>
          <p:nvPr/>
        </p:nvSpPr>
        <p:spPr>
          <a:xfrm>
            <a:off x="2915384" y="-47640"/>
            <a:ext cx="626325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 (in design)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35" name="Rectangle 34"/>
          <p:cNvSpPr/>
          <p:nvPr/>
        </p:nvSpPr>
        <p:spPr bwMode="auto">
          <a:xfrm>
            <a:off x="6915590" y="1841185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2405395" y="16983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</p:spTree>
    <p:extLst>
      <p:ext uri="{BB962C8B-B14F-4D97-AF65-F5344CB8AC3E}">
        <p14:creationId xmlns:p14="http://schemas.microsoft.com/office/powerpoint/2010/main" val="4196885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 smtClean="0"/>
              <a:t>Disaggregation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BW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9" name="Rectangle 48"/>
          <p:cNvSpPr/>
          <p:nvPr/>
        </p:nvSpPr>
        <p:spPr bwMode="auto">
          <a:xfrm>
            <a:off x="4628251" y="4079252"/>
            <a:ext cx="1000745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Disaggr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.</a:t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9554648" y="3679324"/>
            <a:ext cx="1000745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Disaggr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.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9849269" y="2396430"/>
            <a:ext cx="1488646" cy="107714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04647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482755" y="1905360"/>
            <a:ext cx="1221892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187511" y="3138139"/>
            <a:ext cx="188222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10615926" y="3671781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372658" y="336041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236387" y="340086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</a:t>
            </a:r>
            <a:r>
              <a:rPr lang="pt-BR" sz="1200" dirty="0" err="1" smtClean="0"/>
              <a:t>Disaggregation</a:t>
            </a: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zTCD</a:t>
            </a:r>
            <a:endParaRPr lang="pt-BR" sz="1200" dirty="0" smtClean="0"/>
          </a:p>
        </p:txBody>
      </p:sp>
      <p:sp>
        <p:nvSpPr>
          <p:cNvPr id="45" name="TextBox 44"/>
          <p:cNvSpPr txBox="1"/>
          <p:nvPr/>
        </p:nvSpPr>
        <p:spPr>
          <a:xfrm>
            <a:off x="5132165" y="2920508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55" name="Rectangle 54"/>
          <p:cNvSpPr/>
          <p:nvPr/>
        </p:nvSpPr>
        <p:spPr bwMode="auto">
          <a:xfrm>
            <a:off x="2001822" y="374192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SPBF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9" name="Rectangle 58"/>
          <p:cNvSpPr/>
          <p:nvPr/>
        </p:nvSpPr>
        <p:spPr bwMode="auto">
          <a:xfrm>
            <a:off x="2001821" y="476541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CMT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6" name="Flowchart: Document 65"/>
          <p:cNvSpPr/>
          <p:nvPr/>
        </p:nvSpPr>
        <p:spPr bwMode="auto">
          <a:xfrm>
            <a:off x="5297351" y="381408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70" name="Elbow Connector 69"/>
          <p:cNvCxnSpPr>
            <a:stCxn id="55" idx="3"/>
            <a:endCxn id="49" idx="1"/>
          </p:cNvCxnSpPr>
          <p:nvPr/>
        </p:nvCxnSpPr>
        <p:spPr bwMode="auto">
          <a:xfrm>
            <a:off x="2849773" y="4033591"/>
            <a:ext cx="1778478" cy="33732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59" idx="3"/>
            <a:endCxn id="49" idx="1"/>
          </p:cNvCxnSpPr>
          <p:nvPr/>
        </p:nvCxnSpPr>
        <p:spPr bwMode="auto">
          <a:xfrm flipV="1">
            <a:off x="2849772" y="4370920"/>
            <a:ext cx="1778479" cy="68616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4" name="Flowchart: Document 73"/>
          <p:cNvSpPr/>
          <p:nvPr/>
        </p:nvSpPr>
        <p:spPr bwMode="auto">
          <a:xfrm>
            <a:off x="4264417" y="450950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6" name="Rectangle 75"/>
          <p:cNvSpPr/>
          <p:nvPr/>
        </p:nvSpPr>
        <p:spPr bwMode="auto">
          <a:xfrm>
            <a:off x="8297689" y="264333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IBP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Elbow Connector 76"/>
          <p:cNvCxnSpPr>
            <a:stCxn id="76" idx="3"/>
            <a:endCxn id="52" idx="0"/>
          </p:cNvCxnSpPr>
          <p:nvPr/>
        </p:nvCxnSpPr>
        <p:spPr bwMode="auto">
          <a:xfrm>
            <a:off x="9145640" y="2935001"/>
            <a:ext cx="909381" cy="744323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Elbow Connector 77"/>
          <p:cNvCxnSpPr>
            <a:stCxn id="52" idx="1"/>
            <a:endCxn id="76" idx="2"/>
          </p:cNvCxnSpPr>
          <p:nvPr/>
        </p:nvCxnSpPr>
        <p:spPr bwMode="auto">
          <a:xfrm rot="10800000">
            <a:off x="8721666" y="3226668"/>
            <a:ext cx="832983" cy="74432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6956239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err="1" smtClean="0"/>
              <a:t>Nutrade</a:t>
            </a:r>
            <a:r>
              <a:rPr lang="pt-BR" sz="2400" dirty="0" smtClean="0"/>
              <a:t>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932197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Gestão de Despesas Operacionais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800" dirty="0" err="1" smtClean="0">
                <a:solidFill>
                  <a:schemeClr val="tx1"/>
                </a:solidFill>
                <a:latin typeface="Arial" charset="0"/>
              </a:rPr>
              <a:t>before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200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800" dirty="0" err="1" smtClean="0">
                <a:solidFill>
                  <a:schemeClr val="tx1"/>
                </a:solidFill>
                <a:latin typeface="Arial" charset="0"/>
              </a:rPr>
              <a:t>after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5359"/>
            <a:ext cx="122754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6" y="2752018"/>
            <a:ext cx="110998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804" y="2703677"/>
            <a:ext cx="1606389" cy="14923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165" y="3449673"/>
            <a:ext cx="1606389" cy="3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623" y="2591231"/>
            <a:ext cx="2062372" cy="1261266"/>
          </a:xfrm>
          <a:prstGeom prst="bentConnector3">
            <a:avLst>
              <a:gd name="adj1" fmla="val 6186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46418" y="400271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GD Nutrade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GD Nutrade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76943260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 smtClean="0"/>
              <a:t>Webmap</a:t>
            </a:r>
            <a:r>
              <a:rPr lang="pt-BR" dirty="0" smtClean="0"/>
              <a:t> &amp; </a:t>
            </a:r>
            <a:r>
              <a:rPr lang="pt-BR" dirty="0" err="1" smtClean="0"/>
              <a:t>Feedsystem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4969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/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564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5748" y="3372326"/>
            <a:ext cx="850390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40729" y="2780892"/>
            <a:ext cx="1181648" cy="12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5359"/>
            <a:ext cx="122754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57943" y="2773361"/>
            <a:ext cx="11526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90368" y="3221864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986" y="2703495"/>
            <a:ext cx="1606389" cy="14927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347" y="3449855"/>
            <a:ext cx="1606389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805" y="2591413"/>
            <a:ext cx="2062372" cy="1260902"/>
          </a:xfrm>
          <a:prstGeom prst="bentConnector3">
            <a:avLst>
              <a:gd name="adj1" fmla="val 6124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46418" y="400271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WebMap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WebMap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36841618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Monitoramento Logístico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661122" y="337232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</a:t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564" y="337867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5748" y="3372326"/>
            <a:ext cx="850390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   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40729" y="2780892"/>
            <a:ext cx="1181648" cy="12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66112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482755" y="1905360"/>
            <a:ext cx="117836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497450" y="2784676"/>
            <a:ext cx="117529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90368" y="3221864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393173" y="2266308"/>
            <a:ext cx="732014" cy="14927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8139534" y="3012668"/>
            <a:ext cx="73201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541993" y="2154225"/>
            <a:ext cx="1187997" cy="1260902"/>
          </a:xfrm>
          <a:prstGeom prst="bentConnector3">
            <a:avLst>
              <a:gd name="adj1" fmla="val 69514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711794" y="311107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ML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ML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50" name="Cloud Callout 49"/>
          <p:cNvSpPr/>
          <p:nvPr/>
        </p:nvSpPr>
        <p:spPr bwMode="auto">
          <a:xfrm>
            <a:off x="4374295" y="4429587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Armazéns</a:t>
            </a:r>
          </a:p>
        </p:txBody>
      </p:sp>
      <p:cxnSp>
        <p:nvCxnSpPr>
          <p:cNvPr id="54" name="Elbow Connector 53"/>
          <p:cNvCxnSpPr>
            <a:stCxn id="49" idx="2"/>
            <a:endCxn id="50" idx="3"/>
          </p:cNvCxnSpPr>
          <p:nvPr/>
        </p:nvCxnSpPr>
        <p:spPr bwMode="auto">
          <a:xfrm rot="5400000">
            <a:off x="4825307" y="4215449"/>
            <a:ext cx="519581" cy="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03127507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R0ZqtJcfxkOKXW_rwg2cVw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jDRvUrVtL0uvnNbG6HNEzg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heme/theme1.xml><?xml version="1.0" encoding="utf-8"?>
<a:theme xmlns:a="http://schemas.openxmlformats.org/drawingml/2006/main" name="2_Syngenta Landscape 2007">
  <a:themeElements>
    <a:clrScheme name="Syngenta 2007">
      <a:dk1>
        <a:srgbClr val="626469"/>
      </a:dk1>
      <a:lt1>
        <a:srgbClr val="FFFFFF"/>
      </a:lt1>
      <a:dk2>
        <a:srgbClr val="5F7800"/>
      </a:dk2>
      <a:lt2>
        <a:srgbClr val="FFB400"/>
      </a:lt2>
      <a:accent1>
        <a:srgbClr val="00A0BE"/>
      </a:accent1>
      <a:accent2>
        <a:srgbClr val="AAB400"/>
      </a:accent2>
      <a:accent3>
        <a:srgbClr val="EB8200"/>
      </a:accent3>
      <a:accent4>
        <a:srgbClr val="82C8DC"/>
      </a:accent4>
      <a:accent5>
        <a:srgbClr val="FFB400"/>
      </a:accent5>
      <a:accent6>
        <a:srgbClr val="5F7800"/>
      </a:accent6>
      <a:hlink>
        <a:srgbClr val="EB8200"/>
      </a:hlink>
      <a:folHlink>
        <a:srgbClr val="82C8DC"/>
      </a:folHlink>
    </a:clrScheme>
    <a:fontScheme name="Printout Syngenta 2003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2"/>
        </a:solidFill>
        <a:ln w="6350" cap="flat" cmpd="sng" algn="ctr">
          <a:solidFill>
            <a:schemeClr val="folHlink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ts val="600"/>
          </a:spcAft>
          <a:buClrTx/>
          <a:buSzTx/>
          <a:buFontTx/>
          <a:buNone/>
          <a:tabLst/>
          <a:defRPr kumimoji="0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2"/>
        </a:solidFill>
        <a:ln w="6350" cap="flat" cmpd="sng" algn="ctr">
          <a:solidFill>
            <a:schemeClr val="folHlink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ts val="600"/>
          </a:spcAft>
          <a:buClrTx/>
          <a:buSzTx/>
          <a:buFontTx/>
          <a:buNone/>
          <a:tabLst/>
          <a:defRPr kumimoji="0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  <a:txDef>
      <a:spPr>
        <a:noFill/>
      </a:spPr>
      <a:bodyPr wrap="square" rtlCol="0">
        <a:normAutofit/>
      </a:bodyPr>
      <a:lstStyle>
        <a:defPPr>
          <a:spcBef>
            <a:spcPts val="0"/>
          </a:spcBef>
          <a:spcAft>
            <a:spcPts val="600"/>
          </a:spcAft>
          <a:defRPr sz="2000"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3786</TotalTime>
  <Words>2941</Words>
  <Application>Microsoft Office PowerPoint</Application>
  <PresentationFormat>Widescreen</PresentationFormat>
  <Paragraphs>1476</Paragraphs>
  <Slides>32</Slides>
  <Notes>1</Notes>
  <HiddenSlides>0</HiddenSlides>
  <MMClips>0</MMClips>
  <ScaleCrop>false</ScaleCrop>
  <HeadingPairs>
    <vt:vector size="10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Links</vt:lpstr>
      </vt:variant>
      <vt:variant>
        <vt:i4>6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43" baseType="lpstr">
      <vt:lpstr>Arial</vt:lpstr>
      <vt:lpstr>Calibri</vt:lpstr>
      <vt:lpstr>Wingdings 2</vt:lpstr>
      <vt:lpstr>2_Syngenta Landscape 2007</vt:lpstr>
      <vt:lpstr>C:\Users\T966104\Documents\repos\docs\syngenta-appmap\Test Enviroment Plan V3_light_version.xlsx</vt:lpstr>
      <vt:lpstr>C:\Users\T966104\Documents\repos\docs\syngenta-appmap\Test Enviroment Plan V3_light_version.xlsx</vt:lpstr>
      <vt:lpstr>C:\Users\T966104\Documents\repos\docs\syngenta-appmap\Test Enviroment Plan V3_light_version.xlsx</vt:lpstr>
      <vt:lpstr>C:\Users\T966104\Documents\repos\docs\syngenta-appmap\Test Enviroment Plan V3_light_version.xlsx</vt:lpstr>
      <vt:lpstr>C:\Users\T966104\Documents\repos\docs\syngenta-appmap\Test Enviroment Plan V3_light_version.xlsx</vt:lpstr>
      <vt:lpstr>C:\Users\T966104\Documents\repos\docs\syngenta-appmap\Test Enviroment Plan V3_light_version.xlsx</vt:lpstr>
      <vt:lpstr>think-cell Slide</vt:lpstr>
      <vt:lpstr>Satellite Integration Report</vt:lpstr>
      <vt:lpstr>Satellite Status report – Week of 2016-11-01 Reason for status: Major satellites on track, Issues being solved in Unit Test</vt:lpstr>
      <vt:lpstr>PowerPoint Presentation</vt:lpstr>
      <vt:lpstr>PnS Satellite Systems Landscapes</vt:lpstr>
      <vt:lpstr>DYNASYS / Toledo Scale Satellite Landscape</vt:lpstr>
      <vt:lpstr>TMS Kewill Satellite Landscape</vt:lpstr>
      <vt:lpstr>GKO Satellite Landscape</vt:lpstr>
      <vt:lpstr>OneSource Global Trade Satellite Landscape</vt:lpstr>
      <vt:lpstr>Carrier WebServices Satellite Landscape</vt:lpstr>
      <vt:lpstr>Status of Data Migration Strategy for PnS Satellite Systems (MASTER DATA)</vt:lpstr>
      <vt:lpstr>Status of Data Migration Strategy for PnS Satellite Systems (TRANSACTIONAL DATA)</vt:lpstr>
      <vt:lpstr>FiP Satellite Systems Landscapes</vt:lpstr>
      <vt:lpstr>HR (GPS) Satellite Landscape</vt:lpstr>
      <vt:lpstr>Rhadar / Synseg Satellite Landscape</vt:lpstr>
      <vt:lpstr>GRC NFE Satellite Landscape</vt:lpstr>
      <vt:lpstr>MasterSAF DW Satellite Landscape</vt:lpstr>
      <vt:lpstr>SERASA Satellite Landscape</vt:lpstr>
      <vt:lpstr>Credito Rural Satellite Landscape</vt:lpstr>
      <vt:lpstr>Easy IRPJ Satellite Landscape</vt:lpstr>
      <vt:lpstr>VIM Satellite Landscape</vt:lpstr>
      <vt:lpstr>Biller Direct Solution Satellite Landscape</vt:lpstr>
      <vt:lpstr>TPS Pricing Satellite Landscape</vt:lpstr>
      <vt:lpstr>Commercial Satellite Systems Landscapes</vt:lpstr>
      <vt:lpstr>PecSYN Satellite Landscape</vt:lpstr>
      <vt:lpstr>PowerPoint Presentation</vt:lpstr>
      <vt:lpstr>PowerPoint Presentation</vt:lpstr>
      <vt:lpstr>PowerPoint Presentation</vt:lpstr>
      <vt:lpstr>Disaggregation Satellite Landscape</vt:lpstr>
      <vt:lpstr>Nutrade Satellite Systems Landscapes</vt:lpstr>
      <vt:lpstr>Gestão de Despesas Operacionais Satellite Landscape</vt:lpstr>
      <vt:lpstr>Webmap &amp; Feedsystem Satellite Landscape</vt:lpstr>
      <vt:lpstr>Monitoramento Logístico Satellite Landscape</vt:lpstr>
    </vt:vector>
  </TitlesOfParts>
  <Company>Syngenta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Commercial Target Architecture and Interfaces</dc:title>
  <dc:creator>Mehta Kaushal (ext) CHBS</dc:creator>
  <cp:lastModifiedBy>Duzi Alex (ext) BRIF</cp:lastModifiedBy>
  <cp:revision>317</cp:revision>
  <dcterms:created xsi:type="dcterms:W3CDTF">2016-08-24T14:53:31Z</dcterms:created>
  <dcterms:modified xsi:type="dcterms:W3CDTF">2016-11-10T12:54:12Z</dcterms:modified>
</cp:coreProperties>
</file>