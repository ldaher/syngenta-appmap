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66" r:id="rId2"/>
    <p:sldId id="264" r:id="rId3"/>
    <p:sldId id="265" r:id="rId4"/>
    <p:sldId id="281" r:id="rId5"/>
    <p:sldId id="267" r:id="rId6"/>
    <p:sldId id="268" r:id="rId7"/>
    <p:sldId id="272" r:id="rId8"/>
    <p:sldId id="278" r:id="rId9"/>
    <p:sldId id="273" r:id="rId10"/>
    <p:sldId id="300" r:id="rId11"/>
    <p:sldId id="301" r:id="rId12"/>
    <p:sldId id="282" r:id="rId13"/>
    <p:sldId id="269" r:id="rId14"/>
    <p:sldId id="270" r:id="rId15"/>
    <p:sldId id="271" r:id="rId16"/>
    <p:sldId id="274" r:id="rId17"/>
    <p:sldId id="276" r:id="rId18"/>
    <p:sldId id="279" r:id="rId19"/>
    <p:sldId id="285" r:id="rId20"/>
    <p:sldId id="287" r:id="rId21"/>
    <p:sldId id="288" r:id="rId22"/>
    <p:sldId id="293" r:id="rId23"/>
    <p:sldId id="283" r:id="rId24"/>
    <p:sldId id="284" r:id="rId25"/>
    <p:sldId id="290" r:id="rId26"/>
    <p:sldId id="298" r:id="rId27"/>
    <p:sldId id="292" r:id="rId28"/>
    <p:sldId id="299" r:id="rId29"/>
    <p:sldId id="294" r:id="rId30"/>
    <p:sldId id="302" r:id="rId31"/>
    <p:sldId id="296" r:id="rId32"/>
    <p:sldId id="295" r:id="rId33"/>
    <p:sldId id="29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00"/>
    <a:srgbClr val="5F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02" autoAdjust="0"/>
    <p:restoredTop sz="94434" autoAdjust="0"/>
  </p:normalViewPr>
  <p:slideViewPr>
    <p:cSldViewPr snapToGrid="0">
      <p:cViewPr varScale="1">
        <p:scale>
          <a:sx n="59" d="100"/>
          <a:sy n="59" d="100"/>
        </p:scale>
        <p:origin x="9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EE07B-5BFA-46FC-AF61-CC9BD33EC30F}" type="datetimeFigureOut">
              <a:rPr lang="en-US" smtClean="0"/>
              <a:t>11/11/2016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FE40F-3167-45B2-B4DA-01DAF0336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5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BC3F7-D0A1-4C94-847C-0D931305FCA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839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owerpoint_land_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115" y="0"/>
            <a:ext cx="1220046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4402" y="5927728"/>
            <a:ext cx="9599084" cy="360363"/>
          </a:xfrm>
        </p:spPr>
        <p:txBody>
          <a:bodyPr wrap="none"/>
          <a:lstStyle>
            <a:lvl1pPr marL="0" indent="0">
              <a:buFont typeface="Arial" charset="0"/>
              <a:buNone/>
              <a:defRPr sz="911">
                <a:solidFill>
                  <a:schemeClr val="tx2"/>
                </a:solidFill>
              </a:defRPr>
            </a:lvl1pPr>
          </a:lstStyle>
          <a:p>
            <a:r>
              <a:rPr lang="en-GB" noProof="0" dirty="0" smtClean="0"/>
              <a:t>Click to edit Master subtitle style</a:t>
            </a:r>
            <a:endParaRPr lang="en-GB" noProof="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6519" y="4035428"/>
            <a:ext cx="9596967" cy="422275"/>
          </a:xfrm>
        </p:spPr>
        <p:txBody>
          <a:bodyPr anchor="t"/>
          <a:lstStyle>
            <a:lvl1pPr>
              <a:defRPr sz="2090"/>
            </a:lvl1pPr>
          </a:lstStyle>
          <a:p>
            <a:r>
              <a:rPr lang="en-GB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599192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>
              <a:solidFill>
                <a:srgbClr val="6264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93038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>
              <a:solidFill>
                <a:srgbClr val="6264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624730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a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93484" y="295684"/>
            <a:ext cx="11184000" cy="9901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494400" y="1805670"/>
            <a:ext cx="11184000" cy="4545033"/>
          </a:xfrm>
        </p:spPr>
        <p:txBody>
          <a:bodyPr/>
          <a:lstStyle>
            <a:lvl1pPr marL="0" indent="0" algn="l">
              <a:buNone/>
              <a:defRPr/>
            </a:lvl1pPr>
            <a:lvl2pPr marL="200029" indent="-200029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0002" y="6597650"/>
            <a:ext cx="4896817" cy="12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590">
                <a:solidFill>
                  <a:srgbClr val="8C8C8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14"/>
            <a:r>
              <a:rPr lang="en-GB" smtClean="0"/>
              <a:t>Title</a:t>
            </a:r>
            <a:endParaRPr lang="en-GB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8367" y="6597650"/>
            <a:ext cx="480000" cy="12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590">
                <a:solidFill>
                  <a:srgbClr val="8C8C8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14"/>
            <a:fld id="{313880FF-B11A-4FA9-B5CC-7226C1B8517C}" type="slidenum">
              <a:rPr lang="en-GB" smtClean="0"/>
              <a:pPr defTabSz="685814"/>
              <a:t>‹#›</a:t>
            </a:fld>
            <a:endParaRPr lang="en-GB" dirty="0"/>
          </a:p>
        </p:txBody>
      </p:sp>
      <p:sp>
        <p:nvSpPr>
          <p:cNvPr id="10" name="SD_OFF_Copyright"/>
          <p:cNvSpPr txBox="1">
            <a:spLocks/>
          </p:cNvSpPr>
          <p:nvPr userDrawn="1"/>
        </p:nvSpPr>
        <p:spPr>
          <a:xfrm>
            <a:off x="8817615" y="6597650"/>
            <a:ext cx="2896020" cy="1260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marR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GB" sz="428" dirty="0" smtClean="0">
                <a:solidFill>
                  <a:srgbClr val="8C8C8C"/>
                </a:solidFill>
                <a:cs typeface="Arial" charset="0"/>
              </a:rPr>
              <a:t>© 2015 Deloitte Consulting AG. All rights reserved.</a:t>
            </a:r>
            <a:endParaRPr lang="en-GB" sz="428" dirty="0">
              <a:solidFill>
                <a:srgbClr val="8C8C8C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039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207908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448" y="88900"/>
            <a:ext cx="11271251" cy="812800"/>
          </a:xfrm>
          <a:prstGeom prst="rect">
            <a:avLst/>
          </a:prstGeom>
        </p:spPr>
        <p:txBody>
          <a:bodyPr lIns="134095" tIns="67047" rIns="134095" bIns="67047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56225" y="6458412"/>
            <a:ext cx="8798977" cy="376238"/>
          </a:xfrm>
          <a:prstGeom prst="rect">
            <a:avLst/>
          </a:prstGeom>
        </p:spPr>
        <p:txBody>
          <a:bodyPr/>
          <a:lstStyle>
            <a:lvl1pPr>
              <a:defRPr sz="803"/>
            </a:lvl1pPr>
          </a:lstStyle>
          <a:p>
            <a:r>
              <a:rPr lang="en-US" dirty="0" smtClean="0">
                <a:solidFill>
                  <a:srgbClr val="626469"/>
                </a:solidFill>
              </a:rPr>
              <a:t>Classification: CONFIDENTIAL			Pricing – Concept Paper</a:t>
            </a:r>
            <a:endParaRPr lang="en-US" dirty="0">
              <a:solidFill>
                <a:srgbClr val="6264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16615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932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" hidden="1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"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7" descr="ppt_land_print_2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173791"/>
            <a:ext cx="1219200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7419" y="1211263"/>
            <a:ext cx="11279716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56217" y="6483350"/>
            <a:ext cx="7670800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64008" rIns="128016" bIns="64008" numCol="1" anchor="t" anchorCtr="0" compatLnSpc="1">
            <a:prstTxWarp prst="textNoShape">
              <a:avLst/>
            </a:prstTxWarp>
            <a:normAutofit/>
          </a:bodyPr>
          <a:lstStyle>
            <a:lvl1pPr eaLnBrk="0" hangingPunct="0">
              <a:spcAft>
                <a:spcPts val="450"/>
              </a:spcAft>
              <a:tabLst>
                <a:tab pos="331001" algn="l"/>
              </a:tabLst>
              <a:defRPr sz="911">
                <a:latin typeface="Arial" charset="0"/>
              </a:defRPr>
            </a:lvl1pPr>
          </a:lstStyle>
          <a:p>
            <a:pPr defTabSz="685814" fontAlgn="base">
              <a:spcBef>
                <a:spcPct val="0"/>
              </a:spcBef>
              <a:defRPr/>
            </a:pPr>
            <a:endParaRPr lang="en-GB" dirty="0">
              <a:solidFill>
                <a:srgbClr val="626469"/>
              </a:solidFill>
              <a:cs typeface="Arial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91585" y="6483350"/>
            <a:ext cx="742951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41325" algn="l"/>
              </a:tabLs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14" eaLnBrk="0" fontAlgn="base" hangingPunct="0">
              <a:spcBef>
                <a:spcPct val="0"/>
              </a:spcBef>
              <a:spcAft>
                <a:spcPts val="450"/>
              </a:spcAft>
            </a:pPr>
            <a:fld id="{6A35189C-F1D3-4E9A-B450-A0FE1B263F22}" type="slidenum">
              <a:rPr lang="en-GB" altLang="en-US" sz="911" smtClean="0">
                <a:solidFill>
                  <a:srgbClr val="626469"/>
                </a:solidFill>
                <a:cs typeface="Arial" charset="0"/>
              </a:rPr>
              <a:pPr defTabSz="685814" eaLnBrk="0" fontAlgn="base" hangingPunct="0">
                <a:spcBef>
                  <a:spcPct val="0"/>
                </a:spcBef>
                <a:spcAft>
                  <a:spcPts val="450"/>
                </a:spcAft>
              </a:pPr>
              <a:t>‹#›</a:t>
            </a:fld>
            <a:r>
              <a:rPr lang="en-GB" altLang="en-US" sz="911" dirty="0" smtClean="0">
                <a:solidFill>
                  <a:srgbClr val="626469"/>
                </a:solidFill>
                <a:cs typeface="Arial" charset="0"/>
              </a:rPr>
              <a:t>	</a:t>
            </a:r>
          </a:p>
        </p:txBody>
      </p:sp>
      <p:pic>
        <p:nvPicPr>
          <p:cNvPr id="1032" name="Picture 8" descr="new 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86435" y="6403975"/>
            <a:ext cx="156633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85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ransition>
    <p:wipe dir="r"/>
  </p:transition>
  <p:txStyles>
    <p:titleStyle>
      <a:lvl1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2pPr>
      <a:lvl3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3pPr>
      <a:lvl4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4pPr>
      <a:lvl5pPr algn="l" defTabSz="717962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5pPr>
      <a:lvl6pPr marL="342907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6pPr>
      <a:lvl7pPr marL="685814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7pPr>
      <a:lvl8pPr marL="1028720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8pPr>
      <a:lvl9pPr marL="1371628" algn="l" defTabSz="717962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661" b="1">
          <a:solidFill>
            <a:schemeClr val="tx2"/>
          </a:solidFill>
          <a:latin typeface="Arial" charset="0"/>
        </a:defRPr>
      </a:lvl9pPr>
    </p:titleStyle>
    <p:bodyStyle>
      <a:lvl1pPr marL="214317" indent="-214317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Font typeface="Arial" panose="020B0604020202020204" pitchFamily="34" charset="0"/>
        <a:buChar char="●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07217" indent="-207173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Font typeface="Arial" panose="020B0604020202020204" pitchFamily="34" charset="0"/>
        <a:buChar char="-"/>
        <a:defRPr sz="1500">
          <a:solidFill>
            <a:schemeClr val="tx1"/>
          </a:solidFill>
          <a:latin typeface="+mn-lt"/>
        </a:defRPr>
      </a:lvl2pPr>
      <a:lvl3pPr marL="858458" indent="-215508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3pPr>
      <a:lvl4pPr marL="1214462" indent="-221461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Font typeface="Arial" panose="020B0604020202020204" pitchFamily="34" charset="0"/>
        <a:buChar char="-"/>
        <a:defRPr sz="1500">
          <a:solidFill>
            <a:schemeClr val="tx1"/>
          </a:solidFill>
          <a:latin typeface="+mn-lt"/>
        </a:defRPr>
      </a:lvl4pPr>
      <a:lvl5pPr marL="1570466" indent="-221461" algn="l" defTabSz="717962" rtl="0" eaLnBrk="0" fontAlgn="base" hangingPunct="0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5pPr>
      <a:lvl6pPr marL="1913373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6pPr>
      <a:lvl7pPr marL="2256280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7pPr>
      <a:lvl8pPr marL="2599187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8pPr>
      <a:lvl9pPr marL="2942093" indent="-221461" algn="l" defTabSz="717962" rtl="0" eaLnBrk="1" fontAlgn="base" hangingPunct="1">
        <a:spcBef>
          <a:spcPct val="0"/>
        </a:spcBef>
        <a:spcAft>
          <a:spcPct val="2500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7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4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0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8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35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1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8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55" algn="l" defTabSz="685814" rtl="0" eaLnBrk="1" latinLnBrk="0" hangingPunct="1">
        <a:defRPr sz="1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Test%20Enviroment%20Plan%20V3_light_version.xlsx#'Syngenta Environment'!A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Test%20Enviroment%20Plan%20V3_light_version.xlsx#'Syngenta Environment'!A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file:///C:\Users\T966104\Documents\repos\docs\syngenta-appmap\Test%20Enviroment%20Plan%20V3_light_version.xls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Test%20Enviroment%20Plan%20V3_light_version.xlsx#'Syngenta Environment'!A9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file:///C:\Users\T966104\Documents\repos\docs\syngenta-appmap\Test%20Enviroment%20Plan%20V3_light_version.xlsx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Test%20Enviroment%20Plan%20V3_light_version.xlsx#'Syngenta Environment'!A2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Test%20Enviroment%20Plan%20V3_light_version.xlsx#'Syngenta Environment'!A8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Test%20Enviroment%20Plan%20V3_light_version.xlsx#'Syngenta Environment'!A18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Test%20Enviroment%20Plan%20V3_light_version.xlsx#'Syngenta Environment'!A10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Test%20Enviroment%20Plan%20V3_light_version.xlsx#'Syngenta Environment'!A4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Test%20Enviroment%20Plan%20V3_light_version.xlsx#'Syngenta Environment'!A7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Test%20Enviroment%20Plan%20V3_light_version.xlsx#'Syngenta Environment'!A1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Test%20Enviroment%20Plan%20V3_light_version.xlsx#'Syngenta Environment'!A16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de-CH" dirty="0" smtClean="0"/>
              <a:t>Date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914402" y="4138459"/>
            <a:ext cx="9596967" cy="422275"/>
          </a:xfrm>
        </p:spPr>
        <p:txBody>
          <a:bodyPr/>
          <a:lstStyle/>
          <a:p>
            <a:r>
              <a:rPr lang="de-CH" dirty="0" smtClean="0"/>
              <a:t>Satellite Integration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5763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7337" y="-150676"/>
            <a:ext cx="11271251" cy="812800"/>
          </a:xfrm>
        </p:spPr>
        <p:txBody>
          <a:bodyPr/>
          <a:lstStyle/>
          <a:p>
            <a:r>
              <a:rPr lang="en-US" dirty="0"/>
              <a:t>Satellite Status report – Week </a:t>
            </a:r>
            <a:r>
              <a:rPr lang="en-US"/>
              <a:t>of </a:t>
            </a:r>
            <a:r>
              <a:rPr lang="en-US" dirty="0"/>
              <a:t>2016-11-10</a:t>
            </a:r>
            <a:r>
              <a:rPr lang="en-US"/>
              <a:t/>
            </a:r>
            <a:br>
              <a:rPr lang="en-US"/>
            </a:br>
            <a:r>
              <a:rPr lang="en-US" sz="1200" smtClean="0">
                <a:solidFill>
                  <a:schemeClr val="accent1"/>
                </a:solidFill>
              </a:rPr>
              <a:t>Reason </a:t>
            </a:r>
            <a:r>
              <a:rPr lang="en-US" sz="1200" dirty="0">
                <a:solidFill>
                  <a:schemeClr val="accent1"/>
                </a:solidFill>
              </a:rPr>
              <a:t>for status: </a:t>
            </a:r>
            <a:r>
              <a:rPr lang="en-US" sz="1100" dirty="0">
                <a:solidFill>
                  <a:schemeClr val="accent1"/>
                </a:solidFill>
              </a:rPr>
              <a:t>Major satellites on track, Issues being solved in Unit Test</a:t>
            </a:r>
            <a:endParaRPr lang="en-US" sz="1600" dirty="0">
              <a:solidFill>
                <a:schemeClr val="accent1"/>
              </a:solidFill>
            </a:endParaRPr>
          </a:p>
        </p:txBody>
      </p:sp>
      <p:grpSp>
        <p:nvGrpSpPr>
          <p:cNvPr id="20" name="Group 19"/>
          <p:cNvGrpSpPr/>
          <p:nvPr>
            <p:custDataLst>
              <p:tags r:id="rId2"/>
            </p:custDataLst>
          </p:nvPr>
        </p:nvGrpSpPr>
        <p:grpSpPr>
          <a:xfrm>
            <a:off x="10892441" y="23343"/>
            <a:ext cx="1058108" cy="441736"/>
            <a:chOff x="7740352" y="332656"/>
            <a:chExt cx="1058108" cy="441736"/>
          </a:xfrm>
        </p:grpSpPr>
        <p:sp>
          <p:nvSpPr>
            <p:cNvPr id="12" name="Rectangle 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 rot="5400000">
              <a:off x="8048538" y="24470"/>
              <a:ext cx="441736" cy="105810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13" name="Oval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 rot="5400000">
              <a:off x="7788484" y="419308"/>
              <a:ext cx="275658" cy="275657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5400000">
              <a:off x="8472806" y="419308"/>
              <a:ext cx="275658" cy="275657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square" lIns="72000" tIns="72000" rIns="72000" bIns="7200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15" name="Oval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 rot="5400000">
              <a:off x="8123012" y="414354"/>
              <a:ext cx="275658" cy="275657"/>
            </a:xfrm>
            <a:prstGeom prst="ellipse">
              <a:avLst/>
            </a:prstGeom>
            <a:solidFill>
              <a:srgbClr val="FFC000"/>
            </a:solidFill>
            <a:ln w="2857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93031" y="6195700"/>
            <a:ext cx="3132348" cy="51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050" dirty="0">
                <a:latin typeface="+mj-lt"/>
                <a:cs typeface="Arial" pitchFamily="34" charset="0"/>
                <a:sym typeface="Wingdings 2" panose="05020102010507070707" pitchFamily="18" charset="2"/>
              </a:rPr>
              <a:t>Rating:</a:t>
            </a:r>
          </a:p>
          <a:p>
            <a:pPr>
              <a:lnSpc>
                <a:spcPts val="1000"/>
              </a:lnSpc>
            </a:pPr>
            <a:r>
              <a:rPr lang="en-US" sz="800" dirty="0">
                <a:solidFill>
                  <a:srgbClr val="16A43F"/>
                </a:solidFill>
                <a:cs typeface="Arial" pitchFamily="34" charset="0"/>
                <a:sym typeface="Wingdings 2" panose="05020102010507070707" pitchFamily="18" charset="2"/>
              </a:rPr>
              <a:t></a:t>
            </a:r>
            <a:r>
              <a:rPr lang="en-US" sz="800" dirty="0">
                <a:cs typeface="Arial" pitchFamily="34" charset="0"/>
                <a:sym typeface="Wingdings 2" panose="05020102010507070707" pitchFamily="18" charset="2"/>
              </a:rPr>
              <a:t> Fully on track, no intervention needed</a:t>
            </a:r>
          </a:p>
          <a:p>
            <a:pPr>
              <a:lnSpc>
                <a:spcPts val="1000"/>
              </a:lnSpc>
            </a:pPr>
            <a:r>
              <a:rPr lang="en-US" sz="800" dirty="0">
                <a:solidFill>
                  <a:srgbClr val="FDB508"/>
                </a:solidFill>
                <a:cs typeface="Arial" pitchFamily="34" charset="0"/>
                <a:sym typeface="Wingdings 2" panose="05020102010507070707" pitchFamily="18" charset="2"/>
              </a:rPr>
              <a:t></a:t>
            </a:r>
            <a:r>
              <a:rPr lang="en-US" sz="800" dirty="0">
                <a:solidFill>
                  <a:srgbClr val="FFC000"/>
                </a:solidFill>
                <a:cs typeface="Arial" pitchFamily="34" charset="0"/>
                <a:sym typeface="Wingdings 2" panose="05020102010507070707" pitchFamily="18" charset="2"/>
              </a:rPr>
              <a:t> </a:t>
            </a:r>
            <a:r>
              <a:rPr lang="en-GB" sz="800" dirty="0"/>
              <a:t>Off-track, but a credible plan is in-place to get back on-track</a:t>
            </a:r>
            <a:endParaRPr lang="en-US" sz="800" dirty="0">
              <a:cs typeface="Arial" pitchFamily="34" charset="0"/>
              <a:sym typeface="Wingdings 2" panose="05020102010507070707" pitchFamily="18" charset="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31671" y="6366190"/>
            <a:ext cx="3998278" cy="33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800" dirty="0">
                <a:solidFill>
                  <a:srgbClr val="FF0000"/>
                </a:solidFill>
                <a:cs typeface="Arial" pitchFamily="34" charset="0"/>
                <a:sym typeface="Wingdings 2" panose="05020102010507070707" pitchFamily="18" charset="2"/>
              </a:rPr>
              <a:t> </a:t>
            </a:r>
            <a:r>
              <a:rPr lang="en-GB" sz="800" dirty="0"/>
              <a:t>Off-track and no credible plan in-place to get back on-track. Intervention required.</a:t>
            </a:r>
          </a:p>
          <a:p>
            <a:pPr>
              <a:lnSpc>
                <a:spcPts val="900"/>
              </a:lnSpc>
            </a:pPr>
            <a:r>
              <a:rPr lang="en-US" sz="800" dirty="0">
                <a:solidFill>
                  <a:srgbClr val="0070C0"/>
                </a:solidFill>
                <a:cs typeface="Arial" pitchFamily="34" charset="0"/>
                <a:sym typeface="Wingdings 2" panose="05020102010507070707" pitchFamily="18" charset="2"/>
              </a:rPr>
              <a:t></a:t>
            </a:r>
            <a:r>
              <a:rPr lang="en-US" sz="800" dirty="0">
                <a:solidFill>
                  <a:srgbClr val="FF0000"/>
                </a:solidFill>
                <a:cs typeface="Arial" pitchFamily="34" charset="0"/>
                <a:sym typeface="Wingdings 2" panose="05020102010507070707" pitchFamily="18" charset="2"/>
              </a:rPr>
              <a:t> </a:t>
            </a:r>
            <a:r>
              <a:rPr lang="en-GB" sz="800" dirty="0"/>
              <a:t>Completed.</a:t>
            </a:r>
          </a:p>
        </p:txBody>
      </p:sp>
      <p:grpSp>
        <p:nvGrpSpPr>
          <p:cNvPr id="16" name="Group 15"/>
          <p:cNvGrpSpPr/>
          <p:nvPr>
            <p:custDataLst>
              <p:tags r:id="rId3"/>
            </p:custDataLst>
          </p:nvPr>
        </p:nvGrpSpPr>
        <p:grpSpPr>
          <a:xfrm>
            <a:off x="218754" y="474844"/>
            <a:ext cx="5383555" cy="2290972"/>
            <a:chOff x="179512" y="1057014"/>
            <a:chExt cx="4320480" cy="3016888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79512" y="1406360"/>
              <a:ext cx="4320480" cy="2667542"/>
            </a:xfrm>
            <a:prstGeom prst="rect">
              <a:avLst/>
            </a:prstGeom>
            <a:solidFill>
              <a:srgbClr val="F1F2E7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/>
                <a:t>Logistic Delivery Satellites – Unit Test (end-to-end) in progress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err="1" smtClean="0"/>
                <a:t>Dynasys</a:t>
              </a:r>
              <a:r>
                <a:rPr lang="en-GB" sz="1000" dirty="0" smtClean="0"/>
                <a:t> UT closed</a:t>
              </a:r>
              <a:endParaRPr lang="en-GB" sz="1000" dirty="0"/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/>
                <a:t>TMs </a:t>
              </a:r>
              <a:r>
                <a:rPr lang="en-GB" sz="1000" dirty="0" err="1"/>
                <a:t>Kewilll</a:t>
              </a:r>
              <a:r>
                <a:rPr lang="en-GB" sz="1000" dirty="0"/>
                <a:t> </a:t>
              </a:r>
              <a:r>
                <a:rPr lang="en-GB" sz="1000" dirty="0" smtClean="0"/>
                <a:t>UT closed</a:t>
              </a:r>
              <a:endParaRPr lang="en-GB" sz="1000" dirty="0"/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endParaRPr lang="en-GB" sz="1000" dirty="0" smtClean="0"/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179512" y="1057014"/>
              <a:ext cx="4320480" cy="360040"/>
            </a:xfrm>
            <a:prstGeom prst="rect">
              <a:avLst/>
            </a:prstGeom>
            <a:solidFill>
              <a:srgbClr val="5F7800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>
                <a:spcAft>
                  <a:spcPts val="600"/>
                </a:spcAft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cs typeface="Arial" pitchFamily="34" charset="0"/>
                </a:rPr>
                <a:t>Activities completed</a:t>
              </a:r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64988269"/>
              </p:ext>
            </p:extLst>
          </p:nvPr>
        </p:nvGraphicFramePr>
        <p:xfrm>
          <a:off x="218754" y="5416086"/>
          <a:ext cx="11578292" cy="66780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44917"/>
                <a:gridCol w="1746987"/>
                <a:gridCol w="2411848"/>
                <a:gridCol w="2074540"/>
              </a:tblGrid>
              <a:tr h="278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Intervention or decision required</a:t>
                      </a: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  <a:cs typeface="Calibri" panose="020F0502020204030204" pitchFamily="34" charset="0"/>
                        </a:rPr>
                        <a:t>Raised by Interface</a:t>
                      </a:r>
                      <a:endParaRPr lang="en-US" sz="1000" dirty="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+mj-lt"/>
                          <a:cs typeface="Calibri" panose="020F0502020204030204" pitchFamily="34" charset="0"/>
                        </a:rPr>
                        <a:t>Responsible</a:t>
                      </a:r>
                      <a:endParaRPr lang="en-US" sz="1000" dirty="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000" dirty="0" smtClean="0">
                          <a:latin typeface="+mj-lt"/>
                          <a:cs typeface="Calibri" panose="020F0502020204030204" pitchFamily="34" charset="0"/>
                        </a:rPr>
                        <a:t>Due by</a:t>
                      </a:r>
                      <a:endParaRPr lang="en-US" sz="1000" dirty="0"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</a:tr>
              <a:tr h="194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194647">
                <a:tc>
                  <a:txBody>
                    <a:bodyPr/>
                    <a:lstStyle/>
                    <a:p>
                      <a:pPr marL="0" marR="0" indent="0" algn="l" defTabSz="6858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noProof="0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pSp>
        <p:nvGrpSpPr>
          <p:cNvPr id="23" name="Group 22"/>
          <p:cNvGrpSpPr/>
          <p:nvPr>
            <p:custDataLst>
              <p:tags r:id="rId5"/>
            </p:custDataLst>
          </p:nvPr>
        </p:nvGrpSpPr>
        <p:grpSpPr>
          <a:xfrm>
            <a:off x="6376908" y="445449"/>
            <a:ext cx="5385816" cy="2295144"/>
            <a:chOff x="179512" y="1196752"/>
            <a:chExt cx="4320480" cy="2852161"/>
          </a:xfrm>
        </p:grpSpPr>
        <p:sp>
          <p:nvSpPr>
            <p:cNvPr id="27" name="Rectangle 26"/>
            <p:cNvSpPr/>
            <p:nvPr/>
          </p:nvSpPr>
          <p:spPr bwMode="auto">
            <a:xfrm>
              <a:off x="179512" y="1556792"/>
              <a:ext cx="4320480" cy="2492121"/>
            </a:xfrm>
            <a:prstGeom prst="rect">
              <a:avLst/>
            </a:prstGeom>
            <a:solidFill>
              <a:srgbClr val="F1F2E7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Confirm </a:t>
              </a:r>
              <a:r>
                <a:rPr lang="en-GB" sz="1000" dirty="0" err="1" smtClean="0">
                  <a:latin typeface="+mj-lt"/>
                </a:rPr>
                <a:t>Nutrade</a:t>
              </a:r>
              <a:r>
                <a:rPr lang="en-GB" sz="1000" dirty="0" smtClean="0">
                  <a:latin typeface="+mj-lt"/>
                </a:rPr>
                <a:t> </a:t>
              </a:r>
              <a:r>
                <a:rPr lang="en-GB" sz="1000" dirty="0" err="1" smtClean="0">
                  <a:latin typeface="+mj-lt"/>
                </a:rPr>
                <a:t>WeMap</a:t>
              </a:r>
              <a:r>
                <a:rPr lang="en-GB" sz="1000" dirty="0" smtClean="0">
                  <a:latin typeface="+mj-lt"/>
                </a:rPr>
                <a:t> changes Feedback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Close </a:t>
              </a:r>
              <a:r>
                <a:rPr lang="en-GB" sz="1000" dirty="0" err="1" smtClean="0">
                  <a:latin typeface="+mj-lt"/>
                </a:rPr>
                <a:t>Nutrade</a:t>
              </a:r>
              <a:r>
                <a:rPr lang="en-GB" sz="1000" dirty="0" smtClean="0">
                  <a:latin typeface="+mj-lt"/>
                </a:rPr>
                <a:t> flat file ECC design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Close </a:t>
              </a:r>
              <a:r>
                <a:rPr lang="en-GB" sz="1000" dirty="0" err="1" smtClean="0">
                  <a:latin typeface="+mj-lt"/>
                </a:rPr>
                <a:t>Nutrade</a:t>
              </a:r>
              <a:r>
                <a:rPr lang="en-GB" sz="1000" dirty="0" smtClean="0">
                  <a:latin typeface="+mj-lt"/>
                </a:rPr>
                <a:t> GD design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Finalize GKO fixes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r>
                <a:rPr lang="en-GB" sz="1000" dirty="0" smtClean="0">
                  <a:latin typeface="+mj-lt"/>
                </a:rPr>
                <a:t>Evaluate decommissioning of AILOG</a:t>
              </a:r>
            </a:p>
            <a:p>
              <a:pPr marL="85725" indent="-85725">
                <a:lnSpc>
                  <a:spcPct val="150000"/>
                </a:lnSpc>
                <a:buFont typeface="Arial" pitchFamily="34" charset="0"/>
                <a:buChar char="•"/>
                <a:defRPr/>
              </a:pPr>
              <a:endParaRPr lang="en-GB" sz="1000" dirty="0" smtClean="0">
                <a:latin typeface="+mj-lt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179512" y="1196752"/>
              <a:ext cx="4320480" cy="360040"/>
            </a:xfrm>
            <a:prstGeom prst="rect">
              <a:avLst/>
            </a:prstGeom>
            <a:solidFill>
              <a:schemeClr val="accent6"/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lvl="0" algn="ctr">
                <a:defRPr/>
              </a:pPr>
              <a:r>
                <a:rPr lang="en-US" sz="1000" b="1" dirty="0">
                  <a:solidFill>
                    <a:srgbClr val="FFFFFF"/>
                  </a:solidFill>
                  <a:latin typeface="+mj-lt"/>
                  <a:cs typeface="Arial" pitchFamily="34" charset="0"/>
                </a:rPr>
                <a:t>Activities for coming week</a:t>
              </a:r>
            </a:p>
          </p:txBody>
        </p:sp>
      </p:grpSp>
      <p:sp>
        <p:nvSpPr>
          <p:cNvPr id="31" name="Oval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10949448" y="119760"/>
            <a:ext cx="275658" cy="275657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744354"/>
              </p:ext>
            </p:extLst>
          </p:nvPr>
        </p:nvGraphicFramePr>
        <p:xfrm>
          <a:off x="207331" y="2830566"/>
          <a:ext cx="11555392" cy="247371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84622"/>
                <a:gridCol w="2823590"/>
                <a:gridCol w="2823590"/>
                <a:gridCol w="2823590"/>
              </a:tblGrid>
              <a:tr h="213426">
                <a:tc gridSpan="4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b="1" kern="120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de-CH" sz="1000" b="1" kern="1200" baseline="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 Objects Needed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smtClean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COMM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n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err="1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PnS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b="1" kern="120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FIP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dirty="0" smtClean="0">
                          <a:solidFill>
                            <a:schemeClr val="bg1"/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Nut</a:t>
                      </a:r>
                      <a:endParaRPr lang="en-US" sz="1000" b="1" kern="1200" dirty="0">
                        <a:solidFill>
                          <a:schemeClr val="bg1"/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</a:tr>
              <a:tr h="305689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Customer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Transport master data 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Credit Limit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68581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Transaction data</a:t>
                      </a:r>
                    </a:p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Material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Transaction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Bank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Customer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Pricing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Carrier tracking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Fiscally relevant transactional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Material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n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38554">
                <a:tc>
                  <a:txBody>
                    <a:bodyPr/>
                    <a:lstStyle/>
                    <a:p>
                      <a:pPr marL="0" marR="0" indent="0" algn="ctr" defTabSz="68581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Calibri"/>
                          <a:cs typeface="Calibri" panose="020F0502020204030204" pitchFamily="34" charset="0"/>
                        </a:rPr>
                        <a:t>Transaction data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Freight invoices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FI/CO-postings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j-lt"/>
                          <a:ea typeface="Calibri"/>
                          <a:cs typeface="Calibri" panose="020F0502020204030204" pitchFamily="34" charset="0"/>
                        </a:rPr>
                        <a:t>Production orders</a:t>
                      </a: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13426"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685814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dirty="0">
                        <a:solidFill>
                          <a:schemeClr val="tx1">
                            <a:lumMod val="75000"/>
                          </a:schemeClr>
                        </a:solidFill>
                        <a:latin typeface="+mj-lt"/>
                        <a:ea typeface="Calibri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2772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28794"/>
              </p:ext>
            </p:extLst>
          </p:nvPr>
        </p:nvGraphicFramePr>
        <p:xfrm>
          <a:off x="193182" y="161782"/>
          <a:ext cx="11797048" cy="592796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03043"/>
                <a:gridCol w="1481071"/>
                <a:gridCol w="862884"/>
                <a:gridCol w="2422504"/>
                <a:gridCol w="542902"/>
                <a:gridCol w="591417"/>
                <a:gridCol w="608195"/>
                <a:gridCol w="1578960"/>
                <a:gridCol w="1906072"/>
              </a:tblGrid>
              <a:tr h="43416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Satellites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Data needed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Streams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Solution Readiness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Environment Readiness 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Data Requirements identified 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charset="0"/>
                          <a:cs typeface="Calibri" panose="020F0502020204030204" pitchFamily="34" charset="0"/>
                        </a:rPr>
                        <a:t>Cutover Strategy (RAG)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j-lt"/>
                        <a:ea typeface="Arial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</a:tr>
              <a:tr h="262068">
                <a:tc v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50" b="1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IST</a:t>
                      </a:r>
                      <a:endParaRPr lang="en-US" sz="1050" b="1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F78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50" b="1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UAT</a:t>
                      </a:r>
                      <a:endParaRPr lang="en-US" sz="1050" b="1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F78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CH" sz="1050" b="1" kern="1200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PROD</a:t>
                      </a:r>
                      <a:endParaRPr lang="en-US" sz="1050" b="1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5F780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b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Agroview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(stand alone**)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(stand alone)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PecSyn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YES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(still in design phase)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(MD/TD)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Plussoft SaaS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  <a:r>
                        <a:rPr lang="pt-B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(flat file ready)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SPOT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(flat file - design on going)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(MD/TD)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Teamspace (SIPExc mngt)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(stand alone**)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(stand alone)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Bank Payment Processing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Credito Rural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(flat file ready)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94324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Easy IRPJ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(flat file ready)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7385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(interfaces </a:t>
                      </a:r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ready)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MasterSAF DW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(interfaces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full upload/refresh)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Payroll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Rhadar Cartão de Visitar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 file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Serasa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NO*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59386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Synseg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 file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TPS (Pricing)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(flat file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TP-Tool / BW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GD 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(flat file in design)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 design)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 Substitute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(stand alone**)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(build plan 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Logistico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(decomission)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WebMap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(flat file build in progress)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delta update)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212374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Ailog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(on hold)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Carrier Web Services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NO*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in unit test)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Dynasys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file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ready)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manual maint)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GKO Frete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in unit test)</a:t>
                      </a: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delta upload)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 Source Global Trade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build in progress)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(Unknown)</a:t>
                      </a:r>
                    </a:p>
                  </a:txBody>
                  <a:tcPr marL="0" marR="0" marT="0" marB="0" anchor="b">
                    <a:solidFill>
                      <a:srgbClr val="FF6600"/>
                    </a:solidFill>
                  </a:tcPr>
                </a:tc>
              </a:tr>
              <a:tr h="18606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Painel e-Kanban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(decomission)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  <a:tr h="15148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TMS Kewill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 (MD/TD)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(interface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ready)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(MD/TD)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(MD manual maint)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</a:tr>
              <a:tr h="15148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Toledo scale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NO*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(flat file to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Dynasys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ready)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(TD)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287888" y="6284889"/>
            <a:ext cx="5731098" cy="386367"/>
          </a:xfrm>
          <a:prstGeom prst="rect">
            <a:avLst/>
          </a:prstGeom>
          <a:noFill/>
        </p:spPr>
        <p:txBody>
          <a:bodyPr wrap="none" rtlCol="0"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* No data is sent, just retrieved from Satellite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** Stand alone systems have data being inputed manually</a:t>
            </a:r>
          </a:p>
        </p:txBody>
      </p:sp>
    </p:spTree>
    <p:extLst>
      <p:ext uri="{BB962C8B-B14F-4D97-AF65-F5344CB8AC3E}">
        <p14:creationId xmlns:p14="http://schemas.microsoft.com/office/powerpoint/2010/main" val="6882707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smtClean="0"/>
              <a:t>PnS Satellite Systems Landscapes</a:t>
            </a:r>
            <a:endParaRPr lang="pt-BR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4744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DYNASYS / Toledo Scale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Dynasys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8215463" y="381696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Dynasys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IST / UAT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10835183" y="389252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Dynasys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4" name="Elbow Connector 73"/>
          <p:cNvCxnSpPr>
            <a:stCxn id="7" idx="2"/>
            <a:endCxn id="58" idx="0"/>
          </p:cNvCxnSpPr>
          <p:nvPr/>
        </p:nvCxnSpPr>
        <p:spPr bwMode="auto">
          <a:xfrm rot="5400000">
            <a:off x="10408237" y="3041600"/>
            <a:ext cx="1701848" cy="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0" name="Rectangle 89"/>
          <p:cNvSpPr/>
          <p:nvPr/>
        </p:nvSpPr>
        <p:spPr bwMode="auto">
          <a:xfrm>
            <a:off x="4697423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3" name="Straight Arrow Connector 92"/>
          <p:cNvCxnSpPr>
            <a:stCxn id="71" idx="3"/>
            <a:endCxn id="90" idx="1"/>
          </p:cNvCxnSpPr>
          <p:nvPr/>
        </p:nvCxnSpPr>
        <p:spPr bwMode="auto">
          <a:xfrm flipV="1">
            <a:off x="3456077" y="1905361"/>
            <a:ext cx="1241346" cy="109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16200000" flipH="1">
            <a:off x="4572847" y="2745579"/>
            <a:ext cx="1109982" cy="12879"/>
          </a:xfrm>
          <a:prstGeom prst="bentConnector3">
            <a:avLst>
              <a:gd name="adj1" fmla="val 5911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0338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649700" y="381575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122" name="Elbow Connector 121"/>
          <p:cNvCxnSpPr>
            <a:stCxn id="8" idx="2"/>
            <a:endCxn id="39" idx="1"/>
          </p:cNvCxnSpPr>
          <p:nvPr/>
        </p:nvCxnSpPr>
        <p:spPr bwMode="auto">
          <a:xfrm rot="16200000" flipH="1">
            <a:off x="6946654" y="2839826"/>
            <a:ext cx="1461975" cy="1075643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39" idx="0"/>
          </p:cNvCxnSpPr>
          <p:nvPr/>
        </p:nvCxnSpPr>
        <p:spPr bwMode="auto">
          <a:xfrm rot="16200000" flipH="1">
            <a:off x="8050837" y="3228365"/>
            <a:ext cx="1170307" cy="689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39" idx="3"/>
          </p:cNvCxnSpPr>
          <p:nvPr/>
        </p:nvCxnSpPr>
        <p:spPr bwMode="auto">
          <a:xfrm rot="5400000">
            <a:off x="8519449" y="2734643"/>
            <a:ext cx="1917958" cy="83002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6483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48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33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682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140" name="Rectangle 139"/>
          <p:cNvSpPr/>
          <p:nvPr/>
        </p:nvSpPr>
        <p:spPr bwMode="auto">
          <a:xfrm>
            <a:off x="4710480" y="453125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TOLEDO scale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cxnSp>
        <p:nvCxnSpPr>
          <p:cNvPr id="141" name="Elbow Connector 140"/>
          <p:cNvCxnSpPr>
            <a:stCxn id="140" idx="0"/>
            <a:endCxn id="38" idx="2"/>
          </p:cNvCxnSpPr>
          <p:nvPr/>
        </p:nvCxnSpPr>
        <p:spPr bwMode="auto">
          <a:xfrm rot="16200000" flipV="1">
            <a:off x="4813911" y="4210713"/>
            <a:ext cx="640913" cy="17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45" name="Rectangle 144"/>
          <p:cNvSpPr/>
          <p:nvPr/>
        </p:nvSpPr>
        <p:spPr bwMode="auto">
          <a:xfrm>
            <a:off x="10841537" y="540502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TOLEDO scale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46" name="Elbow Connector 145"/>
          <p:cNvCxnSpPr>
            <a:stCxn id="145" idx="0"/>
            <a:endCxn id="58" idx="2"/>
          </p:cNvCxnSpPr>
          <p:nvPr/>
        </p:nvCxnSpPr>
        <p:spPr bwMode="auto">
          <a:xfrm rot="16200000" flipV="1">
            <a:off x="10797753" y="4937267"/>
            <a:ext cx="929166" cy="635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Elbow Connector 47"/>
          <p:cNvCxnSpPr>
            <a:stCxn id="145" idx="1"/>
            <a:endCxn id="39" idx="2"/>
          </p:cNvCxnSpPr>
          <p:nvPr/>
        </p:nvCxnSpPr>
        <p:spPr bwMode="auto">
          <a:xfrm rot="10800000">
            <a:off x="8639439" y="4400303"/>
            <a:ext cx="2202098" cy="1296392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5199243" y="2445859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72419" y="4481570"/>
            <a:ext cx="7938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 smtClean="0"/>
              <a:t>2008 server</a:t>
            </a:r>
            <a:endParaRPr lang="pt-BR" sz="900" dirty="0"/>
          </a:p>
        </p:txBody>
      </p:sp>
      <p:sp>
        <p:nvSpPr>
          <p:cNvPr id="53" name="Rectangle 52"/>
          <p:cNvSpPr/>
          <p:nvPr/>
        </p:nvSpPr>
        <p:spPr>
          <a:xfrm>
            <a:off x="10461271" y="4544150"/>
            <a:ext cx="7938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 smtClean="0"/>
              <a:t>2008 server</a:t>
            </a:r>
            <a:endParaRPr lang="pt-BR" sz="900" dirty="0"/>
          </a:p>
        </p:txBody>
      </p:sp>
      <p:sp>
        <p:nvSpPr>
          <p:cNvPr id="70" name="Rectangle 69"/>
          <p:cNvSpPr/>
          <p:nvPr/>
        </p:nvSpPr>
        <p:spPr bwMode="auto">
          <a:xfrm>
            <a:off x="400805" y="1604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1" name="Rectangle 70"/>
          <p:cNvSpPr/>
          <p:nvPr/>
        </p:nvSpPr>
        <p:spPr bwMode="auto">
          <a:xfrm>
            <a:off x="2608126" y="161478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2605683" y="268303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3" name="Straight Arrow Connector 72"/>
          <p:cNvCxnSpPr>
            <a:stCxn id="70" idx="3"/>
            <a:endCxn id="71" idx="1"/>
          </p:cNvCxnSpPr>
          <p:nvPr/>
        </p:nvCxnSpPr>
        <p:spPr bwMode="auto">
          <a:xfrm>
            <a:off x="1248756" y="1896504"/>
            <a:ext cx="1359370" cy="994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Straight Arrow Connector 74"/>
          <p:cNvCxnSpPr>
            <a:stCxn id="70" idx="3"/>
            <a:endCxn id="72" idx="1"/>
          </p:cNvCxnSpPr>
          <p:nvPr/>
        </p:nvCxnSpPr>
        <p:spPr bwMode="auto">
          <a:xfrm>
            <a:off x="1248756" y="1896504"/>
            <a:ext cx="1356927" cy="1078195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13" name="Picture 12">
            <a:hlinkClick r:id="rId2" action="ppaction://hlinkfile" tooltip="RFC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171" y="2555336"/>
            <a:ext cx="427958" cy="42795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3471021" y="5317524"/>
            <a:ext cx="5585495" cy="13291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Dynasys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Dynasys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pic>
        <p:nvPicPr>
          <p:cNvPr id="3" name="Picture 2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75" y="3978820"/>
            <a:ext cx="425118" cy="530663"/>
          </a:xfrm>
          <a:prstGeom prst="rect">
            <a:avLst/>
          </a:prstGeom>
        </p:spPr>
      </p:pic>
      <p:pic>
        <p:nvPicPr>
          <p:cNvPr id="59" name="Picture 58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72" y="3073472"/>
            <a:ext cx="425118" cy="530663"/>
          </a:xfrm>
          <a:prstGeom prst="rect">
            <a:avLst/>
          </a:prstGeom>
        </p:spPr>
      </p:pic>
      <p:pic>
        <p:nvPicPr>
          <p:cNvPr id="60" name="Picture 59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393" y="2808140"/>
            <a:ext cx="425118" cy="530663"/>
          </a:xfrm>
          <a:prstGeom prst="rect">
            <a:avLst/>
          </a:prstGeom>
        </p:spPr>
      </p:pic>
      <p:pic>
        <p:nvPicPr>
          <p:cNvPr id="61" name="Picture 60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435" y="4752096"/>
            <a:ext cx="425118" cy="53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07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TMS Kewill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861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2153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2153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2153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608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854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854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3146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854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3146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842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3134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10302" y="4196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TMS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9104105" y="4229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TMS   Sandbox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29" idx="2"/>
            <a:endCxn id="39" idx="0"/>
          </p:cNvCxnSpPr>
          <p:nvPr/>
        </p:nvCxnSpPr>
        <p:spPr bwMode="auto">
          <a:xfrm rot="16200000" flipH="1">
            <a:off x="7822173" y="2523539"/>
            <a:ext cx="791735" cy="26200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39" idx="0"/>
          </p:cNvCxnSpPr>
          <p:nvPr/>
        </p:nvCxnSpPr>
        <p:spPr bwMode="auto">
          <a:xfrm rot="16200000" flipH="1">
            <a:off x="8568534" y="3269900"/>
            <a:ext cx="791735" cy="11273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39" idx="0"/>
          </p:cNvCxnSpPr>
          <p:nvPr/>
        </p:nvCxnSpPr>
        <p:spPr bwMode="auto">
          <a:xfrm rot="5400000">
            <a:off x="9314895" y="3650900"/>
            <a:ext cx="791735" cy="3653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4229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TMS  PROD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35" idx="2"/>
            <a:endCxn id="58" idx="0"/>
          </p:cNvCxnSpPr>
          <p:nvPr/>
        </p:nvCxnSpPr>
        <p:spPr bwMode="auto">
          <a:xfrm rot="5400000">
            <a:off x="10857550" y="3827834"/>
            <a:ext cx="80322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649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643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867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2686104" y="1867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681491" y="319847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867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2159361"/>
            <a:ext cx="1479014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5400000">
            <a:off x="4261787" y="3323519"/>
            <a:ext cx="1744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8556" y="5328891"/>
            <a:ext cx="4898926" cy="12187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PI/PO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TMS PROD to POP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TMS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2150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3142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40628" y="298147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65513" y="355895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39275" y="4846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(5); (6)</a:t>
            </a:r>
          </a:p>
        </p:txBody>
      </p:sp>
      <p:cxnSp>
        <p:nvCxnSpPr>
          <p:cNvPr id="114" name="Elbow Connector 113"/>
          <p:cNvCxnSpPr>
            <a:stCxn id="89" idx="2"/>
          </p:cNvCxnSpPr>
          <p:nvPr/>
        </p:nvCxnSpPr>
        <p:spPr bwMode="auto">
          <a:xfrm rot="16200000" flipH="1">
            <a:off x="1907527" y="2979748"/>
            <a:ext cx="414201" cy="20183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20" name="TextBox 119"/>
          <p:cNvSpPr txBox="1"/>
          <p:nvPr/>
        </p:nvSpPr>
        <p:spPr>
          <a:xfrm>
            <a:off x="995382" y="2567492"/>
            <a:ext cx="1164543" cy="5311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Inbound: WebS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Outbound: IDOC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7551" y="2577303"/>
            <a:ext cx="1164543" cy="5311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Inbound: WebS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Outbound: IDOC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3872" y="2574239"/>
            <a:ext cx="1164543" cy="5311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Inbound: WebS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100" dirty="0" smtClean="0"/>
              <a:t>Outbound: IDOC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501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499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9170" y="360046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endParaRPr lang="pt-BR" sz="1200" dirty="0" smtClean="0"/>
          </a:p>
        </p:txBody>
      </p:sp>
      <p:cxnSp>
        <p:nvCxnSpPr>
          <p:cNvPr id="61" name="Straight Connector 60"/>
          <p:cNvCxnSpPr/>
          <p:nvPr/>
        </p:nvCxnSpPr>
        <p:spPr bwMode="auto">
          <a:xfrm>
            <a:off x="388624" y="3981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62" name="Straight Connector 61"/>
          <p:cNvCxnSpPr/>
          <p:nvPr/>
        </p:nvCxnSpPr>
        <p:spPr bwMode="auto">
          <a:xfrm>
            <a:off x="6417610" y="396743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aphicFrame>
        <p:nvGraphicFramePr>
          <p:cNvPr id="3" name="Object 2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22596"/>
              </p:ext>
            </p:extLst>
          </p:nvPr>
        </p:nvGraphicFramePr>
        <p:xfrm>
          <a:off x="4460124" y="3282157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7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60124" y="3282157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930569"/>
              </p:ext>
            </p:extLst>
          </p:nvPr>
        </p:nvGraphicFramePr>
        <p:xfrm>
          <a:off x="8847636" y="3831209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8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47636" y="3831209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184119"/>
              </p:ext>
            </p:extLst>
          </p:nvPr>
        </p:nvGraphicFramePr>
        <p:xfrm>
          <a:off x="10587252" y="3713218"/>
          <a:ext cx="863125" cy="62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9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87252" y="3713218"/>
                        <a:ext cx="863125" cy="621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6" name="Straight Arrow Connector 65"/>
          <p:cNvCxnSpPr>
            <a:endCxn id="90" idx="1"/>
          </p:cNvCxnSpPr>
          <p:nvPr/>
        </p:nvCxnSpPr>
        <p:spPr bwMode="auto">
          <a:xfrm>
            <a:off x="3534055" y="2150504"/>
            <a:ext cx="1176247" cy="885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Straight Arrow Connector 66"/>
          <p:cNvCxnSpPr>
            <a:endCxn id="89" idx="0"/>
          </p:cNvCxnSpPr>
          <p:nvPr/>
        </p:nvCxnSpPr>
        <p:spPr bwMode="auto">
          <a:xfrm>
            <a:off x="684282" y="2459076"/>
            <a:ext cx="421185" cy="73939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629811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GKO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473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473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2765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473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2765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461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2753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10302" y="3964483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GKO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6818105" y="3594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GKO Sandbox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29" idx="2"/>
            <a:endCxn id="39" idx="0"/>
          </p:cNvCxnSpPr>
          <p:nvPr/>
        </p:nvCxnSpPr>
        <p:spPr bwMode="auto">
          <a:xfrm rot="16200000" flipH="1">
            <a:off x="6806173" y="3158539"/>
            <a:ext cx="537735" cy="33408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39" idx="0"/>
          </p:cNvCxnSpPr>
          <p:nvPr/>
        </p:nvCxnSpPr>
        <p:spPr bwMode="auto">
          <a:xfrm rot="5400000">
            <a:off x="7552534" y="2746260"/>
            <a:ext cx="537735" cy="11586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39" idx="0"/>
          </p:cNvCxnSpPr>
          <p:nvPr/>
        </p:nvCxnSpPr>
        <p:spPr bwMode="auto">
          <a:xfrm rot="5400000">
            <a:off x="8298895" y="1999900"/>
            <a:ext cx="537735" cy="26513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3594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GKO PROD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35" idx="2"/>
            <a:endCxn id="58" idx="0"/>
          </p:cNvCxnSpPr>
          <p:nvPr/>
        </p:nvCxnSpPr>
        <p:spPr bwMode="auto">
          <a:xfrm rot="5400000">
            <a:off x="10984550" y="3319834"/>
            <a:ext cx="54922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268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262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2347133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1329768" y="206045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1140043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1839156" y="5614022"/>
            <a:ext cx="7871606" cy="11117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3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/>
              <a:t>Cut </a:t>
            </a:r>
            <a:r>
              <a:rPr lang="pt-BR" sz="1200" dirty="0" smtClean="0"/>
              <a:t>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Implement Changes in GKO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POP to FEP</a:t>
            </a:r>
            <a:endParaRPr lang="pt-BR" sz="12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/>
              <a:t>Automatically </a:t>
            </a:r>
            <a:r>
              <a:rPr lang="pt-BR" sz="1200" dirty="0" smtClean="0"/>
              <a:t>create MD in GKO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2761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47088" y="2097786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86047" y="443154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 (6); (7)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4144" y="2120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62" name="Rectangle 61"/>
          <p:cNvSpPr/>
          <p:nvPr/>
        </p:nvSpPr>
        <p:spPr bwMode="auto">
          <a:xfrm>
            <a:off x="361867" y="296077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1854588" y="296077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3347309" y="296077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6" name="Straight Arrow Connector 65"/>
          <p:cNvCxnSpPr>
            <a:stCxn id="63" idx="3"/>
            <a:endCxn id="65" idx="1"/>
          </p:cNvCxnSpPr>
          <p:nvPr/>
        </p:nvCxnSpPr>
        <p:spPr bwMode="auto">
          <a:xfrm>
            <a:off x="2702539" y="3252440"/>
            <a:ext cx="644770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7" name="Rectangle 66"/>
          <p:cNvSpPr/>
          <p:nvPr/>
        </p:nvSpPr>
        <p:spPr bwMode="auto">
          <a:xfrm>
            <a:off x="4713030" y="298092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8" name="Straight Arrow Connector 67"/>
          <p:cNvCxnSpPr>
            <a:stCxn id="65" idx="3"/>
            <a:endCxn id="67" idx="1"/>
          </p:cNvCxnSpPr>
          <p:nvPr/>
        </p:nvCxnSpPr>
        <p:spPr bwMode="auto">
          <a:xfrm>
            <a:off x="4195260" y="3252441"/>
            <a:ext cx="517770" cy="20153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5268022" y="317904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cxnSp>
        <p:nvCxnSpPr>
          <p:cNvPr id="72" name="Elbow Connector 71"/>
          <p:cNvCxnSpPr>
            <a:stCxn id="67" idx="2"/>
            <a:endCxn id="38" idx="0"/>
          </p:cNvCxnSpPr>
          <p:nvPr/>
        </p:nvCxnSpPr>
        <p:spPr bwMode="auto">
          <a:xfrm rot="5400000">
            <a:off x="4935531" y="3763008"/>
            <a:ext cx="400222" cy="272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87" idx="2"/>
            <a:endCxn id="62" idx="0"/>
          </p:cNvCxnSpPr>
          <p:nvPr/>
        </p:nvCxnSpPr>
        <p:spPr bwMode="auto">
          <a:xfrm rot="16200000" flipH="1">
            <a:off x="339108" y="2514035"/>
            <a:ext cx="890743" cy="272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88" idx="2"/>
            <a:endCxn id="63" idx="0"/>
          </p:cNvCxnSpPr>
          <p:nvPr/>
        </p:nvCxnSpPr>
        <p:spPr bwMode="auto">
          <a:xfrm rot="5400000">
            <a:off x="2079465" y="2269128"/>
            <a:ext cx="890744" cy="49254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7" name="Elbow Connector 76"/>
          <p:cNvCxnSpPr/>
          <p:nvPr/>
        </p:nvCxnSpPr>
        <p:spPr bwMode="auto">
          <a:xfrm rot="16200000" flipH="1">
            <a:off x="2312358" y="2085181"/>
            <a:ext cx="900314" cy="2017541"/>
          </a:xfrm>
          <a:prstGeom prst="bentConnector3">
            <a:avLst>
              <a:gd name="adj1" fmla="val 137441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0" name="Elbow Connector 79"/>
          <p:cNvCxnSpPr>
            <a:stCxn id="90" idx="2"/>
            <a:endCxn id="67" idx="0"/>
          </p:cNvCxnSpPr>
          <p:nvPr/>
        </p:nvCxnSpPr>
        <p:spPr bwMode="auto">
          <a:xfrm rot="16200000" flipH="1">
            <a:off x="4680193" y="2524113"/>
            <a:ext cx="910898" cy="272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5" name="TextBox 94"/>
          <p:cNvSpPr txBox="1"/>
          <p:nvPr/>
        </p:nvSpPr>
        <p:spPr>
          <a:xfrm>
            <a:off x="274365" y="243805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ABAP Proxy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94851" y="212655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/>
              <a:t>ABAP Proxy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44992" y="212407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/>
              <a:t>ABAP Proxy</a:t>
            </a:r>
          </a:p>
        </p:txBody>
      </p:sp>
      <p:sp>
        <p:nvSpPr>
          <p:cNvPr id="115" name="Cloud Callout 114"/>
          <p:cNvSpPr/>
          <p:nvPr/>
        </p:nvSpPr>
        <p:spPr bwMode="auto">
          <a:xfrm>
            <a:off x="9637068" y="4683369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CARRIERS</a:t>
            </a:r>
          </a:p>
        </p:txBody>
      </p:sp>
      <p:cxnSp>
        <p:nvCxnSpPr>
          <p:cNvPr id="116" name="Elbow Connector 115"/>
          <p:cNvCxnSpPr>
            <a:stCxn id="58" idx="2"/>
            <a:endCxn id="115" idx="3"/>
          </p:cNvCxnSpPr>
          <p:nvPr/>
        </p:nvCxnSpPr>
        <p:spPr bwMode="auto">
          <a:xfrm rot="5400000">
            <a:off x="10527896" y="3997756"/>
            <a:ext cx="551240" cy="91129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11403762" y="423347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FTP</a:t>
            </a:r>
          </a:p>
        </p:txBody>
      </p:sp>
      <p:sp>
        <p:nvSpPr>
          <p:cNvPr id="119" name="Cloud Callout 118"/>
          <p:cNvSpPr/>
          <p:nvPr/>
        </p:nvSpPr>
        <p:spPr bwMode="auto">
          <a:xfrm>
            <a:off x="1526517" y="4707668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SEFAZ</a:t>
            </a:r>
          </a:p>
        </p:txBody>
      </p:sp>
      <p:sp>
        <p:nvSpPr>
          <p:cNvPr id="121" name="Cloud Callout 120"/>
          <p:cNvSpPr/>
          <p:nvPr/>
        </p:nvSpPr>
        <p:spPr bwMode="auto">
          <a:xfrm>
            <a:off x="7696236" y="4732564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SEFAZ</a:t>
            </a:r>
          </a:p>
        </p:txBody>
      </p:sp>
      <p:cxnSp>
        <p:nvCxnSpPr>
          <p:cNvPr id="85" name="Elbow Connector 84"/>
          <p:cNvCxnSpPr>
            <a:stCxn id="38" idx="1"/>
            <a:endCxn id="119" idx="3"/>
          </p:cNvCxnSpPr>
          <p:nvPr/>
        </p:nvCxnSpPr>
        <p:spPr bwMode="auto">
          <a:xfrm rot="10800000" flipV="1">
            <a:off x="2237318" y="4256150"/>
            <a:ext cx="2472984" cy="497171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58" idx="1"/>
            <a:endCxn id="121" idx="3"/>
          </p:cNvCxnSpPr>
          <p:nvPr/>
        </p:nvCxnSpPr>
        <p:spPr bwMode="auto">
          <a:xfrm rot="10800000" flipV="1">
            <a:off x="8407037" y="3886116"/>
            <a:ext cx="2428150" cy="892102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4" name="Straight Connector 113"/>
          <p:cNvCxnSpPr/>
          <p:nvPr/>
        </p:nvCxnSpPr>
        <p:spPr bwMode="auto">
          <a:xfrm>
            <a:off x="6395678" y="4616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20" name="Straight Connector 119"/>
          <p:cNvCxnSpPr/>
          <p:nvPr/>
        </p:nvCxnSpPr>
        <p:spPr bwMode="auto">
          <a:xfrm>
            <a:off x="261624" y="4616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aphicFrame>
        <p:nvGraphicFramePr>
          <p:cNvPr id="76" name="Object 75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936113"/>
              </p:ext>
            </p:extLst>
          </p:nvPr>
        </p:nvGraphicFramePr>
        <p:xfrm>
          <a:off x="1526517" y="3964483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6517" y="3964483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hlinkClick r:id="rId3" action="ppaction://hlinkfile" tooltip="Web service integration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949361"/>
              </p:ext>
            </p:extLst>
          </p:nvPr>
        </p:nvGraphicFramePr>
        <p:xfrm>
          <a:off x="8268401" y="4094948"/>
          <a:ext cx="863125" cy="72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" name="Worksheet" showAsIcon="1" r:id="rId4" imgW="914400" imgH="771480" progId="Excel.Sheet.12">
                  <p:link updateAutomatic="1"/>
                </p:oleObj>
              </mc:Choice>
              <mc:Fallback>
                <p:oleObj name="Worksheet" showAsIcon="1" r:id="rId4" imgW="914400" imgH="77148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68401" y="4094948"/>
                        <a:ext cx="863125" cy="72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hlinkClick r:id="rId3" action="ppaction://hlinkfile" tooltip="JDBC direct connection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17" y="3553406"/>
            <a:ext cx="451672" cy="451672"/>
          </a:xfrm>
          <a:prstGeom prst="rect">
            <a:avLst/>
          </a:prstGeom>
        </p:spPr>
      </p:pic>
      <p:pic>
        <p:nvPicPr>
          <p:cNvPr id="78" name="Picture 77">
            <a:hlinkClick r:id="rId3" action="ppaction://hlinkfile" tooltip="JDBC direct connection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832" y="3101734"/>
            <a:ext cx="451672" cy="451672"/>
          </a:xfrm>
          <a:prstGeom prst="rect">
            <a:avLst/>
          </a:prstGeom>
        </p:spPr>
      </p:pic>
      <p:pic>
        <p:nvPicPr>
          <p:cNvPr id="84" name="Picture 83">
            <a:hlinkClick r:id="rId3" action="ppaction://hlinkfile" tooltip="JDBC direct connection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553" y="3412182"/>
            <a:ext cx="451672" cy="451672"/>
          </a:xfrm>
          <a:prstGeom prst="rect">
            <a:avLst/>
          </a:prstGeom>
        </p:spPr>
      </p:pic>
      <p:cxnSp>
        <p:nvCxnSpPr>
          <p:cNvPr id="86" name="Straight Arrow Connector 85"/>
          <p:cNvCxnSpPr>
            <a:endCxn id="90" idx="1"/>
          </p:cNvCxnSpPr>
          <p:nvPr/>
        </p:nvCxnSpPr>
        <p:spPr bwMode="auto">
          <a:xfrm>
            <a:off x="3191257" y="1778360"/>
            <a:ext cx="151904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0" name="Straight Arrow Connector 99"/>
          <p:cNvCxnSpPr>
            <a:endCxn id="89" idx="0"/>
          </p:cNvCxnSpPr>
          <p:nvPr/>
        </p:nvCxnSpPr>
        <p:spPr bwMode="auto">
          <a:xfrm>
            <a:off x="1216898" y="1760646"/>
            <a:ext cx="536846" cy="29981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62" idx="3"/>
            <a:endCxn id="63" idx="1"/>
          </p:cNvCxnSpPr>
          <p:nvPr/>
        </p:nvCxnSpPr>
        <p:spPr bwMode="auto">
          <a:xfrm>
            <a:off x="1209818" y="3252439"/>
            <a:ext cx="644770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188993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OneSource Global Trade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734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2026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2026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481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727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727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3019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727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3019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715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3007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Rectangle 38"/>
          <p:cNvSpPr/>
          <p:nvPr/>
        </p:nvSpPr>
        <p:spPr bwMode="auto">
          <a:xfrm>
            <a:off x="6484023" y="4102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29" idx="2"/>
            <a:endCxn id="39" idx="0"/>
          </p:cNvCxnSpPr>
          <p:nvPr/>
        </p:nvCxnSpPr>
        <p:spPr bwMode="auto">
          <a:xfrm rot="5400000">
            <a:off x="6512133" y="3706580"/>
            <a:ext cx="791735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61" idx="0"/>
          </p:cNvCxnSpPr>
          <p:nvPr/>
        </p:nvCxnSpPr>
        <p:spPr bwMode="auto">
          <a:xfrm rot="16200000" flipH="1">
            <a:off x="8007758" y="3703676"/>
            <a:ext cx="789823" cy="389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62" idx="0"/>
          </p:cNvCxnSpPr>
          <p:nvPr/>
        </p:nvCxnSpPr>
        <p:spPr bwMode="auto">
          <a:xfrm rot="16200000" flipH="1">
            <a:off x="9500416" y="3703739"/>
            <a:ext cx="789822" cy="377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410301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Prod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35" idx="2"/>
            <a:endCxn id="58" idx="0"/>
          </p:cNvCxnSpPr>
          <p:nvPr/>
        </p:nvCxnSpPr>
        <p:spPr bwMode="auto">
          <a:xfrm rot="5400000">
            <a:off x="10857268" y="3701116"/>
            <a:ext cx="803791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522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516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9628" y="5179722"/>
            <a:ext cx="5125017" cy="14424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OSGT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Connect OSGT to </a:t>
            </a:r>
            <a:r>
              <a:rPr lang="pt-BR" sz="1200" dirty="0" smtClean="0"/>
              <a:t>POP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Automatically create MD in OSGT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Configuration tables for OSGT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2023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3015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65513" y="343195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39275" y="4719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 (5); (7)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374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372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4231" y="342138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7743" y="345869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7980641" y="410053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IST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9473236" y="410053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OSGT UAT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425595" y="3420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3599" y="3420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cxnSp>
        <p:nvCxnSpPr>
          <p:cNvPr id="65" name="Straight Arrow Connector 64"/>
          <p:cNvCxnSpPr>
            <a:stCxn id="39" idx="3"/>
            <a:endCxn id="61" idx="1"/>
          </p:cNvCxnSpPr>
          <p:nvPr/>
        </p:nvCxnSpPr>
        <p:spPr bwMode="auto">
          <a:xfrm flipV="1">
            <a:off x="7331974" y="4392204"/>
            <a:ext cx="648667" cy="191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Straight Arrow Connector 66"/>
          <p:cNvCxnSpPr>
            <a:stCxn id="61" idx="3"/>
            <a:endCxn id="62" idx="1"/>
          </p:cNvCxnSpPr>
          <p:nvPr/>
        </p:nvCxnSpPr>
        <p:spPr bwMode="auto">
          <a:xfrm flipV="1">
            <a:off x="8828592" y="4392203"/>
            <a:ext cx="64464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/>
          <p:cNvCxnSpPr>
            <a:stCxn id="62" idx="3"/>
            <a:endCxn id="58" idx="1"/>
          </p:cNvCxnSpPr>
          <p:nvPr/>
        </p:nvCxnSpPr>
        <p:spPr bwMode="auto">
          <a:xfrm>
            <a:off x="10321187" y="4392203"/>
            <a:ext cx="514000" cy="247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1361364" y="227837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(6)</a:t>
            </a:r>
          </a:p>
        </p:txBody>
      </p:sp>
      <p:cxnSp>
        <p:nvCxnSpPr>
          <p:cNvPr id="48" name="Straight Connector 47"/>
          <p:cNvCxnSpPr/>
          <p:nvPr/>
        </p:nvCxnSpPr>
        <p:spPr bwMode="auto">
          <a:xfrm>
            <a:off x="6395678" y="3727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7329805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Carrier WebServices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588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2880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5" name="Elbow Connector 44"/>
          <p:cNvCxnSpPr>
            <a:stCxn id="29" idx="2"/>
            <a:endCxn id="66" idx="3"/>
          </p:cNvCxnSpPr>
          <p:nvPr/>
        </p:nvCxnSpPr>
        <p:spPr bwMode="auto">
          <a:xfrm rot="16200000" flipH="1">
            <a:off x="7803753" y="2287960"/>
            <a:ext cx="927981" cy="271948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66" idx="3"/>
          </p:cNvCxnSpPr>
          <p:nvPr/>
        </p:nvCxnSpPr>
        <p:spPr bwMode="auto">
          <a:xfrm rot="16200000" flipH="1">
            <a:off x="8550113" y="3034320"/>
            <a:ext cx="927981" cy="12267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66" idx="3"/>
          </p:cNvCxnSpPr>
          <p:nvPr/>
        </p:nvCxnSpPr>
        <p:spPr bwMode="auto">
          <a:xfrm rot="5400000">
            <a:off x="9296474" y="3514725"/>
            <a:ext cx="927981" cy="265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9" name="Elbow Connector 58"/>
          <p:cNvCxnSpPr>
            <a:stCxn id="35" idx="2"/>
            <a:endCxn id="66" idx="3"/>
          </p:cNvCxnSpPr>
          <p:nvPr/>
        </p:nvCxnSpPr>
        <p:spPr bwMode="auto">
          <a:xfrm rot="5400000">
            <a:off x="9973589" y="2826119"/>
            <a:ext cx="939473" cy="163167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395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389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8964" y="5332948"/>
            <a:ext cx="4790642" cy="12104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Decommision Carrier WS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Map Carrier http and FTP links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2888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57037" y="3841229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12689" y="464246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(6)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247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245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66" name="Cloud Callout 65"/>
          <p:cNvSpPr/>
          <p:nvPr/>
        </p:nvSpPr>
        <p:spPr bwMode="auto">
          <a:xfrm>
            <a:off x="8916685" y="4066040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CARRIERS</a:t>
            </a:r>
          </a:p>
        </p:txBody>
      </p:sp>
      <p:cxnSp>
        <p:nvCxnSpPr>
          <p:cNvPr id="65" name="Straight Connector 64"/>
          <p:cNvCxnSpPr/>
          <p:nvPr/>
        </p:nvCxnSpPr>
        <p:spPr bwMode="auto">
          <a:xfrm>
            <a:off x="426678" y="3981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6512916" y="396743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68" name="Rectangle 67"/>
          <p:cNvSpPr/>
          <p:nvPr/>
        </p:nvSpPr>
        <p:spPr bwMode="auto">
          <a:xfrm>
            <a:off x="4710302" y="2926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tx1"/>
                </a:solidFill>
                <a:latin typeface="Arial" charset="0"/>
              </a:rPr>
              <a:t>Carrier 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WS   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0" name="Rectangle 69"/>
          <p:cNvSpPr/>
          <p:nvPr/>
        </p:nvSpPr>
        <p:spPr bwMode="auto">
          <a:xfrm>
            <a:off x="2592544" y="161722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2579675" y="286023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5" name="Straight Arrow Connector 74"/>
          <p:cNvCxnSpPr>
            <a:stCxn id="69" idx="3"/>
            <a:endCxn id="70" idx="1"/>
          </p:cNvCxnSpPr>
          <p:nvPr/>
        </p:nvCxnSpPr>
        <p:spPr bwMode="auto">
          <a:xfrm>
            <a:off x="1207090" y="1905361"/>
            <a:ext cx="1385454" cy="353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69" idx="3"/>
            <a:endCxn id="72" idx="1"/>
          </p:cNvCxnSpPr>
          <p:nvPr/>
        </p:nvCxnSpPr>
        <p:spPr bwMode="auto">
          <a:xfrm>
            <a:off x="1207090" y="1905361"/>
            <a:ext cx="1372585" cy="124653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/>
          <p:cNvCxnSpPr>
            <a:stCxn id="70" idx="3"/>
            <a:endCxn id="73" idx="1"/>
          </p:cNvCxnSpPr>
          <p:nvPr/>
        </p:nvCxnSpPr>
        <p:spPr bwMode="auto">
          <a:xfrm flipV="1">
            <a:off x="3440495" y="1905361"/>
            <a:ext cx="1269807" cy="353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Elbow Connector 77"/>
          <p:cNvCxnSpPr>
            <a:stCxn id="73" idx="2"/>
            <a:endCxn id="68" idx="0"/>
          </p:cNvCxnSpPr>
          <p:nvPr/>
        </p:nvCxnSpPr>
        <p:spPr bwMode="auto">
          <a:xfrm rot="5400000">
            <a:off x="4769787" y="2561519"/>
            <a:ext cx="728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5193330" y="249358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80" name="Cloud Callout 79"/>
          <p:cNvSpPr/>
          <p:nvPr/>
        </p:nvSpPr>
        <p:spPr bwMode="auto">
          <a:xfrm>
            <a:off x="4417127" y="4378832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CARRIERS</a:t>
            </a:r>
          </a:p>
        </p:txBody>
      </p:sp>
      <p:cxnSp>
        <p:nvCxnSpPr>
          <p:cNvPr id="82" name="Elbow Connector 81"/>
          <p:cNvCxnSpPr>
            <a:stCxn id="68" idx="2"/>
            <a:endCxn id="80" idx="3"/>
          </p:cNvCxnSpPr>
          <p:nvPr/>
        </p:nvCxnSpPr>
        <p:spPr bwMode="auto">
          <a:xfrm rot="5400000">
            <a:off x="4673533" y="3963740"/>
            <a:ext cx="915141" cy="635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5205090" y="3635829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06663" y="2203500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45" y="3941989"/>
            <a:ext cx="435394" cy="435394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741" y="3630645"/>
            <a:ext cx="435394" cy="4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0185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Status of Data Migration Strategy for PnS Satellite Systems (MASTER DATA)</a:t>
            </a:r>
            <a:endParaRPr lang="pt-BR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14" y="1010207"/>
            <a:ext cx="11597255" cy="414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0130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Status of Data Migration Strategy for PnS Satellite Systems (TRANSACTIONAL DATA)</a:t>
            </a:r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49" y="686584"/>
            <a:ext cx="10717185" cy="549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535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smtClean="0"/>
              <a:t>FiP Satellite Systems Landscapes</a:t>
            </a:r>
            <a:endParaRPr lang="pt-BR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9458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71389" y="704008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HR (GPS)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4710302" y="3434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310471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1617365" y="259467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1897629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5400000">
            <a:off x="4452287" y="2752019"/>
            <a:ext cx="1363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80543" y="5512004"/>
            <a:ext cx="4893197" cy="11583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ECC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HR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GPS to FEP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34548" y="25064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3344580" y="342904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359139" y="342904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40628" y="265646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cxnSp>
        <p:nvCxnSpPr>
          <p:cNvPr id="53" name="Elbow Connector 52"/>
          <p:cNvCxnSpPr>
            <a:stCxn id="89" idx="2"/>
            <a:endCxn id="42" idx="0"/>
          </p:cNvCxnSpPr>
          <p:nvPr/>
        </p:nvCxnSpPr>
        <p:spPr bwMode="auto">
          <a:xfrm rot="16200000" flipH="1">
            <a:off x="2779430" y="2439916"/>
            <a:ext cx="251036" cy="172721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7" name="Elbow Connector 56"/>
          <p:cNvCxnSpPr>
            <a:stCxn id="87" idx="2"/>
            <a:endCxn id="43" idx="0"/>
          </p:cNvCxnSpPr>
          <p:nvPr/>
        </p:nvCxnSpPr>
        <p:spPr bwMode="auto">
          <a:xfrm rot="5400000">
            <a:off x="103608" y="2749535"/>
            <a:ext cx="135901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43" idx="3"/>
            <a:endCxn id="42" idx="1"/>
          </p:cNvCxnSpPr>
          <p:nvPr/>
        </p:nvCxnSpPr>
        <p:spPr bwMode="auto">
          <a:xfrm>
            <a:off x="1207090" y="3720710"/>
            <a:ext cx="213749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Straight Arrow Connector 66"/>
          <p:cNvCxnSpPr>
            <a:stCxn id="42" idx="3"/>
            <a:endCxn id="38" idx="1"/>
          </p:cNvCxnSpPr>
          <p:nvPr/>
        </p:nvCxnSpPr>
        <p:spPr bwMode="auto">
          <a:xfrm>
            <a:off x="4192531" y="3720710"/>
            <a:ext cx="517771" cy="496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3257464" y="250394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0221" y="2543620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8" name="Straight Arrow Connector 57"/>
          <p:cNvCxnSpPr>
            <a:stCxn id="51" idx="3"/>
            <a:endCxn id="54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9" name="Straight Arrow Connector 58"/>
          <p:cNvCxnSpPr>
            <a:stCxn id="54" idx="3"/>
            <a:endCxn id="55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0" name="Straight Arrow Connector 59"/>
          <p:cNvCxnSpPr>
            <a:stCxn id="55" idx="3"/>
            <a:endCxn id="56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" name="Rectangle 3"/>
          <p:cNvSpPr/>
          <p:nvPr/>
        </p:nvSpPr>
        <p:spPr bwMode="auto">
          <a:xfrm>
            <a:off x="6485037" y="153906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92720" y="15369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51740" y="153690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5369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317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 flipV="1">
            <a:off x="7332988" y="1828573"/>
            <a:ext cx="659732" cy="2163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 flipV="1">
            <a:off x="8840671" y="1828572"/>
            <a:ext cx="611069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 flipV="1">
            <a:off x="10299691" y="1828571"/>
            <a:ext cx="535496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608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44" idx="0"/>
          </p:cNvCxnSpPr>
          <p:nvPr/>
        </p:nvCxnSpPr>
        <p:spPr bwMode="auto">
          <a:xfrm rot="16200000" flipH="1">
            <a:off x="10604044" y="2775356"/>
            <a:ext cx="1326310" cy="1607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0338287" y="2150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20275" y="4084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(4);(</a:t>
            </a:r>
            <a:r>
              <a:rPr lang="pt-BR" sz="1400" dirty="0">
                <a:solidFill>
                  <a:srgbClr val="FF0000"/>
                </a:solidFill>
              </a:rPr>
              <a:t>5</a:t>
            </a:r>
            <a:r>
              <a:rPr lang="pt-BR" sz="1400" dirty="0" smtClean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22" name="Elbow Connector 121"/>
          <p:cNvCxnSpPr>
            <a:stCxn id="8" idx="2"/>
            <a:endCxn id="46" idx="0"/>
          </p:cNvCxnSpPr>
          <p:nvPr/>
        </p:nvCxnSpPr>
        <p:spPr bwMode="auto">
          <a:xfrm rot="5400000">
            <a:off x="6729500" y="3029575"/>
            <a:ext cx="539234" cy="28140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45" idx="0"/>
          </p:cNvCxnSpPr>
          <p:nvPr/>
        </p:nvCxnSpPr>
        <p:spPr bwMode="auto">
          <a:xfrm rot="16200000" flipH="1">
            <a:off x="8990067" y="2543134"/>
            <a:ext cx="544201" cy="125925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45" idx="0"/>
          </p:cNvCxnSpPr>
          <p:nvPr/>
        </p:nvCxnSpPr>
        <p:spPr bwMode="auto">
          <a:xfrm rot="16200000" flipH="1">
            <a:off x="9221444" y="2774511"/>
            <a:ext cx="1324623" cy="1607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6356725" y="2973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48239" y="2973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33491" y="2491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682393" y="2500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10851260" y="34465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467818" y="344486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6434437" y="343989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0" name="Straight Arrow Connector 69"/>
          <p:cNvCxnSpPr>
            <a:stCxn id="46" idx="3"/>
            <a:endCxn id="45" idx="1"/>
          </p:cNvCxnSpPr>
          <p:nvPr/>
        </p:nvCxnSpPr>
        <p:spPr bwMode="auto">
          <a:xfrm>
            <a:off x="7282388" y="3731563"/>
            <a:ext cx="2185430" cy="496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/>
          <p:cNvCxnSpPr>
            <a:stCxn id="45" idx="3"/>
            <a:endCxn id="44" idx="1"/>
          </p:cNvCxnSpPr>
          <p:nvPr/>
        </p:nvCxnSpPr>
        <p:spPr bwMode="auto">
          <a:xfrm>
            <a:off x="10315769" y="3736530"/>
            <a:ext cx="535491" cy="1686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10350092" y="32990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cxnSp>
        <p:nvCxnSpPr>
          <p:cNvPr id="72" name="Straight Arrow Connector 71"/>
          <p:cNvCxnSpPr/>
          <p:nvPr/>
        </p:nvCxnSpPr>
        <p:spPr bwMode="auto">
          <a:xfrm>
            <a:off x="1207090" y="1778360"/>
            <a:ext cx="644770" cy="86745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endCxn id="90" idx="1"/>
          </p:cNvCxnSpPr>
          <p:nvPr/>
        </p:nvCxnSpPr>
        <p:spPr bwMode="auto">
          <a:xfrm>
            <a:off x="3952670" y="1776047"/>
            <a:ext cx="757632" cy="23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994486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Rhadar / Synseg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4710302" y="305301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278602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1550226" y="243372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1578932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90" idx="2"/>
            <a:endCxn id="38" idx="0"/>
          </p:cNvCxnSpPr>
          <p:nvPr/>
        </p:nvCxnSpPr>
        <p:spPr bwMode="auto">
          <a:xfrm rot="5400000">
            <a:off x="4642787" y="2561519"/>
            <a:ext cx="982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4172725" y="5883760"/>
            <a:ext cx="4147028" cy="6670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GPS Cutover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3344580" y="304804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359139" y="304804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>
                <a:solidFill>
                  <a:schemeClr val="tx1"/>
                </a:solidFill>
                <a:latin typeface="Arial" charset="0"/>
              </a:rPr>
              <a:t>Before Go-live</a:t>
            </a:r>
          </a:p>
        </p:txBody>
      </p:sp>
      <p:cxnSp>
        <p:nvCxnSpPr>
          <p:cNvPr id="53" name="Elbow Connector 52"/>
          <p:cNvCxnSpPr>
            <a:stCxn id="89" idx="2"/>
            <a:endCxn id="42" idx="0"/>
          </p:cNvCxnSpPr>
          <p:nvPr/>
        </p:nvCxnSpPr>
        <p:spPr bwMode="auto">
          <a:xfrm rot="16200000" flipH="1">
            <a:off x="2855886" y="2135372"/>
            <a:ext cx="30986" cy="179435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7" name="Elbow Connector 56"/>
          <p:cNvCxnSpPr>
            <a:stCxn id="87" idx="2"/>
            <a:endCxn id="43" idx="0"/>
          </p:cNvCxnSpPr>
          <p:nvPr/>
        </p:nvCxnSpPr>
        <p:spPr bwMode="auto">
          <a:xfrm rot="5400000">
            <a:off x="294108" y="2559035"/>
            <a:ext cx="97801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7" name="Rectangle 46"/>
          <p:cNvSpPr/>
          <p:nvPr/>
        </p:nvSpPr>
        <p:spPr bwMode="auto">
          <a:xfrm>
            <a:off x="4702133" y="420863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Rhadar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701443" y="495967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SynSEG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4" name="Elbow Connector 53"/>
          <p:cNvCxnSpPr>
            <a:stCxn id="38" idx="2"/>
            <a:endCxn id="48" idx="1"/>
          </p:cNvCxnSpPr>
          <p:nvPr/>
        </p:nvCxnSpPr>
        <p:spPr bwMode="auto">
          <a:xfrm rot="5400000">
            <a:off x="4110364" y="4227425"/>
            <a:ext cx="1614994" cy="432835"/>
          </a:xfrm>
          <a:prstGeom prst="bentConnector4">
            <a:avLst>
              <a:gd name="adj1" fmla="val 17844"/>
              <a:gd name="adj2" fmla="val 152815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Flowchart: Document 62"/>
          <p:cNvSpPr/>
          <p:nvPr/>
        </p:nvSpPr>
        <p:spPr bwMode="auto">
          <a:xfrm>
            <a:off x="5638430" y="471543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4" name="Flowchart: Document 63"/>
          <p:cNvSpPr/>
          <p:nvPr/>
        </p:nvSpPr>
        <p:spPr bwMode="auto">
          <a:xfrm>
            <a:off x="5656900" y="544443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7" name="Straight Arrow Connector 66"/>
          <p:cNvCxnSpPr>
            <a:stCxn id="43" idx="3"/>
            <a:endCxn id="42" idx="1"/>
          </p:cNvCxnSpPr>
          <p:nvPr/>
        </p:nvCxnSpPr>
        <p:spPr bwMode="auto">
          <a:xfrm>
            <a:off x="1207090" y="3339710"/>
            <a:ext cx="213749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/>
          <p:cNvCxnSpPr>
            <a:stCxn id="42" idx="3"/>
            <a:endCxn id="38" idx="1"/>
          </p:cNvCxnSpPr>
          <p:nvPr/>
        </p:nvCxnSpPr>
        <p:spPr bwMode="auto">
          <a:xfrm>
            <a:off x="4192531" y="3339710"/>
            <a:ext cx="517771" cy="496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Rectangle 67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5" name="Straight Arrow Connector 74"/>
          <p:cNvCxnSpPr>
            <a:stCxn id="68" idx="3"/>
            <a:endCxn id="69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/>
          <p:cNvCxnSpPr>
            <a:stCxn id="69" idx="3"/>
            <a:endCxn id="71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Straight Arrow Connector 77"/>
          <p:cNvCxnSpPr>
            <a:stCxn id="71" idx="3"/>
            <a:endCxn id="72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4634548" y="25064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57464" y="250394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3926" y="250394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9353" y="367272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321007" y="142540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879904" y="142458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390405" y="142458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725035" y="142458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588844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081565" y="2190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 flipV="1">
            <a:off x="7168958" y="1716252"/>
            <a:ext cx="710946" cy="81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727855" y="1716252"/>
            <a:ext cx="66255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 flipV="1">
            <a:off x="10238356" y="1716251"/>
            <a:ext cx="486679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436795" y="2481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44" idx="0"/>
          </p:cNvCxnSpPr>
          <p:nvPr/>
        </p:nvCxnSpPr>
        <p:spPr bwMode="auto">
          <a:xfrm rot="5400000">
            <a:off x="10485616" y="2654465"/>
            <a:ext cx="1309943" cy="1684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2" name="Elbow Connector 121"/>
          <p:cNvCxnSpPr>
            <a:stCxn id="8" idx="2"/>
            <a:endCxn id="46" idx="0"/>
          </p:cNvCxnSpPr>
          <p:nvPr/>
        </p:nvCxnSpPr>
        <p:spPr bwMode="auto">
          <a:xfrm rot="5400000">
            <a:off x="6446551" y="3103416"/>
            <a:ext cx="896024" cy="23651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45" idx="0"/>
          </p:cNvCxnSpPr>
          <p:nvPr/>
        </p:nvCxnSpPr>
        <p:spPr bwMode="auto">
          <a:xfrm rot="16200000" flipH="1">
            <a:off x="8694710" y="2584492"/>
            <a:ext cx="882562" cy="12609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45" idx="0"/>
          </p:cNvCxnSpPr>
          <p:nvPr/>
        </p:nvCxnSpPr>
        <p:spPr bwMode="auto">
          <a:xfrm rot="5400000">
            <a:off x="8966259" y="2808101"/>
            <a:ext cx="1648304" cy="479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6229725" y="2846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21239" y="2846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206491" y="2364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555393" y="2373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10708187" y="331786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342465" y="365622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GPT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6352330" y="366968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GPD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516503" y="425596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10714538" y="446263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Rhadar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10713848" y="521367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SynSEG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6" name="Elbow Connector 55"/>
          <p:cNvCxnSpPr>
            <a:stCxn id="44" idx="2"/>
            <a:endCxn id="49" idx="1"/>
          </p:cNvCxnSpPr>
          <p:nvPr/>
        </p:nvCxnSpPr>
        <p:spPr bwMode="auto">
          <a:xfrm rot="5400000">
            <a:off x="10496797" y="4118938"/>
            <a:ext cx="853109" cy="417625"/>
          </a:xfrm>
          <a:prstGeom prst="bentConnector4">
            <a:avLst>
              <a:gd name="adj1" fmla="val 32906"/>
              <a:gd name="adj2" fmla="val 154738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9" name="Elbow Connector 58"/>
          <p:cNvCxnSpPr>
            <a:stCxn id="44" idx="2"/>
            <a:endCxn id="50" idx="1"/>
          </p:cNvCxnSpPr>
          <p:nvPr/>
        </p:nvCxnSpPr>
        <p:spPr bwMode="auto">
          <a:xfrm rot="5400000">
            <a:off x="10120935" y="4494110"/>
            <a:ext cx="1604143" cy="418315"/>
          </a:xfrm>
          <a:prstGeom prst="bentConnector4">
            <a:avLst>
              <a:gd name="adj1" fmla="val 18429"/>
              <a:gd name="adj2" fmla="val 154648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Flowchart: Document 64"/>
          <p:cNvSpPr/>
          <p:nvPr/>
        </p:nvSpPr>
        <p:spPr bwMode="auto">
          <a:xfrm>
            <a:off x="11633306" y="496943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Flowchart: Document 65"/>
          <p:cNvSpPr/>
          <p:nvPr/>
        </p:nvSpPr>
        <p:spPr bwMode="auto">
          <a:xfrm>
            <a:off x="11651776" y="569843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3" name="Straight Arrow Connector 72"/>
          <p:cNvCxnSpPr>
            <a:stCxn id="46" idx="3"/>
            <a:endCxn id="45" idx="1"/>
          </p:cNvCxnSpPr>
          <p:nvPr/>
        </p:nvCxnSpPr>
        <p:spPr bwMode="auto">
          <a:xfrm flipV="1">
            <a:off x="7200281" y="3947891"/>
            <a:ext cx="2142184" cy="1346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45" idx="3"/>
            <a:endCxn id="44" idx="1"/>
          </p:cNvCxnSpPr>
          <p:nvPr/>
        </p:nvCxnSpPr>
        <p:spPr bwMode="auto">
          <a:xfrm flipV="1">
            <a:off x="10190416" y="3609529"/>
            <a:ext cx="517771" cy="33836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11526039" y="339082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cxnSp>
        <p:nvCxnSpPr>
          <p:cNvPr id="81" name="Elbow Connector 80"/>
          <p:cNvCxnSpPr>
            <a:stCxn id="46" idx="2"/>
            <a:endCxn id="50" idx="1"/>
          </p:cNvCxnSpPr>
          <p:nvPr/>
        </p:nvCxnSpPr>
        <p:spPr bwMode="auto">
          <a:xfrm rot="16200000" flipH="1">
            <a:off x="8118918" y="2910408"/>
            <a:ext cx="1252319" cy="3937542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84" name="Elbow Connector 83"/>
          <p:cNvCxnSpPr>
            <a:stCxn id="46" idx="2"/>
            <a:endCxn id="49" idx="1"/>
          </p:cNvCxnSpPr>
          <p:nvPr/>
        </p:nvCxnSpPr>
        <p:spPr bwMode="auto">
          <a:xfrm rot="16200000" flipH="1">
            <a:off x="8494780" y="2534546"/>
            <a:ext cx="501285" cy="3938232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95" name="Elbow Connector 94"/>
          <p:cNvCxnSpPr>
            <a:stCxn id="45" idx="2"/>
            <a:endCxn id="49" idx="1"/>
          </p:cNvCxnSpPr>
          <p:nvPr/>
        </p:nvCxnSpPr>
        <p:spPr bwMode="auto">
          <a:xfrm rot="16200000" flipH="1">
            <a:off x="9983116" y="4022882"/>
            <a:ext cx="514747" cy="948097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96" name="Elbow Connector 95"/>
          <p:cNvCxnSpPr>
            <a:stCxn id="45" idx="2"/>
            <a:endCxn id="50" idx="1"/>
          </p:cNvCxnSpPr>
          <p:nvPr/>
        </p:nvCxnSpPr>
        <p:spPr bwMode="auto">
          <a:xfrm rot="16200000" flipH="1">
            <a:off x="9607254" y="4398744"/>
            <a:ext cx="1265781" cy="947407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11138513" y="392924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cxnSp>
        <p:nvCxnSpPr>
          <p:cNvPr id="111" name="Straight Arrow Connector 110"/>
          <p:cNvCxnSpPr>
            <a:endCxn id="89" idx="0"/>
          </p:cNvCxnSpPr>
          <p:nvPr/>
        </p:nvCxnSpPr>
        <p:spPr bwMode="auto">
          <a:xfrm>
            <a:off x="1207090" y="1658534"/>
            <a:ext cx="767112" cy="77518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endCxn id="90" idx="1"/>
          </p:cNvCxnSpPr>
          <p:nvPr/>
        </p:nvCxnSpPr>
        <p:spPr bwMode="auto">
          <a:xfrm>
            <a:off x="3626911" y="1765381"/>
            <a:ext cx="1083391" cy="1298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3" name="Picture 2">
            <a:hlinkClick r:id="rId2" action="ppaction://hlinkfile" tooltip="DTS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40" y="4219993"/>
            <a:ext cx="607178" cy="607178"/>
          </a:xfrm>
          <a:prstGeom prst="rect">
            <a:avLst/>
          </a:prstGeom>
        </p:spPr>
      </p:pic>
      <p:pic>
        <p:nvPicPr>
          <p:cNvPr id="92" name="Picture 91">
            <a:hlinkClick r:id="rId2" action="ppaction://hlinkfile" tooltip="DTS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432" y="4824146"/>
            <a:ext cx="607178" cy="607178"/>
          </a:xfrm>
          <a:prstGeom prst="rect">
            <a:avLst/>
          </a:prstGeom>
        </p:spPr>
      </p:pic>
      <p:cxnSp>
        <p:nvCxnSpPr>
          <p:cNvPr id="93" name="Elbow Connector 92"/>
          <p:cNvCxnSpPr>
            <a:endCxn id="47" idx="3"/>
          </p:cNvCxnSpPr>
          <p:nvPr/>
        </p:nvCxnSpPr>
        <p:spPr bwMode="auto">
          <a:xfrm rot="16200000" flipH="1">
            <a:off x="4934410" y="3884631"/>
            <a:ext cx="830618" cy="400729"/>
          </a:xfrm>
          <a:prstGeom prst="bentConnector4">
            <a:avLst>
              <a:gd name="adj1" fmla="val 32443"/>
              <a:gd name="adj2" fmla="val 157046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0515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GRC NFE Satellite Landscape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 bwMode="auto">
          <a:xfrm>
            <a:off x="9342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708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204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697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190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436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352236" y="39144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857486" y="391446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 flipV="1">
            <a:off x="7200187" y="4206134"/>
            <a:ext cx="657299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364209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 flipV="1">
            <a:off x="8705437" y="4205422"/>
            <a:ext cx="658772" cy="71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732818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>
            <a:off x="10212160" y="4205422"/>
            <a:ext cx="520658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104" idx="0"/>
          </p:cNvCxnSpPr>
          <p:nvPr/>
        </p:nvCxnSpPr>
        <p:spPr bwMode="auto">
          <a:xfrm rot="16200000" flipH="1">
            <a:off x="9419893" y="2410227"/>
            <a:ext cx="708578" cy="1548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112" idx="0"/>
          </p:cNvCxnSpPr>
          <p:nvPr/>
        </p:nvCxnSpPr>
        <p:spPr bwMode="auto">
          <a:xfrm rot="16200000" flipH="1">
            <a:off x="10790190" y="2405650"/>
            <a:ext cx="708577" cy="2463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2894611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1292020" y="233609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1687521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942234" y="5608114"/>
            <a:ext cx="4353129" cy="1176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/>
              <a:t>Cut </a:t>
            </a:r>
            <a:r>
              <a:rPr lang="pt-BR" sz="1200" dirty="0" smtClean="0"/>
              <a:t>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ECC </a:t>
            </a:r>
            <a:r>
              <a:rPr lang="pt-BR" sz="1200" dirty="0" smtClean="0"/>
              <a:t>TRs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Move GRCNFE TRs</a:t>
            </a:r>
            <a:endParaRPr lang="pt-BR" sz="12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11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13429" y="421399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359138" y="295770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355182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847903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2" name="Straight Arrow Connector 61"/>
          <p:cNvCxnSpPr>
            <a:stCxn id="60" idx="3"/>
            <a:endCxn id="61" idx="1"/>
          </p:cNvCxnSpPr>
          <p:nvPr/>
        </p:nvCxnSpPr>
        <p:spPr bwMode="auto">
          <a:xfrm>
            <a:off x="1203133" y="422277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3" name="Rectangle 62"/>
          <p:cNvSpPr/>
          <p:nvPr/>
        </p:nvSpPr>
        <p:spPr bwMode="auto">
          <a:xfrm>
            <a:off x="3340624" y="393110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/>
          <p:cNvCxnSpPr>
            <a:stCxn id="61" idx="3"/>
            <a:endCxn id="63" idx="1"/>
          </p:cNvCxnSpPr>
          <p:nvPr/>
        </p:nvCxnSpPr>
        <p:spPr bwMode="auto">
          <a:xfrm>
            <a:off x="2695854" y="422277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5" name="Rectangle 64"/>
          <p:cNvSpPr/>
          <p:nvPr/>
        </p:nvSpPr>
        <p:spPr bwMode="auto">
          <a:xfrm>
            <a:off x="4706345" y="391961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6" name="Straight Arrow Connector 65"/>
          <p:cNvCxnSpPr>
            <a:stCxn id="63" idx="3"/>
            <a:endCxn id="65" idx="1"/>
          </p:cNvCxnSpPr>
          <p:nvPr/>
        </p:nvCxnSpPr>
        <p:spPr bwMode="auto">
          <a:xfrm flipV="1">
            <a:off x="4188575" y="4211279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Elbow Connector 71"/>
          <p:cNvCxnSpPr>
            <a:stCxn id="89" idx="2"/>
            <a:endCxn id="78" idx="0"/>
          </p:cNvCxnSpPr>
          <p:nvPr/>
        </p:nvCxnSpPr>
        <p:spPr bwMode="auto">
          <a:xfrm rot="16200000" flipH="1">
            <a:off x="2723140" y="1912290"/>
            <a:ext cx="38272" cy="20525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90" idx="2"/>
            <a:endCxn id="79" idx="0"/>
          </p:cNvCxnSpPr>
          <p:nvPr/>
        </p:nvCxnSpPr>
        <p:spPr bwMode="auto">
          <a:xfrm rot="16200000" flipH="1">
            <a:off x="4687283" y="2517022"/>
            <a:ext cx="903651" cy="96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5567914" y="147220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77" name="Rectangle 76"/>
          <p:cNvSpPr/>
          <p:nvPr/>
        </p:nvSpPr>
        <p:spPr bwMode="auto">
          <a:xfrm>
            <a:off x="1863254" y="295770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3344580" y="295770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4719963" y="2973679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6357024" y="2776095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7861570" y="2776094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4" name="Elbow Connector 83"/>
          <p:cNvCxnSpPr>
            <a:stCxn id="88" idx="2"/>
            <a:endCxn id="77" idx="0"/>
          </p:cNvCxnSpPr>
          <p:nvPr/>
        </p:nvCxnSpPr>
        <p:spPr bwMode="auto">
          <a:xfrm rot="5400000">
            <a:off x="2359070" y="1998189"/>
            <a:ext cx="887678" cy="103135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5" name="Elbow Connector 84"/>
          <p:cNvCxnSpPr>
            <a:stCxn id="87" idx="2"/>
            <a:endCxn id="110" idx="0"/>
          </p:cNvCxnSpPr>
          <p:nvPr/>
        </p:nvCxnSpPr>
        <p:spPr bwMode="auto">
          <a:xfrm rot="5400000">
            <a:off x="339276" y="2513867"/>
            <a:ext cx="887678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6" name="Elbow Connector 85"/>
          <p:cNvCxnSpPr>
            <a:stCxn id="60" idx="0"/>
            <a:endCxn id="110" idx="2"/>
          </p:cNvCxnSpPr>
          <p:nvPr/>
        </p:nvCxnSpPr>
        <p:spPr bwMode="auto">
          <a:xfrm rot="5400000" flipH="1" flipV="1">
            <a:off x="586105" y="3734094"/>
            <a:ext cx="390062" cy="3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5" name="Elbow Connector 94"/>
          <p:cNvCxnSpPr>
            <a:stCxn id="61" idx="0"/>
            <a:endCxn id="77" idx="2"/>
          </p:cNvCxnSpPr>
          <p:nvPr/>
        </p:nvCxnSpPr>
        <p:spPr bwMode="auto">
          <a:xfrm rot="5400000" flipH="1" flipV="1">
            <a:off x="2084523" y="3728397"/>
            <a:ext cx="390062" cy="1535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6" name="Elbow Connector 95"/>
          <p:cNvCxnSpPr>
            <a:stCxn id="63" idx="0"/>
            <a:endCxn id="78" idx="2"/>
          </p:cNvCxnSpPr>
          <p:nvPr/>
        </p:nvCxnSpPr>
        <p:spPr bwMode="auto">
          <a:xfrm rot="5400000" flipH="1" flipV="1">
            <a:off x="3571547" y="3734094"/>
            <a:ext cx="390062" cy="3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0" name="Elbow Connector 99"/>
          <p:cNvCxnSpPr>
            <a:stCxn id="65" idx="0"/>
            <a:endCxn id="79" idx="2"/>
          </p:cNvCxnSpPr>
          <p:nvPr/>
        </p:nvCxnSpPr>
        <p:spPr bwMode="auto">
          <a:xfrm rot="5400000" flipH="1" flipV="1">
            <a:off x="4955832" y="3731504"/>
            <a:ext cx="362597" cy="1361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4" name="Rectangle 103"/>
          <p:cNvSpPr/>
          <p:nvPr/>
        </p:nvSpPr>
        <p:spPr bwMode="auto">
          <a:xfrm>
            <a:off x="9357946" y="277225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10732818" y="277225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3" name="Elbow Connector 112"/>
          <p:cNvCxnSpPr>
            <a:stCxn id="4" idx="2"/>
            <a:endCxn id="80" idx="0"/>
          </p:cNvCxnSpPr>
          <p:nvPr/>
        </p:nvCxnSpPr>
        <p:spPr bwMode="auto">
          <a:xfrm rot="5400000">
            <a:off x="6424792" y="2419886"/>
            <a:ext cx="71241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5" name="Elbow Connector 114"/>
          <p:cNvCxnSpPr>
            <a:stCxn id="5" idx="2"/>
            <a:endCxn id="81" idx="0"/>
          </p:cNvCxnSpPr>
          <p:nvPr/>
        </p:nvCxnSpPr>
        <p:spPr bwMode="auto">
          <a:xfrm rot="16200000" flipH="1">
            <a:off x="7923425" y="2413973"/>
            <a:ext cx="712416" cy="1182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0" name="TextBox 129"/>
          <p:cNvSpPr txBox="1"/>
          <p:nvPr/>
        </p:nvSpPr>
        <p:spPr>
          <a:xfrm>
            <a:off x="11171313" y="341066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68" name="Straight Arrow Connector 67"/>
          <p:cNvCxnSpPr>
            <a:stCxn id="110" idx="3"/>
            <a:endCxn id="77" idx="1"/>
          </p:cNvCxnSpPr>
          <p:nvPr/>
        </p:nvCxnSpPr>
        <p:spPr bwMode="auto">
          <a:xfrm>
            <a:off x="1207089" y="3249374"/>
            <a:ext cx="656165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77" idx="3"/>
            <a:endCxn id="78" idx="1"/>
          </p:cNvCxnSpPr>
          <p:nvPr/>
        </p:nvCxnSpPr>
        <p:spPr bwMode="auto">
          <a:xfrm>
            <a:off x="2711205" y="3249374"/>
            <a:ext cx="633375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2" name="Straight Arrow Connector 81"/>
          <p:cNvCxnSpPr>
            <a:stCxn id="78" idx="3"/>
            <a:endCxn id="79" idx="1"/>
          </p:cNvCxnSpPr>
          <p:nvPr/>
        </p:nvCxnSpPr>
        <p:spPr bwMode="auto">
          <a:xfrm>
            <a:off x="4192531" y="3249374"/>
            <a:ext cx="527432" cy="15973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Straight Arrow Connector 82"/>
          <p:cNvCxnSpPr>
            <a:stCxn id="80" idx="3"/>
            <a:endCxn id="81" idx="1"/>
          </p:cNvCxnSpPr>
          <p:nvPr/>
        </p:nvCxnSpPr>
        <p:spPr bwMode="auto">
          <a:xfrm flipV="1">
            <a:off x="7204975" y="3067762"/>
            <a:ext cx="656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8" name="Straight Arrow Connector 107"/>
          <p:cNvCxnSpPr>
            <a:stCxn id="104" idx="3"/>
            <a:endCxn id="112" idx="1"/>
          </p:cNvCxnSpPr>
          <p:nvPr/>
        </p:nvCxnSpPr>
        <p:spPr bwMode="auto">
          <a:xfrm flipV="1">
            <a:off x="10205897" y="3063923"/>
            <a:ext cx="526921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9" name="Rectangle 108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8" name="Straight Arrow Connector 117"/>
          <p:cNvCxnSpPr>
            <a:stCxn id="109" idx="3"/>
            <a:endCxn id="111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0" name="Straight Arrow Connector 119"/>
          <p:cNvCxnSpPr>
            <a:stCxn id="111" idx="3"/>
            <a:endCxn id="114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1" name="Straight Arrow Connector 120"/>
          <p:cNvCxnSpPr>
            <a:stCxn id="114" idx="3"/>
            <a:endCxn id="117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2" name="TextBox 121"/>
          <p:cNvSpPr txBox="1"/>
          <p:nvPr/>
        </p:nvSpPr>
        <p:spPr>
          <a:xfrm>
            <a:off x="776473" y="239781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58991" y="239608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31461" y="239352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55265" y="239125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0865" y="353661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2348888" y="353661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1" name="TextBox 130"/>
          <p:cNvSpPr txBox="1"/>
          <p:nvPr/>
        </p:nvSpPr>
        <p:spPr>
          <a:xfrm>
            <a:off x="3903674" y="353371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2" name="Cloud Callout 131"/>
          <p:cNvSpPr/>
          <p:nvPr/>
        </p:nvSpPr>
        <p:spPr bwMode="auto">
          <a:xfrm>
            <a:off x="2242060" y="5122382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133" name="Elbow Connector 132"/>
          <p:cNvCxnSpPr>
            <a:stCxn id="132" idx="3"/>
            <a:endCxn id="60" idx="2"/>
          </p:cNvCxnSpPr>
          <p:nvPr/>
        </p:nvCxnSpPr>
        <p:spPr bwMode="auto">
          <a:xfrm rot="16200000" flipV="1">
            <a:off x="1539211" y="3754385"/>
            <a:ext cx="653598" cy="217370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4" name="Elbow Connector 133"/>
          <p:cNvCxnSpPr>
            <a:stCxn id="132" idx="3"/>
            <a:endCxn id="61" idx="2"/>
          </p:cNvCxnSpPr>
          <p:nvPr/>
        </p:nvCxnSpPr>
        <p:spPr bwMode="auto">
          <a:xfrm rot="16200000" flipV="1">
            <a:off x="2285571" y="4500746"/>
            <a:ext cx="653598" cy="68098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5" name="Elbow Connector 134"/>
          <p:cNvCxnSpPr>
            <a:stCxn id="132" idx="3"/>
            <a:endCxn id="63" idx="2"/>
          </p:cNvCxnSpPr>
          <p:nvPr/>
        </p:nvCxnSpPr>
        <p:spPr bwMode="auto">
          <a:xfrm rot="5400000" flipH="1" flipV="1">
            <a:off x="3031931" y="4435368"/>
            <a:ext cx="653598" cy="81173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6" name="Elbow Connector 135"/>
          <p:cNvCxnSpPr>
            <a:stCxn id="132" idx="3"/>
            <a:endCxn id="65" idx="2"/>
          </p:cNvCxnSpPr>
          <p:nvPr/>
        </p:nvCxnSpPr>
        <p:spPr bwMode="auto">
          <a:xfrm rot="5400000" flipH="1" flipV="1">
            <a:off x="3709046" y="3746761"/>
            <a:ext cx="665090" cy="21774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2719824" y="459798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357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849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588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081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69" name="Elbow Connector 168"/>
          <p:cNvCxnSpPr>
            <a:stCxn id="32" idx="0"/>
            <a:endCxn id="104" idx="2"/>
          </p:cNvCxnSpPr>
          <p:nvPr/>
        </p:nvCxnSpPr>
        <p:spPr bwMode="auto">
          <a:xfrm rot="16200000" flipV="1">
            <a:off x="9505973" y="3631541"/>
            <a:ext cx="558163" cy="626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2" name="Elbow Connector 171"/>
          <p:cNvCxnSpPr>
            <a:stCxn id="35" idx="0"/>
            <a:endCxn id="112" idx="2"/>
          </p:cNvCxnSpPr>
          <p:nvPr/>
        </p:nvCxnSpPr>
        <p:spPr bwMode="auto">
          <a:xfrm rot="5400000" flipH="1" flipV="1">
            <a:off x="10877712" y="3634672"/>
            <a:ext cx="55816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6801908" y="251160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384426" y="250987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856896" y="250731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180700" y="250504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58670" y="35227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0" name="TextBox 199"/>
          <p:cNvSpPr txBox="1"/>
          <p:nvPr/>
        </p:nvSpPr>
        <p:spPr>
          <a:xfrm>
            <a:off x="8476693" y="352274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1" name="TextBox 200"/>
          <p:cNvSpPr txBox="1"/>
          <p:nvPr/>
        </p:nvSpPr>
        <p:spPr>
          <a:xfrm>
            <a:off x="10031479" y="351984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2" name="Cloud Callout 201"/>
          <p:cNvSpPr/>
          <p:nvPr/>
        </p:nvSpPr>
        <p:spPr bwMode="auto">
          <a:xfrm>
            <a:off x="8408685" y="5059894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203" name="Elbow Connector 202"/>
          <p:cNvCxnSpPr>
            <a:stCxn id="202" idx="3"/>
            <a:endCxn id="29" idx="2"/>
          </p:cNvCxnSpPr>
          <p:nvPr/>
        </p:nvCxnSpPr>
        <p:spPr bwMode="auto">
          <a:xfrm rot="16200000" flipV="1">
            <a:off x="7643976" y="3630038"/>
            <a:ext cx="607746" cy="234327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4" name="Elbow Connector 203"/>
          <p:cNvCxnSpPr>
            <a:stCxn id="202" idx="3"/>
            <a:endCxn id="30" idx="2"/>
          </p:cNvCxnSpPr>
          <p:nvPr/>
        </p:nvCxnSpPr>
        <p:spPr bwMode="auto">
          <a:xfrm rot="16200000" flipV="1">
            <a:off x="8396601" y="4382663"/>
            <a:ext cx="607747" cy="8380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5" name="Elbow Connector 204"/>
          <p:cNvCxnSpPr>
            <a:stCxn id="202" idx="3"/>
            <a:endCxn id="32" idx="2"/>
          </p:cNvCxnSpPr>
          <p:nvPr/>
        </p:nvCxnSpPr>
        <p:spPr bwMode="auto">
          <a:xfrm rot="5400000" flipH="1" flipV="1">
            <a:off x="9149606" y="4466970"/>
            <a:ext cx="608459" cy="66869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6" name="Elbow Connector 205"/>
          <p:cNvCxnSpPr>
            <a:stCxn id="202" idx="3"/>
            <a:endCxn id="35" idx="2"/>
          </p:cNvCxnSpPr>
          <p:nvPr/>
        </p:nvCxnSpPr>
        <p:spPr bwMode="auto">
          <a:xfrm rot="5400000" flipH="1" flipV="1">
            <a:off x="9833911" y="3782665"/>
            <a:ext cx="608459" cy="203730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07" name="TextBox 206"/>
          <p:cNvSpPr txBox="1"/>
          <p:nvPr/>
        </p:nvSpPr>
        <p:spPr>
          <a:xfrm>
            <a:off x="8874103" y="451443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cxnSp>
        <p:nvCxnSpPr>
          <p:cNvPr id="212" name="Elbow Connector 211"/>
          <p:cNvCxnSpPr>
            <a:stCxn id="29" idx="0"/>
            <a:endCxn id="80" idx="2"/>
          </p:cNvCxnSpPr>
          <p:nvPr/>
        </p:nvCxnSpPr>
        <p:spPr bwMode="auto">
          <a:xfrm rot="5400000" flipH="1" flipV="1">
            <a:off x="6501088" y="3634555"/>
            <a:ext cx="555037" cy="478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15" name="Elbow Connector 214"/>
          <p:cNvCxnSpPr>
            <a:stCxn id="30" idx="0"/>
            <a:endCxn id="81" idx="2"/>
          </p:cNvCxnSpPr>
          <p:nvPr/>
        </p:nvCxnSpPr>
        <p:spPr bwMode="auto">
          <a:xfrm rot="5400000" flipH="1" flipV="1">
            <a:off x="8005986" y="3634906"/>
            <a:ext cx="555037" cy="408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20" name="TextBox 219"/>
          <p:cNvSpPr txBox="1"/>
          <p:nvPr/>
        </p:nvSpPr>
        <p:spPr>
          <a:xfrm>
            <a:off x="10231509" y="318363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cxnSp>
        <p:nvCxnSpPr>
          <p:cNvPr id="124" name="Straight Arrow Connector 123"/>
          <p:cNvCxnSpPr>
            <a:stCxn id="81" idx="3"/>
            <a:endCxn id="104" idx="1"/>
          </p:cNvCxnSpPr>
          <p:nvPr/>
        </p:nvCxnSpPr>
        <p:spPr bwMode="auto">
          <a:xfrm flipV="1">
            <a:off x="8709521" y="3063924"/>
            <a:ext cx="648425" cy="383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88624" y="4997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6432991" y="4998462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38" name="Straight Arrow Connector 137"/>
          <p:cNvCxnSpPr>
            <a:endCxn id="89" idx="0"/>
          </p:cNvCxnSpPr>
          <p:nvPr/>
        </p:nvCxnSpPr>
        <p:spPr bwMode="auto">
          <a:xfrm>
            <a:off x="1203133" y="1769504"/>
            <a:ext cx="512863" cy="56659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90" idx="1"/>
          </p:cNvCxnSpPr>
          <p:nvPr/>
        </p:nvCxnSpPr>
        <p:spPr bwMode="auto">
          <a:xfrm flipV="1">
            <a:off x="3742562" y="1778361"/>
            <a:ext cx="967740" cy="570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7848411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MasterSAF DW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 bwMode="auto">
          <a:xfrm>
            <a:off x="4726081" y="280197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PRD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4" name="Elbow Connector 73"/>
          <p:cNvCxnSpPr>
            <a:stCxn id="7" idx="2"/>
            <a:endCxn id="44" idx="0"/>
          </p:cNvCxnSpPr>
          <p:nvPr/>
        </p:nvCxnSpPr>
        <p:spPr bwMode="auto">
          <a:xfrm rot="5400000">
            <a:off x="10822572" y="2500269"/>
            <a:ext cx="873183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4" name="Elbow Connector 93"/>
          <p:cNvCxnSpPr>
            <a:stCxn id="86" idx="2"/>
            <a:endCxn id="38" idx="0"/>
          </p:cNvCxnSpPr>
          <p:nvPr/>
        </p:nvCxnSpPr>
        <p:spPr bwMode="auto">
          <a:xfrm rot="5400000">
            <a:off x="4779655" y="2431573"/>
            <a:ext cx="74080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80543" y="5512004"/>
            <a:ext cx="4893197" cy="10172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MSAF AOL changes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Connect MSAF AOL to FEP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74275" y="243389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(4);(</a:t>
            </a:r>
            <a:r>
              <a:rPr lang="pt-BR" sz="1400" dirty="0">
                <a:solidFill>
                  <a:srgbClr val="FF0000"/>
                </a:solidFill>
              </a:rPr>
              <a:t>5</a:t>
            </a:r>
            <a:r>
              <a:rPr lang="pt-BR" sz="1400" dirty="0" smtClean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22" name="Elbow Connector 121"/>
          <p:cNvCxnSpPr>
            <a:stCxn id="8" idx="2"/>
            <a:endCxn id="46" idx="0"/>
          </p:cNvCxnSpPr>
          <p:nvPr/>
        </p:nvCxnSpPr>
        <p:spPr bwMode="auto">
          <a:xfrm rot="5400000">
            <a:off x="6793000" y="2585075"/>
            <a:ext cx="412234" cy="28140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5" name="Elbow Connector 124"/>
          <p:cNvCxnSpPr>
            <a:stCxn id="9" idx="2"/>
            <a:endCxn id="45" idx="0"/>
          </p:cNvCxnSpPr>
          <p:nvPr/>
        </p:nvCxnSpPr>
        <p:spPr bwMode="auto">
          <a:xfrm rot="16200000" flipH="1">
            <a:off x="9053567" y="2098634"/>
            <a:ext cx="417201" cy="125925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8" name="Elbow Connector 127"/>
          <p:cNvCxnSpPr>
            <a:stCxn id="6" idx="2"/>
            <a:endCxn id="45" idx="0"/>
          </p:cNvCxnSpPr>
          <p:nvPr/>
        </p:nvCxnSpPr>
        <p:spPr bwMode="auto">
          <a:xfrm rot="5400000">
            <a:off x="9456026" y="2499446"/>
            <a:ext cx="873184" cy="164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2" name="Rectangle 41"/>
          <p:cNvSpPr/>
          <p:nvPr/>
        </p:nvSpPr>
        <p:spPr bwMode="auto">
          <a:xfrm>
            <a:off x="2404118" y="279279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QAS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74918" y="2797007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MSAF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10835187" y="293686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MSAF  AOL   PRD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9467818" y="293686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MSAF AOL </a:t>
            </a:r>
            <a:r>
              <a:rPr lang="en-US" sz="1200" dirty="0">
                <a:solidFill>
                  <a:schemeClr val="tx1"/>
                </a:solidFill>
                <a:latin typeface="Arial" charset="0"/>
              </a:rPr>
              <a:t>QAS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6434437" y="293189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MSAF AOL  DEV</a:t>
            </a:r>
            <a:endParaRPr lang="en-US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95335" y="222306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cxnSp>
        <p:nvCxnSpPr>
          <p:cNvPr id="53" name="Elbow Connector 52"/>
          <p:cNvCxnSpPr>
            <a:stCxn id="85" idx="2"/>
            <a:endCxn id="42" idx="0"/>
          </p:cNvCxnSpPr>
          <p:nvPr/>
        </p:nvCxnSpPr>
        <p:spPr bwMode="auto">
          <a:xfrm rot="5400000">
            <a:off x="2940402" y="1948863"/>
            <a:ext cx="731627" cy="95624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7" name="Elbow Connector 56"/>
          <p:cNvCxnSpPr>
            <a:stCxn id="82" idx="2"/>
            <a:endCxn id="43" idx="0"/>
          </p:cNvCxnSpPr>
          <p:nvPr/>
        </p:nvCxnSpPr>
        <p:spPr bwMode="auto">
          <a:xfrm rot="5400000">
            <a:off x="430976" y="2429089"/>
            <a:ext cx="735836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43" idx="3"/>
            <a:endCxn id="42" idx="1"/>
          </p:cNvCxnSpPr>
          <p:nvPr/>
        </p:nvCxnSpPr>
        <p:spPr bwMode="auto">
          <a:xfrm flipV="1">
            <a:off x="1222869" y="3084466"/>
            <a:ext cx="1181249" cy="4209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Straight Arrow Connector 66"/>
          <p:cNvCxnSpPr>
            <a:stCxn id="42" idx="3"/>
            <a:endCxn id="38" idx="1"/>
          </p:cNvCxnSpPr>
          <p:nvPr/>
        </p:nvCxnSpPr>
        <p:spPr bwMode="auto">
          <a:xfrm>
            <a:off x="3252069" y="3084466"/>
            <a:ext cx="1474012" cy="917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/>
          <p:cNvCxnSpPr>
            <a:stCxn id="46" idx="3"/>
            <a:endCxn id="45" idx="1"/>
          </p:cNvCxnSpPr>
          <p:nvPr/>
        </p:nvCxnSpPr>
        <p:spPr bwMode="auto">
          <a:xfrm>
            <a:off x="7282388" y="3223563"/>
            <a:ext cx="2185430" cy="496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/>
          <p:cNvCxnSpPr>
            <a:stCxn id="45" idx="3"/>
            <a:endCxn id="44" idx="1"/>
          </p:cNvCxnSpPr>
          <p:nvPr/>
        </p:nvCxnSpPr>
        <p:spPr bwMode="auto">
          <a:xfrm flipV="1">
            <a:off x="10315769" y="3228529"/>
            <a:ext cx="519418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2" name="Elbow Connector 61"/>
          <p:cNvCxnSpPr>
            <a:stCxn id="61" idx="0"/>
            <a:endCxn id="43" idx="2"/>
          </p:cNvCxnSpPr>
          <p:nvPr/>
        </p:nvCxnSpPr>
        <p:spPr bwMode="auto">
          <a:xfrm rot="5400000" flipH="1" flipV="1">
            <a:off x="428880" y="3750356"/>
            <a:ext cx="74002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63" name="Elbow Connector 62"/>
          <p:cNvCxnSpPr>
            <a:stCxn id="68" idx="0"/>
            <a:endCxn id="42" idx="2"/>
          </p:cNvCxnSpPr>
          <p:nvPr/>
        </p:nvCxnSpPr>
        <p:spPr bwMode="auto">
          <a:xfrm rot="5400000" flipH="1" flipV="1">
            <a:off x="1761849" y="4188615"/>
            <a:ext cx="1878727" cy="25376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66" name="Elbow Connector 65"/>
          <p:cNvCxnSpPr>
            <a:stCxn id="76" idx="0"/>
            <a:endCxn id="38" idx="2"/>
          </p:cNvCxnSpPr>
          <p:nvPr/>
        </p:nvCxnSpPr>
        <p:spPr bwMode="auto">
          <a:xfrm rot="5400000" flipH="1" flipV="1">
            <a:off x="4782527" y="3752840"/>
            <a:ext cx="73506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Flowchart: Document 68"/>
          <p:cNvSpPr/>
          <p:nvPr/>
        </p:nvSpPr>
        <p:spPr bwMode="auto">
          <a:xfrm>
            <a:off x="455307" y="214652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Flowchart: Document 70"/>
          <p:cNvSpPr/>
          <p:nvPr/>
        </p:nvSpPr>
        <p:spPr bwMode="auto">
          <a:xfrm>
            <a:off x="3425887" y="214652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Flowchart: Document 71"/>
          <p:cNvSpPr/>
          <p:nvPr/>
        </p:nvSpPr>
        <p:spPr bwMode="auto">
          <a:xfrm>
            <a:off x="4753661" y="214652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5" name="Flowchart: Document 74"/>
          <p:cNvSpPr/>
          <p:nvPr/>
        </p:nvSpPr>
        <p:spPr bwMode="auto">
          <a:xfrm>
            <a:off x="487171" y="388250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Flowchart: Document 77"/>
          <p:cNvSpPr/>
          <p:nvPr/>
        </p:nvSpPr>
        <p:spPr bwMode="auto">
          <a:xfrm>
            <a:off x="3457751" y="388250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9" name="Flowchart: Document 78"/>
          <p:cNvSpPr/>
          <p:nvPr/>
        </p:nvSpPr>
        <p:spPr bwMode="auto">
          <a:xfrm>
            <a:off x="4785525" y="388250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79809" y="375748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374918" y="412037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5" name="Rectangle 64"/>
          <p:cNvSpPr/>
          <p:nvPr/>
        </p:nvSpPr>
        <p:spPr bwMode="auto">
          <a:xfrm>
            <a:off x="2998305" y="413879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2150354" y="525486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4726081" y="412037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7" name="Straight Arrow Connector 76"/>
          <p:cNvCxnSpPr>
            <a:stCxn id="61" idx="3"/>
            <a:endCxn id="65" idx="1"/>
          </p:cNvCxnSpPr>
          <p:nvPr/>
        </p:nvCxnSpPr>
        <p:spPr bwMode="auto">
          <a:xfrm>
            <a:off x="1222869" y="4412038"/>
            <a:ext cx="1775436" cy="1842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2" name="Rectangle 81"/>
          <p:cNvSpPr/>
          <p:nvPr/>
        </p:nvSpPr>
        <p:spPr bwMode="auto">
          <a:xfrm>
            <a:off x="374918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1867639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3360360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4726081" y="147783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5" name="Straight Arrow Connector 94"/>
          <p:cNvCxnSpPr>
            <a:stCxn id="82" idx="3"/>
            <a:endCxn id="84" idx="1"/>
          </p:cNvCxnSpPr>
          <p:nvPr/>
        </p:nvCxnSpPr>
        <p:spPr bwMode="auto">
          <a:xfrm>
            <a:off x="1222869" y="176950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6" name="Straight Arrow Connector 95"/>
          <p:cNvCxnSpPr>
            <a:stCxn id="84" idx="3"/>
            <a:endCxn id="85" idx="1"/>
          </p:cNvCxnSpPr>
          <p:nvPr/>
        </p:nvCxnSpPr>
        <p:spPr bwMode="auto">
          <a:xfrm>
            <a:off x="2715590" y="176950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0" name="Straight Arrow Connector 99"/>
          <p:cNvCxnSpPr>
            <a:stCxn id="85" idx="3"/>
            <a:endCxn id="86" idx="1"/>
          </p:cNvCxnSpPr>
          <p:nvPr/>
        </p:nvCxnSpPr>
        <p:spPr bwMode="auto">
          <a:xfrm>
            <a:off x="4208311" y="1769504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1" name="Rectangle 100"/>
          <p:cNvSpPr/>
          <p:nvPr/>
        </p:nvSpPr>
        <p:spPr bwMode="auto">
          <a:xfrm>
            <a:off x="10817251" y="3670054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PRD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9451529" y="366508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MSAF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QAS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6466088" y="366508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MSAF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6" name="Straight Arrow Connector 105"/>
          <p:cNvCxnSpPr>
            <a:stCxn id="104" idx="3"/>
            <a:endCxn id="103" idx="1"/>
          </p:cNvCxnSpPr>
          <p:nvPr/>
        </p:nvCxnSpPr>
        <p:spPr bwMode="auto">
          <a:xfrm>
            <a:off x="7314039" y="3956754"/>
            <a:ext cx="213749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7" name="Straight Arrow Connector 106"/>
          <p:cNvCxnSpPr>
            <a:stCxn id="103" idx="3"/>
            <a:endCxn id="101" idx="1"/>
          </p:cNvCxnSpPr>
          <p:nvPr/>
        </p:nvCxnSpPr>
        <p:spPr bwMode="auto">
          <a:xfrm>
            <a:off x="10299480" y="3956754"/>
            <a:ext cx="517771" cy="496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8" name="Elbow Connector 107"/>
          <p:cNvCxnSpPr>
            <a:stCxn id="116" idx="0"/>
            <a:endCxn id="104" idx="2"/>
          </p:cNvCxnSpPr>
          <p:nvPr/>
        </p:nvCxnSpPr>
        <p:spPr bwMode="auto">
          <a:xfrm rot="5400000" flipH="1" flipV="1">
            <a:off x="6647050" y="4491435"/>
            <a:ext cx="48602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110" name="Elbow Connector 109"/>
          <p:cNvCxnSpPr>
            <a:stCxn id="118" idx="0"/>
            <a:endCxn id="103" idx="2"/>
          </p:cNvCxnSpPr>
          <p:nvPr/>
        </p:nvCxnSpPr>
        <p:spPr bwMode="auto">
          <a:xfrm rot="16200000" flipV="1">
            <a:off x="9632492" y="4491434"/>
            <a:ext cx="486028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cxnSp>
        <p:nvCxnSpPr>
          <p:cNvPr id="111" name="Elbow Connector 110"/>
          <p:cNvCxnSpPr>
            <a:stCxn id="119" idx="0"/>
            <a:endCxn id="101" idx="2"/>
          </p:cNvCxnSpPr>
          <p:nvPr/>
        </p:nvCxnSpPr>
        <p:spPr bwMode="auto">
          <a:xfrm rot="5400000" flipH="1" flipV="1">
            <a:off x="11000697" y="4493919"/>
            <a:ext cx="48106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ot"/>
            <a:round/>
            <a:headEnd type="none" w="med" len="med"/>
            <a:tailEnd type="arrow" w="med" len="med"/>
          </a:ln>
          <a:effectLst/>
        </p:spPr>
      </p:cxnSp>
      <p:sp>
        <p:nvSpPr>
          <p:cNvPr id="112" name="Flowchart: Document 111"/>
          <p:cNvSpPr/>
          <p:nvPr/>
        </p:nvSpPr>
        <p:spPr bwMode="auto">
          <a:xfrm>
            <a:off x="6578341" y="449658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3" name="Flowchart: Document 112"/>
          <p:cNvSpPr/>
          <p:nvPr/>
        </p:nvSpPr>
        <p:spPr bwMode="auto">
          <a:xfrm>
            <a:off x="9548921" y="449658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Flowchart: Document 113"/>
          <p:cNvSpPr/>
          <p:nvPr/>
        </p:nvSpPr>
        <p:spPr bwMode="auto">
          <a:xfrm>
            <a:off x="10876695" y="449658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6466088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7958809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9451530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10817251" y="473444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20" name="Straight Arrow Connector 119"/>
          <p:cNvCxnSpPr>
            <a:stCxn id="116" idx="3"/>
            <a:endCxn id="117" idx="1"/>
          </p:cNvCxnSpPr>
          <p:nvPr/>
        </p:nvCxnSpPr>
        <p:spPr bwMode="auto">
          <a:xfrm>
            <a:off x="7314039" y="502611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1" name="Straight Arrow Connector 120"/>
          <p:cNvCxnSpPr>
            <a:stCxn id="117" idx="3"/>
            <a:endCxn id="118" idx="1"/>
          </p:cNvCxnSpPr>
          <p:nvPr/>
        </p:nvCxnSpPr>
        <p:spPr bwMode="auto">
          <a:xfrm>
            <a:off x="8806760" y="502611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3" name="Straight Arrow Connector 122"/>
          <p:cNvCxnSpPr>
            <a:stCxn id="118" idx="3"/>
            <a:endCxn id="119" idx="1"/>
          </p:cNvCxnSpPr>
          <p:nvPr/>
        </p:nvCxnSpPr>
        <p:spPr bwMode="auto">
          <a:xfrm>
            <a:off x="10299481" y="502611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10338287" y="285421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cxnSp>
        <p:nvCxnSpPr>
          <p:cNvPr id="87" name="Straight Arrow Connector 86"/>
          <p:cNvCxnSpPr>
            <a:stCxn id="65" idx="3"/>
            <a:endCxn id="76" idx="1"/>
          </p:cNvCxnSpPr>
          <p:nvPr/>
        </p:nvCxnSpPr>
        <p:spPr bwMode="auto">
          <a:xfrm flipV="1">
            <a:off x="3846256" y="4412038"/>
            <a:ext cx="879825" cy="1842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8" name="Straight Arrow Connector 87"/>
          <p:cNvCxnSpPr>
            <a:endCxn id="68" idx="1"/>
          </p:cNvCxnSpPr>
          <p:nvPr/>
        </p:nvCxnSpPr>
        <p:spPr bwMode="auto">
          <a:xfrm>
            <a:off x="924419" y="4695303"/>
            <a:ext cx="1225935" cy="851225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93415379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SERASA Satellite Landscape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484024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976745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>
            <a:off x="7331975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469466" y="260037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>
            <a:off x="8824696" y="289204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835187" y="258888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 flipV="1">
            <a:off x="10317417" y="2880554"/>
            <a:ext cx="517770" cy="1149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5" name="Elbow Connector 44"/>
          <p:cNvCxnSpPr>
            <a:stCxn id="29" idx="2"/>
            <a:endCxn id="66" idx="3"/>
          </p:cNvCxnSpPr>
          <p:nvPr/>
        </p:nvCxnSpPr>
        <p:spPr bwMode="auto">
          <a:xfrm rot="16200000" flipH="1">
            <a:off x="7803753" y="2287960"/>
            <a:ext cx="927981" cy="271948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30" idx="2"/>
            <a:endCxn id="66" idx="3"/>
          </p:cNvCxnSpPr>
          <p:nvPr/>
        </p:nvCxnSpPr>
        <p:spPr bwMode="auto">
          <a:xfrm rot="16200000" flipH="1">
            <a:off x="8550113" y="3034320"/>
            <a:ext cx="927981" cy="12267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32" idx="2"/>
            <a:endCxn id="66" idx="3"/>
          </p:cNvCxnSpPr>
          <p:nvPr/>
        </p:nvCxnSpPr>
        <p:spPr bwMode="auto">
          <a:xfrm rot="5400000">
            <a:off x="9296474" y="3514725"/>
            <a:ext cx="927981" cy="2659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9" name="Elbow Connector 58"/>
          <p:cNvCxnSpPr>
            <a:stCxn id="35" idx="2"/>
            <a:endCxn id="66" idx="3"/>
          </p:cNvCxnSpPr>
          <p:nvPr/>
        </p:nvCxnSpPr>
        <p:spPr bwMode="auto">
          <a:xfrm rot="5400000">
            <a:off x="9973589" y="2826119"/>
            <a:ext cx="939473" cy="163167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32" idx="0"/>
          </p:cNvCxnSpPr>
          <p:nvPr/>
        </p:nvCxnSpPr>
        <p:spPr bwMode="auto">
          <a:xfrm rot="5400000">
            <a:off x="9688592" y="2395528"/>
            <a:ext cx="40970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35" idx="0"/>
          </p:cNvCxnSpPr>
          <p:nvPr/>
        </p:nvCxnSpPr>
        <p:spPr bwMode="auto">
          <a:xfrm rot="5400000">
            <a:off x="11060059" y="2389782"/>
            <a:ext cx="398208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768964" y="5332948"/>
            <a:ext cx="4790642" cy="12104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Map SERASA http links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38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47869" y="288841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65513" y="330495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12689" y="464246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5144" y="224713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48165" y="224568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IDOC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23284" y="3261530"/>
            <a:ext cx="456801" cy="309093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WS?</a:t>
            </a:r>
          </a:p>
        </p:txBody>
      </p:sp>
      <p:sp>
        <p:nvSpPr>
          <p:cNvPr id="66" name="Cloud Callout 65"/>
          <p:cNvSpPr/>
          <p:nvPr/>
        </p:nvSpPr>
        <p:spPr bwMode="auto">
          <a:xfrm>
            <a:off x="8916685" y="4066040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SERASA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62041" y="-47640"/>
            <a:ext cx="25699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Review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cxnSp>
        <p:nvCxnSpPr>
          <p:cNvPr id="39" name="Straight Connector 38"/>
          <p:cNvCxnSpPr/>
          <p:nvPr/>
        </p:nvCxnSpPr>
        <p:spPr bwMode="auto">
          <a:xfrm>
            <a:off x="6484024" y="385079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365239226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Credito Rural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Crédito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Rural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977105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Crédito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Rural</a:t>
            </a:r>
            <a:r>
              <a:rPr lang="en-US" sz="12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tx1"/>
                </a:solidFill>
                <a:latin typeface="Arial" charset="0"/>
              </a:rPr>
              <a:t>Crédito</a:t>
            </a:r>
            <a:r>
              <a:rPr lang="en-US" sz="14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Rural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73393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>
            <a:off x="1207090" y="1905361"/>
            <a:ext cx="1466303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9287" y="2752019"/>
            <a:ext cx="1109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860057" y="1799423"/>
            <a:ext cx="693787" cy="23882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16200000" flipH="1">
            <a:off x="8606418" y="2545784"/>
            <a:ext cx="693787" cy="8955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9008877" y="2582883"/>
            <a:ext cx="1149770" cy="365361"/>
          </a:xfrm>
          <a:prstGeom prst="bentConnector3">
            <a:avLst>
              <a:gd name="adj1" fmla="val 71282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037610" y="312255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Credito Rural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Credito Rural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cxnSp>
        <p:nvCxnSpPr>
          <p:cNvPr id="92" name="Elbow Connector 91"/>
          <p:cNvCxnSpPr>
            <a:stCxn id="66" idx="2"/>
            <a:endCxn id="49" idx="2"/>
          </p:cNvCxnSpPr>
          <p:nvPr/>
        </p:nvCxnSpPr>
        <p:spPr bwMode="auto">
          <a:xfrm flipV="1">
            <a:off x="4176826" y="3890345"/>
            <a:ext cx="957452" cy="751304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cxnSp>
        <p:nvCxnSpPr>
          <p:cNvPr id="55" name="Elbow Connector 54"/>
          <p:cNvCxnSpPr>
            <a:stCxn id="70" idx="2"/>
            <a:endCxn id="51" idx="2"/>
          </p:cNvCxnSpPr>
          <p:nvPr/>
        </p:nvCxnSpPr>
        <p:spPr bwMode="auto">
          <a:xfrm flipV="1">
            <a:off x="7447995" y="3923783"/>
            <a:ext cx="1953086" cy="70663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6" name="Elbow Connector 55"/>
          <p:cNvCxnSpPr>
            <a:stCxn id="70" idx="2"/>
            <a:endCxn id="52" idx="2"/>
          </p:cNvCxnSpPr>
          <p:nvPr/>
        </p:nvCxnSpPr>
        <p:spPr bwMode="auto">
          <a:xfrm flipV="1">
            <a:off x="7447995" y="3923783"/>
            <a:ext cx="3684168" cy="70663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7" name="Flowchart: Document 56"/>
          <p:cNvSpPr/>
          <p:nvPr/>
        </p:nvSpPr>
        <p:spPr bwMode="auto">
          <a:xfrm>
            <a:off x="9009854" y="400647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Flowchart: Document 58"/>
          <p:cNvSpPr/>
          <p:nvPr/>
        </p:nvSpPr>
        <p:spPr bwMode="auto">
          <a:xfrm>
            <a:off x="10702389" y="400647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Cloud Callout 65"/>
          <p:cNvSpPr/>
          <p:nvPr/>
        </p:nvSpPr>
        <p:spPr bwMode="auto">
          <a:xfrm>
            <a:off x="3022196" y="4350985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latin typeface="Arial" charset="0"/>
              </a:rPr>
              <a:t>BANKS</a:t>
            </a:r>
          </a:p>
        </p:txBody>
      </p:sp>
      <p:sp>
        <p:nvSpPr>
          <p:cNvPr id="70" name="Cloud Callout 69"/>
          <p:cNvSpPr/>
          <p:nvPr/>
        </p:nvSpPr>
        <p:spPr bwMode="auto">
          <a:xfrm>
            <a:off x="6293365" y="4339754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latin typeface="Arial" charset="0"/>
              </a:rPr>
              <a:t>BANKS</a:t>
            </a:r>
          </a:p>
        </p:txBody>
      </p:sp>
      <p:cxnSp>
        <p:nvCxnSpPr>
          <p:cNvPr id="71" name="Straight Connector 70"/>
          <p:cNvCxnSpPr/>
          <p:nvPr/>
        </p:nvCxnSpPr>
        <p:spPr bwMode="auto">
          <a:xfrm>
            <a:off x="359139" y="4264123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>
            <a:off x="6462311" y="4264123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76" name="Rectangle 75"/>
          <p:cNvSpPr/>
          <p:nvPr/>
        </p:nvSpPr>
        <p:spPr bwMode="auto">
          <a:xfrm>
            <a:off x="1265262" y="299985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7" name="Straight Arrow Connector 76"/>
          <p:cNvCxnSpPr>
            <a:endCxn id="76" idx="0"/>
          </p:cNvCxnSpPr>
          <p:nvPr/>
        </p:nvCxnSpPr>
        <p:spPr bwMode="auto">
          <a:xfrm>
            <a:off x="1044467" y="2221333"/>
            <a:ext cx="644771" cy="778526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Straight Arrow Connector 77"/>
          <p:cNvCxnSpPr>
            <a:endCxn id="62" idx="1"/>
          </p:cNvCxnSpPr>
          <p:nvPr/>
        </p:nvCxnSpPr>
        <p:spPr bwMode="auto">
          <a:xfrm>
            <a:off x="3521344" y="1896504"/>
            <a:ext cx="1188958" cy="885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3" name="Picture 2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534" y="3987288"/>
            <a:ext cx="507113" cy="609600"/>
          </a:xfrm>
          <a:prstGeom prst="rect">
            <a:avLst/>
          </a:prstGeom>
        </p:spPr>
      </p:pic>
      <p:pic>
        <p:nvPicPr>
          <p:cNvPr id="61" name="Picture 60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243" y="3363859"/>
            <a:ext cx="507113" cy="609600"/>
          </a:xfrm>
          <a:prstGeom prst="rect">
            <a:avLst/>
          </a:prstGeom>
        </p:spPr>
      </p:pic>
      <p:pic>
        <p:nvPicPr>
          <p:cNvPr id="64" name="Picture 63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099" y="3346798"/>
            <a:ext cx="507113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2547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Easy IRPJ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1" name="Rectangle 50"/>
          <p:cNvSpPr/>
          <p:nvPr/>
        </p:nvSpPr>
        <p:spPr bwMode="auto">
          <a:xfrm>
            <a:off x="8977105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Easy IRPJ Support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Easy IRPJ 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860057" y="1799423"/>
            <a:ext cx="693787" cy="23882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16200000" flipH="1">
            <a:off x="8606418" y="2545784"/>
            <a:ext cx="693787" cy="8955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9008877" y="2582883"/>
            <a:ext cx="1149770" cy="365361"/>
          </a:xfrm>
          <a:prstGeom prst="bentConnector3">
            <a:avLst>
              <a:gd name="adj1" fmla="val 71282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037610" y="312255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Easy IRPJ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Easy IRPJ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Easy IRPJ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0" name="Rectangle 69"/>
          <p:cNvSpPr/>
          <p:nvPr/>
        </p:nvSpPr>
        <p:spPr bwMode="auto">
          <a:xfrm>
            <a:off x="1851860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1905314" y="390590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6" name="Straight Arrow Connector 75"/>
          <p:cNvCxnSpPr>
            <a:stCxn id="66" idx="3"/>
            <a:endCxn id="70" idx="1"/>
          </p:cNvCxnSpPr>
          <p:nvPr/>
        </p:nvCxnSpPr>
        <p:spPr bwMode="auto">
          <a:xfrm>
            <a:off x="1207090" y="190536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/>
          <p:cNvCxnSpPr>
            <a:stCxn id="66" idx="3"/>
            <a:endCxn id="71" idx="1"/>
          </p:cNvCxnSpPr>
          <p:nvPr/>
        </p:nvCxnSpPr>
        <p:spPr bwMode="auto">
          <a:xfrm>
            <a:off x="1207090" y="1905361"/>
            <a:ext cx="698224" cy="2292209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Straight Arrow Connector 77"/>
          <p:cNvCxnSpPr>
            <a:stCxn id="70" idx="3"/>
            <a:endCxn id="74" idx="1"/>
          </p:cNvCxnSpPr>
          <p:nvPr/>
        </p:nvCxnSpPr>
        <p:spPr bwMode="auto">
          <a:xfrm>
            <a:off x="2699811" y="1905361"/>
            <a:ext cx="2010491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Elbow Connector 82"/>
          <p:cNvCxnSpPr>
            <a:stCxn id="74" idx="2"/>
            <a:endCxn id="59" idx="0"/>
          </p:cNvCxnSpPr>
          <p:nvPr/>
        </p:nvCxnSpPr>
        <p:spPr bwMode="auto">
          <a:xfrm rot="5400000">
            <a:off x="4579287" y="2752019"/>
            <a:ext cx="1109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84" name="Flowchart: Document 83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3364941" y="3307009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Easy IRPJ Support</a:t>
            </a:r>
          </a:p>
        </p:txBody>
      </p:sp>
      <p:cxnSp>
        <p:nvCxnSpPr>
          <p:cNvPr id="92" name="Elbow Connector 91"/>
          <p:cNvCxnSpPr>
            <a:stCxn id="70" idx="2"/>
            <a:endCxn id="91" idx="1"/>
          </p:cNvCxnSpPr>
          <p:nvPr/>
        </p:nvCxnSpPr>
        <p:spPr bwMode="auto">
          <a:xfrm rot="16200000" flipH="1">
            <a:off x="2119564" y="2353299"/>
            <a:ext cx="1401649" cy="108910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4" name="Flowchart: Document 93"/>
          <p:cNvSpPr/>
          <p:nvPr/>
        </p:nvSpPr>
        <p:spPr bwMode="auto">
          <a:xfrm>
            <a:off x="3070210" y="3300063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308944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pic>
        <p:nvPicPr>
          <p:cNvPr id="3" name="Picture 2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582" y="2396472"/>
            <a:ext cx="609600" cy="609600"/>
          </a:xfrm>
          <a:prstGeom prst="rect">
            <a:avLst/>
          </a:prstGeom>
        </p:spPr>
      </p:pic>
      <p:pic>
        <p:nvPicPr>
          <p:cNvPr id="49" name="Picture 48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308" y="250248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44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201540" y="938711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VIM Satellite Landscape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 bwMode="auto">
          <a:xfrm>
            <a:off x="9342466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708187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204975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697696" y="1772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190417" y="1772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436795" y="2227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Rectangle 28"/>
          <p:cNvSpPr/>
          <p:nvPr/>
        </p:nvSpPr>
        <p:spPr bwMode="auto">
          <a:xfrm>
            <a:off x="6352236" y="391446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857486" y="391446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1" name="Straight Arrow Connector 30"/>
          <p:cNvCxnSpPr>
            <a:stCxn id="29" idx="3"/>
            <a:endCxn id="30" idx="1"/>
          </p:cNvCxnSpPr>
          <p:nvPr/>
        </p:nvCxnSpPr>
        <p:spPr bwMode="auto">
          <a:xfrm flipV="1">
            <a:off x="7200187" y="4206134"/>
            <a:ext cx="657299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2" name="Rectangle 31"/>
          <p:cNvSpPr/>
          <p:nvPr/>
        </p:nvSpPr>
        <p:spPr bwMode="auto">
          <a:xfrm>
            <a:off x="9364209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 bwMode="auto">
          <a:xfrm flipV="1">
            <a:off x="8705437" y="4205422"/>
            <a:ext cx="658772" cy="71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5" name="Rectangle 34"/>
          <p:cNvSpPr/>
          <p:nvPr/>
        </p:nvSpPr>
        <p:spPr bwMode="auto">
          <a:xfrm>
            <a:off x="10732818" y="3913754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36" name="Straight Arrow Connector 35"/>
          <p:cNvCxnSpPr>
            <a:stCxn id="32" idx="3"/>
            <a:endCxn id="35" idx="1"/>
          </p:cNvCxnSpPr>
          <p:nvPr/>
        </p:nvCxnSpPr>
        <p:spPr bwMode="auto">
          <a:xfrm>
            <a:off x="10212160" y="4205422"/>
            <a:ext cx="520658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6" idx="2"/>
            <a:endCxn id="104" idx="0"/>
          </p:cNvCxnSpPr>
          <p:nvPr/>
        </p:nvCxnSpPr>
        <p:spPr bwMode="auto">
          <a:xfrm rot="16200000" flipH="1">
            <a:off x="9419893" y="2410227"/>
            <a:ext cx="708578" cy="1548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4" name="Elbow Connector 73"/>
          <p:cNvCxnSpPr>
            <a:stCxn id="7" idx="2"/>
            <a:endCxn id="112" idx="0"/>
          </p:cNvCxnSpPr>
          <p:nvPr/>
        </p:nvCxnSpPr>
        <p:spPr bwMode="auto">
          <a:xfrm rot="16200000" flipH="1">
            <a:off x="10790190" y="2405650"/>
            <a:ext cx="708577" cy="2463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7" name="Rectangle 86"/>
          <p:cNvSpPr/>
          <p:nvPr/>
        </p:nvSpPr>
        <p:spPr bwMode="auto">
          <a:xfrm>
            <a:off x="359139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2914911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1277696" y="252902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4710302" y="1486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1" name="Straight Arrow Connector 90"/>
          <p:cNvCxnSpPr>
            <a:stCxn id="87" idx="3"/>
            <a:endCxn id="88" idx="1"/>
          </p:cNvCxnSpPr>
          <p:nvPr/>
        </p:nvCxnSpPr>
        <p:spPr bwMode="auto">
          <a:xfrm>
            <a:off x="1207090" y="1778361"/>
            <a:ext cx="1707821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3942234" y="5608114"/>
            <a:ext cx="4353129" cy="1176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/>
              <a:t>Cut </a:t>
            </a:r>
            <a:r>
              <a:rPr lang="pt-BR" sz="1200" dirty="0" smtClean="0"/>
              <a:t>Off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Move ECC </a:t>
            </a:r>
            <a:r>
              <a:rPr lang="pt-BR" sz="1200" dirty="0" smtClean="0"/>
              <a:t>TRs</a:t>
            </a:r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 smtClean="0"/>
              <a:t>Move GRCNFE TRs</a:t>
            </a:r>
            <a:endParaRPr lang="pt-BR" sz="12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</a:t>
            </a:r>
            <a:r>
              <a:rPr lang="pt-BR" sz="1200" dirty="0"/>
              <a:t>PI/PO </a:t>
            </a:r>
            <a:r>
              <a:rPr lang="pt-BR" sz="1200" dirty="0" smtClean="0"/>
              <a:t>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/>
          </a:p>
        </p:txBody>
      </p:sp>
      <p:sp>
        <p:nvSpPr>
          <p:cNvPr id="105" name="TextBox 104"/>
          <p:cNvSpPr txBox="1"/>
          <p:nvPr/>
        </p:nvSpPr>
        <p:spPr>
          <a:xfrm>
            <a:off x="10211287" y="1769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313429" y="421399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359138" y="3231772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354365" y="424019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848896" y="424019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2" name="Straight Arrow Connector 61"/>
          <p:cNvCxnSpPr>
            <a:stCxn id="60" idx="3"/>
            <a:endCxn id="61" idx="1"/>
          </p:cNvCxnSpPr>
          <p:nvPr/>
        </p:nvCxnSpPr>
        <p:spPr bwMode="auto">
          <a:xfrm>
            <a:off x="1202316" y="4531863"/>
            <a:ext cx="64658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3" name="Rectangle 62"/>
          <p:cNvSpPr/>
          <p:nvPr/>
        </p:nvSpPr>
        <p:spPr bwMode="auto">
          <a:xfrm>
            <a:off x="3338887" y="423778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4" name="Straight Arrow Connector 63"/>
          <p:cNvCxnSpPr>
            <a:stCxn id="61" idx="3"/>
            <a:endCxn id="63" idx="1"/>
          </p:cNvCxnSpPr>
          <p:nvPr/>
        </p:nvCxnSpPr>
        <p:spPr bwMode="auto">
          <a:xfrm flipV="1">
            <a:off x="2696847" y="4529450"/>
            <a:ext cx="642040" cy="2413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5" name="Rectangle 64"/>
          <p:cNvSpPr/>
          <p:nvPr/>
        </p:nvSpPr>
        <p:spPr bwMode="auto">
          <a:xfrm>
            <a:off x="4751660" y="423778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POP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6" name="Straight Arrow Connector 65"/>
          <p:cNvCxnSpPr>
            <a:stCxn id="63" idx="3"/>
            <a:endCxn id="65" idx="1"/>
          </p:cNvCxnSpPr>
          <p:nvPr/>
        </p:nvCxnSpPr>
        <p:spPr bwMode="auto">
          <a:xfrm>
            <a:off x="4186838" y="4529450"/>
            <a:ext cx="564822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Elbow Connector 71"/>
          <p:cNvCxnSpPr>
            <a:stCxn id="89" idx="2"/>
            <a:endCxn id="78" idx="0"/>
          </p:cNvCxnSpPr>
          <p:nvPr/>
        </p:nvCxnSpPr>
        <p:spPr bwMode="auto">
          <a:xfrm rot="16200000" flipH="1">
            <a:off x="2667976" y="2146060"/>
            <a:ext cx="134276" cy="206688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90" idx="2"/>
            <a:endCxn id="79" idx="0"/>
          </p:cNvCxnSpPr>
          <p:nvPr/>
        </p:nvCxnSpPr>
        <p:spPr bwMode="auto">
          <a:xfrm rot="16200000" flipH="1">
            <a:off x="4567339" y="2636967"/>
            <a:ext cx="1176612" cy="4273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5567914" y="147220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77" name="Rectangle 76"/>
          <p:cNvSpPr/>
          <p:nvPr/>
        </p:nvSpPr>
        <p:spPr bwMode="auto">
          <a:xfrm>
            <a:off x="1863254" y="3246641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3344580" y="324664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4753036" y="324664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6357024" y="2776095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7861570" y="2776094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G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NI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4" name="Elbow Connector 83"/>
          <p:cNvCxnSpPr>
            <a:stCxn id="88" idx="2"/>
            <a:endCxn id="77" idx="0"/>
          </p:cNvCxnSpPr>
          <p:nvPr/>
        </p:nvCxnSpPr>
        <p:spPr bwMode="auto">
          <a:xfrm rot="5400000">
            <a:off x="2224753" y="2132506"/>
            <a:ext cx="1176613" cy="105165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5" name="Elbow Connector 84"/>
          <p:cNvCxnSpPr>
            <a:stCxn id="87" idx="2"/>
            <a:endCxn id="110" idx="0"/>
          </p:cNvCxnSpPr>
          <p:nvPr/>
        </p:nvCxnSpPr>
        <p:spPr bwMode="auto">
          <a:xfrm rot="5400000">
            <a:off x="202243" y="2650900"/>
            <a:ext cx="1161744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6" name="Elbow Connector 85"/>
          <p:cNvCxnSpPr>
            <a:stCxn id="60" idx="0"/>
            <a:endCxn id="110" idx="2"/>
          </p:cNvCxnSpPr>
          <p:nvPr/>
        </p:nvCxnSpPr>
        <p:spPr bwMode="auto">
          <a:xfrm rot="5400000" flipH="1" flipV="1">
            <a:off x="568183" y="4025265"/>
            <a:ext cx="425088" cy="477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5" name="Elbow Connector 94"/>
          <p:cNvCxnSpPr>
            <a:stCxn id="61" idx="0"/>
            <a:endCxn id="77" idx="2"/>
          </p:cNvCxnSpPr>
          <p:nvPr/>
        </p:nvCxnSpPr>
        <p:spPr bwMode="auto">
          <a:xfrm rot="5400000" flipH="1" flipV="1">
            <a:off x="2074942" y="4027907"/>
            <a:ext cx="410219" cy="1435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96" name="Elbow Connector 95"/>
          <p:cNvCxnSpPr>
            <a:stCxn id="63" idx="0"/>
            <a:endCxn id="78" idx="2"/>
          </p:cNvCxnSpPr>
          <p:nvPr/>
        </p:nvCxnSpPr>
        <p:spPr bwMode="auto">
          <a:xfrm rot="5400000" flipH="1" flipV="1">
            <a:off x="3561806" y="4031033"/>
            <a:ext cx="407807" cy="569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00" name="Elbow Connector 99"/>
          <p:cNvCxnSpPr>
            <a:stCxn id="65" idx="0"/>
            <a:endCxn id="79" idx="2"/>
          </p:cNvCxnSpPr>
          <p:nvPr/>
        </p:nvCxnSpPr>
        <p:spPr bwMode="auto">
          <a:xfrm rot="5400000" flipH="1" flipV="1">
            <a:off x="4972421" y="4033191"/>
            <a:ext cx="407807" cy="137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4" name="Rectangle 103"/>
          <p:cNvSpPr/>
          <p:nvPr/>
        </p:nvSpPr>
        <p:spPr bwMode="auto">
          <a:xfrm>
            <a:off x="9357946" y="277225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GNU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10732818" y="277225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LNP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3" name="Elbow Connector 112"/>
          <p:cNvCxnSpPr>
            <a:stCxn id="4" idx="2"/>
            <a:endCxn id="80" idx="0"/>
          </p:cNvCxnSpPr>
          <p:nvPr/>
        </p:nvCxnSpPr>
        <p:spPr bwMode="auto">
          <a:xfrm rot="5400000">
            <a:off x="6424792" y="2419886"/>
            <a:ext cx="71241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5" name="Elbow Connector 114"/>
          <p:cNvCxnSpPr>
            <a:stCxn id="5" idx="2"/>
            <a:endCxn id="81" idx="0"/>
          </p:cNvCxnSpPr>
          <p:nvPr/>
        </p:nvCxnSpPr>
        <p:spPr bwMode="auto">
          <a:xfrm rot="16200000" flipH="1">
            <a:off x="7923425" y="2413973"/>
            <a:ext cx="712416" cy="1182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0" name="TextBox 129"/>
          <p:cNvSpPr txBox="1"/>
          <p:nvPr/>
        </p:nvSpPr>
        <p:spPr>
          <a:xfrm>
            <a:off x="11171313" y="3410667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68" name="Straight Arrow Connector 67"/>
          <p:cNvCxnSpPr>
            <a:stCxn id="110" idx="3"/>
            <a:endCxn id="77" idx="1"/>
          </p:cNvCxnSpPr>
          <p:nvPr/>
        </p:nvCxnSpPr>
        <p:spPr bwMode="auto">
          <a:xfrm>
            <a:off x="1207089" y="3523440"/>
            <a:ext cx="656165" cy="14869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/>
          <p:cNvCxnSpPr>
            <a:stCxn id="77" idx="3"/>
            <a:endCxn id="78" idx="1"/>
          </p:cNvCxnSpPr>
          <p:nvPr/>
        </p:nvCxnSpPr>
        <p:spPr bwMode="auto">
          <a:xfrm flipV="1">
            <a:off x="2711205" y="3538308"/>
            <a:ext cx="63337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2" name="Straight Arrow Connector 81"/>
          <p:cNvCxnSpPr>
            <a:stCxn id="78" idx="3"/>
            <a:endCxn id="79" idx="1"/>
          </p:cNvCxnSpPr>
          <p:nvPr/>
        </p:nvCxnSpPr>
        <p:spPr bwMode="auto">
          <a:xfrm>
            <a:off x="4192531" y="3538308"/>
            <a:ext cx="560505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Straight Arrow Connector 82"/>
          <p:cNvCxnSpPr>
            <a:stCxn id="80" idx="3"/>
            <a:endCxn id="81" idx="1"/>
          </p:cNvCxnSpPr>
          <p:nvPr/>
        </p:nvCxnSpPr>
        <p:spPr bwMode="auto">
          <a:xfrm flipV="1">
            <a:off x="7204975" y="3067762"/>
            <a:ext cx="656595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8" name="Straight Arrow Connector 107"/>
          <p:cNvCxnSpPr>
            <a:stCxn id="104" idx="3"/>
            <a:endCxn id="112" idx="1"/>
          </p:cNvCxnSpPr>
          <p:nvPr/>
        </p:nvCxnSpPr>
        <p:spPr bwMode="auto">
          <a:xfrm flipV="1">
            <a:off x="10205897" y="3063923"/>
            <a:ext cx="526921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09" name="Rectangle 108"/>
          <p:cNvSpPr/>
          <p:nvPr/>
        </p:nvSpPr>
        <p:spPr bwMode="auto">
          <a:xfrm>
            <a:off x="532817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2025538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3518259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883980" y="1796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8" name="Straight Arrow Connector 117"/>
          <p:cNvCxnSpPr>
            <a:stCxn id="109" idx="3"/>
            <a:endCxn id="111" idx="1"/>
          </p:cNvCxnSpPr>
          <p:nvPr/>
        </p:nvCxnSpPr>
        <p:spPr bwMode="auto">
          <a:xfrm>
            <a:off x="1380768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0" name="Straight Arrow Connector 119"/>
          <p:cNvCxnSpPr>
            <a:stCxn id="111" idx="3"/>
            <a:endCxn id="114" idx="1"/>
          </p:cNvCxnSpPr>
          <p:nvPr/>
        </p:nvCxnSpPr>
        <p:spPr bwMode="auto">
          <a:xfrm>
            <a:off x="2873489" y="2088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1" name="Straight Arrow Connector 120"/>
          <p:cNvCxnSpPr>
            <a:stCxn id="114" idx="3"/>
            <a:endCxn id="117" idx="1"/>
          </p:cNvCxnSpPr>
          <p:nvPr/>
        </p:nvCxnSpPr>
        <p:spPr bwMode="auto">
          <a:xfrm>
            <a:off x="4366210" y="2088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2" name="TextBox 121"/>
          <p:cNvSpPr txBox="1"/>
          <p:nvPr/>
        </p:nvSpPr>
        <p:spPr>
          <a:xfrm>
            <a:off x="776473" y="2397811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58991" y="239608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31461" y="239352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55265" y="239125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0865" y="353661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2348888" y="353661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1" name="TextBox 130"/>
          <p:cNvSpPr txBox="1"/>
          <p:nvPr/>
        </p:nvSpPr>
        <p:spPr>
          <a:xfrm>
            <a:off x="3903674" y="353371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132" name="Cloud Callout 131"/>
          <p:cNvSpPr/>
          <p:nvPr/>
        </p:nvSpPr>
        <p:spPr bwMode="auto">
          <a:xfrm>
            <a:off x="2287659" y="5282285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133" name="Elbow Connector 132"/>
          <p:cNvCxnSpPr>
            <a:stCxn id="132" idx="3"/>
            <a:endCxn id="60" idx="2"/>
          </p:cNvCxnSpPr>
          <p:nvPr/>
        </p:nvCxnSpPr>
        <p:spPr bwMode="auto">
          <a:xfrm rot="16200000" flipV="1">
            <a:off x="1636197" y="3965675"/>
            <a:ext cx="504409" cy="222011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4" name="Elbow Connector 133"/>
          <p:cNvCxnSpPr>
            <a:stCxn id="132" idx="3"/>
            <a:endCxn id="61" idx="2"/>
          </p:cNvCxnSpPr>
          <p:nvPr/>
        </p:nvCxnSpPr>
        <p:spPr bwMode="auto">
          <a:xfrm rot="16200000" flipV="1">
            <a:off x="2383462" y="4712941"/>
            <a:ext cx="504409" cy="72558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5" name="Elbow Connector 134"/>
          <p:cNvCxnSpPr>
            <a:stCxn id="132" idx="3"/>
            <a:endCxn id="63" idx="2"/>
          </p:cNvCxnSpPr>
          <p:nvPr/>
        </p:nvCxnSpPr>
        <p:spPr bwMode="auto">
          <a:xfrm rot="5400000" flipH="1" flipV="1">
            <a:off x="3127250" y="4692327"/>
            <a:ext cx="506822" cy="76440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36" name="Elbow Connector 135"/>
          <p:cNvCxnSpPr>
            <a:stCxn id="132" idx="3"/>
            <a:endCxn id="65" idx="2"/>
          </p:cNvCxnSpPr>
          <p:nvPr/>
        </p:nvCxnSpPr>
        <p:spPr bwMode="auto">
          <a:xfrm rot="5400000" flipH="1" flipV="1">
            <a:off x="3833637" y="3985940"/>
            <a:ext cx="506822" cy="217717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2719824" y="459798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357024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849745" y="1480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588844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081565" y="1936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69" name="Elbow Connector 168"/>
          <p:cNvCxnSpPr>
            <a:stCxn id="32" idx="0"/>
            <a:endCxn id="104" idx="2"/>
          </p:cNvCxnSpPr>
          <p:nvPr/>
        </p:nvCxnSpPr>
        <p:spPr bwMode="auto">
          <a:xfrm rot="16200000" flipV="1">
            <a:off x="9505973" y="3631541"/>
            <a:ext cx="558163" cy="626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72" name="Elbow Connector 171"/>
          <p:cNvCxnSpPr>
            <a:stCxn id="35" idx="0"/>
            <a:endCxn id="112" idx="2"/>
          </p:cNvCxnSpPr>
          <p:nvPr/>
        </p:nvCxnSpPr>
        <p:spPr bwMode="auto">
          <a:xfrm rot="5400000" flipH="1" flipV="1">
            <a:off x="10877712" y="3634672"/>
            <a:ext cx="55816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6801908" y="251160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384426" y="250987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856896" y="250731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180700" y="2505046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58670" y="352274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0" name="TextBox 199"/>
          <p:cNvSpPr txBox="1"/>
          <p:nvPr/>
        </p:nvSpPr>
        <p:spPr>
          <a:xfrm>
            <a:off x="8476693" y="352274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1" name="TextBox 200"/>
          <p:cNvSpPr txBox="1"/>
          <p:nvPr/>
        </p:nvSpPr>
        <p:spPr>
          <a:xfrm>
            <a:off x="10031479" y="351984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pt-BR" sz="1200" dirty="0"/>
              <a:t>ABAP </a:t>
            </a:r>
            <a:r>
              <a:rPr lang="pt-BR" sz="1200" dirty="0" smtClean="0"/>
              <a:t>Proxy</a:t>
            </a:r>
            <a:endParaRPr lang="pt-BR" sz="1200" dirty="0"/>
          </a:p>
        </p:txBody>
      </p:sp>
      <p:sp>
        <p:nvSpPr>
          <p:cNvPr id="202" name="Cloud Callout 201"/>
          <p:cNvSpPr/>
          <p:nvPr/>
        </p:nvSpPr>
        <p:spPr bwMode="auto">
          <a:xfrm>
            <a:off x="8408685" y="5059894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400" dirty="0" smtClean="0">
                <a:latin typeface="Arial" charset="0"/>
              </a:rPr>
              <a:t>SEFAZ</a:t>
            </a:r>
          </a:p>
        </p:txBody>
      </p:sp>
      <p:cxnSp>
        <p:nvCxnSpPr>
          <p:cNvPr id="203" name="Elbow Connector 202"/>
          <p:cNvCxnSpPr>
            <a:stCxn id="202" idx="3"/>
            <a:endCxn id="29" idx="2"/>
          </p:cNvCxnSpPr>
          <p:nvPr/>
        </p:nvCxnSpPr>
        <p:spPr bwMode="auto">
          <a:xfrm rot="16200000" flipV="1">
            <a:off x="7643976" y="3630038"/>
            <a:ext cx="607746" cy="234327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4" name="Elbow Connector 203"/>
          <p:cNvCxnSpPr>
            <a:stCxn id="202" idx="3"/>
            <a:endCxn id="30" idx="2"/>
          </p:cNvCxnSpPr>
          <p:nvPr/>
        </p:nvCxnSpPr>
        <p:spPr bwMode="auto">
          <a:xfrm rot="16200000" flipV="1">
            <a:off x="8396601" y="4382663"/>
            <a:ext cx="607747" cy="83802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5" name="Elbow Connector 204"/>
          <p:cNvCxnSpPr>
            <a:stCxn id="202" idx="3"/>
            <a:endCxn id="32" idx="2"/>
          </p:cNvCxnSpPr>
          <p:nvPr/>
        </p:nvCxnSpPr>
        <p:spPr bwMode="auto">
          <a:xfrm rot="5400000" flipH="1" flipV="1">
            <a:off x="9149606" y="4466970"/>
            <a:ext cx="608459" cy="66869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06" name="Elbow Connector 205"/>
          <p:cNvCxnSpPr>
            <a:stCxn id="202" idx="3"/>
            <a:endCxn id="35" idx="2"/>
          </p:cNvCxnSpPr>
          <p:nvPr/>
        </p:nvCxnSpPr>
        <p:spPr bwMode="auto">
          <a:xfrm rot="5400000" flipH="1" flipV="1">
            <a:off x="9833911" y="3782665"/>
            <a:ext cx="608459" cy="203730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07" name="TextBox 206"/>
          <p:cNvSpPr txBox="1"/>
          <p:nvPr/>
        </p:nvSpPr>
        <p:spPr>
          <a:xfrm>
            <a:off x="8874103" y="4514437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cxnSp>
        <p:nvCxnSpPr>
          <p:cNvPr id="212" name="Elbow Connector 211"/>
          <p:cNvCxnSpPr>
            <a:stCxn id="29" idx="0"/>
            <a:endCxn id="80" idx="2"/>
          </p:cNvCxnSpPr>
          <p:nvPr/>
        </p:nvCxnSpPr>
        <p:spPr bwMode="auto">
          <a:xfrm rot="5400000" flipH="1" flipV="1">
            <a:off x="6501088" y="3634555"/>
            <a:ext cx="555037" cy="478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15" name="Elbow Connector 214"/>
          <p:cNvCxnSpPr>
            <a:stCxn id="30" idx="0"/>
            <a:endCxn id="81" idx="2"/>
          </p:cNvCxnSpPr>
          <p:nvPr/>
        </p:nvCxnSpPr>
        <p:spPr bwMode="auto">
          <a:xfrm rot="5400000" flipH="1" flipV="1">
            <a:off x="8005986" y="3634906"/>
            <a:ext cx="555037" cy="408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20" name="TextBox 219"/>
          <p:cNvSpPr txBox="1"/>
          <p:nvPr/>
        </p:nvSpPr>
        <p:spPr>
          <a:xfrm>
            <a:off x="10231509" y="318363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cxnSp>
        <p:nvCxnSpPr>
          <p:cNvPr id="124" name="Straight Arrow Connector 123"/>
          <p:cNvCxnSpPr>
            <a:stCxn id="81" idx="3"/>
            <a:endCxn id="104" idx="1"/>
          </p:cNvCxnSpPr>
          <p:nvPr/>
        </p:nvCxnSpPr>
        <p:spPr bwMode="auto">
          <a:xfrm flipV="1">
            <a:off x="8709521" y="3063924"/>
            <a:ext cx="648425" cy="383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>
            <a:off x="359139" y="5026123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19" name="Straight Connector 118"/>
          <p:cNvCxnSpPr/>
          <p:nvPr/>
        </p:nvCxnSpPr>
        <p:spPr bwMode="auto">
          <a:xfrm>
            <a:off x="6352236" y="5014460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4" name="Straight Arrow Connector 143"/>
          <p:cNvCxnSpPr>
            <a:endCxn id="90" idx="1"/>
          </p:cNvCxnSpPr>
          <p:nvPr/>
        </p:nvCxnSpPr>
        <p:spPr bwMode="auto">
          <a:xfrm flipV="1">
            <a:off x="3751573" y="1778361"/>
            <a:ext cx="958729" cy="18058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46" name="Straight Arrow Connector 145"/>
          <p:cNvCxnSpPr>
            <a:endCxn id="89" idx="0"/>
          </p:cNvCxnSpPr>
          <p:nvPr/>
        </p:nvCxnSpPr>
        <p:spPr bwMode="auto">
          <a:xfrm>
            <a:off x="1214355" y="1778360"/>
            <a:ext cx="487317" cy="7506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38234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Biller Direct Solution Satellite Landscape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 bwMode="auto">
          <a:xfrm>
            <a:off x="9469466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0835187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" name="Straight Arrow Connector 9"/>
          <p:cNvCxnSpPr>
            <a:stCxn id="4" idx="3"/>
            <a:endCxn id="5" idx="1"/>
          </p:cNvCxnSpPr>
          <p:nvPr/>
        </p:nvCxnSpPr>
        <p:spPr bwMode="auto">
          <a:xfrm>
            <a:off x="7331975" y="1645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 bwMode="auto">
          <a:xfrm>
            <a:off x="8824696" y="1645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Straight Arrow Connector 11"/>
          <p:cNvCxnSpPr>
            <a:stCxn id="6" idx="3"/>
            <a:endCxn id="7" idx="1"/>
          </p:cNvCxnSpPr>
          <p:nvPr/>
        </p:nvCxnSpPr>
        <p:spPr bwMode="auto">
          <a:xfrm>
            <a:off x="10317417" y="1645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 bwMode="auto">
          <a:xfrm>
            <a:off x="7563795" y="2100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Rectangle 38"/>
          <p:cNvSpPr/>
          <p:nvPr/>
        </p:nvSpPr>
        <p:spPr bwMode="auto">
          <a:xfrm>
            <a:off x="6484023" y="2705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BDD Dev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45" name="Elbow Connector 44"/>
          <p:cNvCxnSpPr>
            <a:stCxn id="4" idx="2"/>
            <a:endCxn id="39" idx="0"/>
          </p:cNvCxnSpPr>
          <p:nvPr/>
        </p:nvCxnSpPr>
        <p:spPr bwMode="auto">
          <a:xfrm rot="5400000">
            <a:off x="6523615" y="2321063"/>
            <a:ext cx="768770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Elbow Connector 49"/>
          <p:cNvCxnSpPr>
            <a:stCxn id="5" idx="2"/>
            <a:endCxn id="61" idx="0"/>
          </p:cNvCxnSpPr>
          <p:nvPr/>
        </p:nvCxnSpPr>
        <p:spPr bwMode="auto">
          <a:xfrm rot="16200000" flipH="1">
            <a:off x="8019240" y="2318159"/>
            <a:ext cx="766858" cy="389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6" idx="2"/>
            <a:endCxn id="62" idx="0"/>
          </p:cNvCxnSpPr>
          <p:nvPr/>
        </p:nvCxnSpPr>
        <p:spPr bwMode="auto">
          <a:xfrm rot="16200000" flipH="1">
            <a:off x="9511899" y="2318221"/>
            <a:ext cx="766857" cy="377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10835187" y="2705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BDx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Prod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9" name="Elbow Connector 58"/>
          <p:cNvCxnSpPr>
            <a:stCxn id="7" idx="2"/>
            <a:endCxn id="58" idx="0"/>
          </p:cNvCxnSpPr>
          <p:nvPr/>
        </p:nvCxnSpPr>
        <p:spPr bwMode="auto">
          <a:xfrm rot="5400000">
            <a:off x="10874778" y="2321063"/>
            <a:ext cx="768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10338287" y="1642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87625" y="214405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64738" y="403703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4231" y="240538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7743" y="24096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7980641" y="270353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BDx</a:t>
            </a:r>
            <a:r>
              <a:rPr lang="en-US" sz="16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IST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9473236" y="270353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BDx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 UAT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425595" y="2404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3599" y="240415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8446" y="311993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484024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976745" y="1353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5844" y="1809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08565" y="1809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5678" y="3298389"/>
            <a:ext cx="102463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/>
              <a:t>WAS JAVA 7.31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7974804" y="376646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DD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NWDI</a:t>
            </a:r>
            <a:endParaRPr lang="en-US" sz="11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8" name="Straight Arrow Connector 67"/>
          <p:cNvCxnSpPr>
            <a:stCxn id="66" idx="0"/>
            <a:endCxn id="39" idx="2"/>
          </p:cNvCxnSpPr>
          <p:nvPr/>
        </p:nvCxnSpPr>
        <p:spPr bwMode="auto">
          <a:xfrm flipH="1" flipV="1">
            <a:off x="6907999" y="3288783"/>
            <a:ext cx="1490781" cy="47767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9" name="Straight Arrow Connector 68"/>
          <p:cNvCxnSpPr>
            <a:stCxn id="66" idx="0"/>
            <a:endCxn id="61" idx="2"/>
          </p:cNvCxnSpPr>
          <p:nvPr/>
        </p:nvCxnSpPr>
        <p:spPr bwMode="auto">
          <a:xfrm flipV="1">
            <a:off x="8398780" y="3286871"/>
            <a:ext cx="5837" cy="479589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Straight Arrow Connector 71"/>
          <p:cNvCxnSpPr>
            <a:stCxn id="66" idx="0"/>
            <a:endCxn id="62" idx="2"/>
          </p:cNvCxnSpPr>
          <p:nvPr/>
        </p:nvCxnSpPr>
        <p:spPr bwMode="auto">
          <a:xfrm flipV="1">
            <a:off x="8398780" y="3286870"/>
            <a:ext cx="1498432" cy="47959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/>
          <p:cNvCxnSpPr>
            <a:stCxn id="66" idx="0"/>
            <a:endCxn id="58" idx="2"/>
          </p:cNvCxnSpPr>
          <p:nvPr/>
        </p:nvCxnSpPr>
        <p:spPr bwMode="auto">
          <a:xfrm flipV="1">
            <a:off x="8398780" y="3288783"/>
            <a:ext cx="2860383" cy="47767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5" name="Rectangle 74"/>
          <p:cNvSpPr/>
          <p:nvPr/>
        </p:nvSpPr>
        <p:spPr bwMode="auto">
          <a:xfrm>
            <a:off x="359139" y="1359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76" name="Rectangle 75"/>
          <p:cNvSpPr/>
          <p:nvPr/>
        </p:nvSpPr>
        <p:spPr bwMode="auto">
          <a:xfrm>
            <a:off x="2766222" y="137775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7" name="Rectangle 76"/>
          <p:cNvSpPr/>
          <p:nvPr/>
        </p:nvSpPr>
        <p:spPr bwMode="auto">
          <a:xfrm>
            <a:off x="880460" y="2780916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4710302" y="1359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9" name="Straight Arrow Connector 78"/>
          <p:cNvCxnSpPr>
            <a:stCxn id="75" idx="3"/>
            <a:endCxn id="76" idx="1"/>
          </p:cNvCxnSpPr>
          <p:nvPr/>
        </p:nvCxnSpPr>
        <p:spPr bwMode="auto">
          <a:xfrm>
            <a:off x="1207090" y="1651361"/>
            <a:ext cx="1559132" cy="1805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2" name="Rectangle 81"/>
          <p:cNvSpPr/>
          <p:nvPr/>
        </p:nvSpPr>
        <p:spPr bwMode="auto">
          <a:xfrm>
            <a:off x="532817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2025538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3518259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4883980" y="1669419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6" name="Straight Arrow Connector 85"/>
          <p:cNvCxnSpPr>
            <a:stCxn id="82" idx="3"/>
            <a:endCxn id="83" idx="1"/>
          </p:cNvCxnSpPr>
          <p:nvPr/>
        </p:nvCxnSpPr>
        <p:spPr bwMode="auto">
          <a:xfrm>
            <a:off x="1380768" y="1961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7" name="Straight Arrow Connector 86"/>
          <p:cNvCxnSpPr>
            <a:stCxn id="83" idx="3"/>
            <a:endCxn id="84" idx="1"/>
          </p:cNvCxnSpPr>
          <p:nvPr/>
        </p:nvCxnSpPr>
        <p:spPr bwMode="auto">
          <a:xfrm>
            <a:off x="2873489" y="1961087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8" name="Straight Arrow Connector 87"/>
          <p:cNvCxnSpPr>
            <a:stCxn id="84" idx="3"/>
            <a:endCxn id="85" idx="1"/>
          </p:cNvCxnSpPr>
          <p:nvPr/>
        </p:nvCxnSpPr>
        <p:spPr bwMode="auto">
          <a:xfrm>
            <a:off x="4366210" y="1961087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9" name="Rectangle 28"/>
          <p:cNvSpPr/>
          <p:nvPr/>
        </p:nvSpPr>
        <p:spPr bwMode="auto">
          <a:xfrm>
            <a:off x="4883979" y="271674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Extra </a:t>
            </a:r>
            <a:r>
              <a:rPr lang="en-US" sz="1600" dirty="0" err="1" smtClean="0">
                <a:solidFill>
                  <a:schemeClr val="tx1"/>
                </a:solidFill>
                <a:latin typeface="Arial" charset="0"/>
              </a:rPr>
              <a:t>pratica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0" name="Elbow Connector 89"/>
          <p:cNvCxnSpPr>
            <a:stCxn id="85" idx="2"/>
            <a:endCxn id="89" idx="0"/>
          </p:cNvCxnSpPr>
          <p:nvPr/>
        </p:nvCxnSpPr>
        <p:spPr bwMode="auto">
          <a:xfrm rot="5400000">
            <a:off x="5075963" y="2484747"/>
            <a:ext cx="463986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0" name="Rectangle 28"/>
          <p:cNvSpPr/>
          <p:nvPr/>
        </p:nvSpPr>
        <p:spPr bwMode="auto">
          <a:xfrm>
            <a:off x="6523537" y="533842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 smtClean="0">
                <a:solidFill>
                  <a:schemeClr val="tx1"/>
                </a:solidFill>
                <a:latin typeface="Arial" charset="0"/>
              </a:rPr>
              <a:t>SFDC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20112" y="1106704"/>
            <a:ext cx="346921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Components: FINBASIS  747 and  FSCM_CCD 617 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93950" y="3301893"/>
            <a:ext cx="30903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FSCM-BILLER DIRECT 6.35</a:t>
            </a:r>
          </a:p>
          <a:p>
            <a:pPr algn="ctr"/>
            <a:r>
              <a:rPr lang="en-US" sz="1050" dirty="0"/>
              <a:t>SAP JAVA DATA DICTIONARY 7.30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8809537" y="458893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050" dirty="0" smtClean="0">
                <a:solidFill>
                  <a:schemeClr val="tx1"/>
                </a:solidFill>
                <a:latin typeface="Arial" charset="0"/>
              </a:rPr>
              <a:t>Reverse Proxy Server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4" name="Straight Connector 93"/>
          <p:cNvCxnSpPr/>
          <p:nvPr/>
        </p:nvCxnSpPr>
        <p:spPr bwMode="auto">
          <a:xfrm>
            <a:off x="6395678" y="44890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6421078" y="5276417"/>
            <a:ext cx="5372990" cy="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folHlink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10" name="Elbow Connector 109"/>
          <p:cNvCxnSpPr>
            <a:stCxn id="58" idx="2"/>
            <a:endCxn id="103" idx="0"/>
          </p:cNvCxnSpPr>
          <p:nvPr/>
        </p:nvCxnSpPr>
        <p:spPr bwMode="auto">
          <a:xfrm rot="5400000">
            <a:off x="9596262" y="2926034"/>
            <a:ext cx="1300152" cy="202565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11" name="Elbow Connector 110"/>
          <p:cNvCxnSpPr>
            <a:stCxn id="103" idx="2"/>
            <a:endCxn id="100" idx="3"/>
          </p:cNvCxnSpPr>
          <p:nvPr/>
        </p:nvCxnSpPr>
        <p:spPr bwMode="auto">
          <a:xfrm rot="5400000">
            <a:off x="8073592" y="4470167"/>
            <a:ext cx="457819" cy="1862025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3" name="TextBox 112"/>
          <p:cNvSpPr txBox="1"/>
          <p:nvPr/>
        </p:nvSpPr>
        <p:spPr>
          <a:xfrm>
            <a:off x="437430" y="4563727"/>
            <a:ext cx="5270499" cy="18083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Assembly </a:t>
            </a:r>
            <a:r>
              <a:rPr lang="pt-BR" sz="1200" dirty="0"/>
              <a:t>Developments and transport to other environments (dev, test, QA, prod</a:t>
            </a:r>
            <a:r>
              <a:rPr lang="pt-BR" sz="1200" dirty="0" smtClean="0"/>
              <a:t>)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/>
              <a:t>Configure RFC connection between </a:t>
            </a:r>
            <a:r>
              <a:rPr lang="pt-BR" sz="1200" dirty="0" smtClean="0"/>
              <a:t>BDx Prod </a:t>
            </a:r>
            <a:r>
              <a:rPr lang="pt-BR" sz="1200" dirty="0"/>
              <a:t>and </a:t>
            </a:r>
            <a:r>
              <a:rPr lang="pt-BR" sz="1200" dirty="0" smtClean="0"/>
              <a:t>Foundation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/>
          </a:p>
          <a:p>
            <a:pPr marL="228600" indent="-228600">
              <a:spcAft>
                <a:spcPts val="600"/>
              </a:spcAft>
              <a:buFontTx/>
              <a:buAutoNum type="arabicParenBoth"/>
            </a:pPr>
            <a:r>
              <a:rPr lang="pt-BR" sz="1200" dirty="0"/>
              <a:t>Install Security </a:t>
            </a:r>
            <a:r>
              <a:rPr lang="pt-BR" sz="1200" dirty="0" smtClean="0"/>
              <a:t>Certificate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Publish BD service over proxy on DMZ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Activate SSO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65" name="Cloud Callout 64"/>
          <p:cNvSpPr/>
          <p:nvPr/>
        </p:nvSpPr>
        <p:spPr bwMode="auto">
          <a:xfrm>
            <a:off x="10677824" y="5423389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900" dirty="0" smtClean="0">
                <a:latin typeface="Arial" charset="0"/>
              </a:rPr>
              <a:t>CITIBANK</a:t>
            </a:r>
          </a:p>
        </p:txBody>
      </p:sp>
      <p:cxnSp>
        <p:nvCxnSpPr>
          <p:cNvPr id="67" name="Elbow Connector 66"/>
          <p:cNvCxnSpPr>
            <a:stCxn id="58" idx="3"/>
            <a:endCxn id="65" idx="3"/>
          </p:cNvCxnSpPr>
          <p:nvPr/>
        </p:nvCxnSpPr>
        <p:spPr bwMode="auto">
          <a:xfrm flipH="1">
            <a:off x="11255621" y="2997116"/>
            <a:ext cx="427517" cy="2459511"/>
          </a:xfrm>
          <a:prstGeom prst="bentConnector4">
            <a:avLst>
              <a:gd name="adj1" fmla="val -53472"/>
              <a:gd name="adj2" fmla="val 66774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11287625" y="4720719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WS</a:t>
            </a:r>
          </a:p>
        </p:txBody>
      </p:sp>
      <p:sp>
        <p:nvSpPr>
          <p:cNvPr id="93" name="Cloud Callout 92"/>
          <p:cNvSpPr/>
          <p:nvPr/>
        </p:nvSpPr>
        <p:spPr bwMode="auto">
          <a:xfrm>
            <a:off x="9687224" y="5448789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BRADESCO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B.BRASIL</a:t>
            </a:r>
          </a:p>
        </p:txBody>
      </p:sp>
      <p:cxnSp>
        <p:nvCxnSpPr>
          <p:cNvPr id="95" name="Elbow Connector 94"/>
          <p:cNvCxnSpPr>
            <a:stCxn id="58" idx="3"/>
            <a:endCxn id="93" idx="3"/>
          </p:cNvCxnSpPr>
          <p:nvPr/>
        </p:nvCxnSpPr>
        <p:spPr bwMode="auto">
          <a:xfrm flipH="1">
            <a:off x="10265021" y="2997116"/>
            <a:ext cx="1418117" cy="2484911"/>
          </a:xfrm>
          <a:prstGeom prst="bentConnector4">
            <a:avLst>
              <a:gd name="adj1" fmla="val -16120"/>
              <a:gd name="adj2" fmla="val 552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10308439" y="4588935"/>
            <a:ext cx="58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HTTP post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3950" y="5365950"/>
            <a:ext cx="11859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200" dirty="0"/>
              <a:t>SSO Using </a:t>
            </a:r>
          </a:p>
          <a:p>
            <a:pPr algn="ctr">
              <a:spcAft>
                <a:spcPts val="600"/>
              </a:spcAft>
            </a:pPr>
            <a:r>
              <a:rPr lang="pt-BR" sz="1200" dirty="0"/>
              <a:t>SAML 2.0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96734" y="454598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>
                <a:solidFill>
                  <a:schemeClr val="accent1"/>
                </a:solidFill>
              </a:rPr>
              <a:t>DMZ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38924" y="3686613"/>
            <a:ext cx="583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https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374908" y="3315793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46081" y="443585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(7)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516434" y="5657740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(6)</a:t>
            </a:r>
          </a:p>
        </p:txBody>
      </p:sp>
      <p:sp>
        <p:nvSpPr>
          <p:cNvPr id="114" name="Cloud Callout 113"/>
          <p:cNvSpPr/>
          <p:nvPr/>
        </p:nvSpPr>
        <p:spPr bwMode="auto">
          <a:xfrm>
            <a:off x="3937398" y="3690733"/>
            <a:ext cx="1155593" cy="581328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BRADESCO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800" dirty="0" smtClean="0">
                <a:latin typeface="Arial" charset="0"/>
              </a:rPr>
              <a:t>B.BRASIL</a:t>
            </a:r>
          </a:p>
        </p:txBody>
      </p:sp>
      <p:cxnSp>
        <p:nvCxnSpPr>
          <p:cNvPr id="115" name="Elbow Connector 114"/>
          <p:cNvCxnSpPr>
            <a:stCxn id="89" idx="2"/>
            <a:endCxn id="114" idx="3"/>
          </p:cNvCxnSpPr>
          <p:nvPr/>
        </p:nvCxnSpPr>
        <p:spPr bwMode="auto">
          <a:xfrm rot="5400000">
            <a:off x="4699627" y="3115643"/>
            <a:ext cx="423896" cy="7927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6" name="TextBox 115"/>
          <p:cNvSpPr txBox="1"/>
          <p:nvPr/>
        </p:nvSpPr>
        <p:spPr>
          <a:xfrm>
            <a:off x="5296630" y="3451351"/>
            <a:ext cx="58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HTTP post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52216" y="4340078"/>
            <a:ext cx="76815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dirty="0"/>
              <a:t>WAS </a:t>
            </a:r>
            <a:r>
              <a:rPr lang="pt-BR" sz="900" dirty="0" smtClean="0"/>
              <a:t>JAVA</a:t>
            </a:r>
            <a:endParaRPr lang="pt-BR" sz="900" dirty="0"/>
          </a:p>
        </p:txBody>
      </p:sp>
      <p:cxnSp>
        <p:nvCxnSpPr>
          <p:cNvPr id="119" name="Straight Arrow Connector 118"/>
          <p:cNvCxnSpPr>
            <a:endCxn id="77" idx="1"/>
          </p:cNvCxnSpPr>
          <p:nvPr/>
        </p:nvCxnSpPr>
        <p:spPr bwMode="auto">
          <a:xfrm>
            <a:off x="359139" y="1936677"/>
            <a:ext cx="521321" cy="113590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0" name="Straight Arrow Connector 119"/>
          <p:cNvCxnSpPr>
            <a:endCxn id="78" idx="1"/>
          </p:cNvCxnSpPr>
          <p:nvPr/>
        </p:nvCxnSpPr>
        <p:spPr bwMode="auto">
          <a:xfrm>
            <a:off x="3615013" y="1642504"/>
            <a:ext cx="1095289" cy="8857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981033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TPS </a:t>
            </a:r>
            <a:r>
              <a:rPr lang="pt-BR" dirty="0" err="1" smtClean="0"/>
              <a:t>Pricing</a:t>
            </a:r>
            <a:r>
              <a:rPr lang="pt-BR" dirty="0" smtClean="0"/>
              <a:t>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TPS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200" y="425305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TPS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TPS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0992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 flipV="1">
            <a:off x="3482755" y="1901596"/>
            <a:ext cx="1227547" cy="376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7405" y="2750136"/>
            <a:ext cx="111374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6955804" y="2703677"/>
            <a:ext cx="1606389" cy="14923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7702165" y="3449673"/>
            <a:ext cx="1606389" cy="3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104623" y="2591231"/>
            <a:ext cx="2062372" cy="1261266"/>
          </a:xfrm>
          <a:prstGeom prst="bentConnector3">
            <a:avLst>
              <a:gd name="adj1" fmla="val 61865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125345" y="380319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TPS Pricing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TPS Pricing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4026995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smtClean="0"/>
              <a:t>Commercial Satellite Systems Landscapes</a:t>
            </a:r>
            <a:endParaRPr lang="pt-BR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16971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PecSYN Satellite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230024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722745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215466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581187" y="132400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461844" y="1779988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7954565" y="1779988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077975" y="1615673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570696" y="1615673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063417" y="1615673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309795" y="2071656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520433" y="2728511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VPM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53" name="Elbow Connector 52"/>
          <p:cNvCxnSpPr>
            <a:stCxn id="41" idx="2"/>
            <a:endCxn id="128" idx="0"/>
          </p:cNvCxnSpPr>
          <p:nvPr/>
        </p:nvCxnSpPr>
        <p:spPr bwMode="auto">
          <a:xfrm rot="5400000">
            <a:off x="10432123" y="2474030"/>
            <a:ext cx="1139730" cy="635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232139" y="133035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813672" y="133337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838429" y="184371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583302" y="133035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>
            <a:off x="1080090" y="1622023"/>
            <a:ext cx="1733582" cy="302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16200000" flipH="1">
            <a:off x="4600616" y="2320351"/>
            <a:ext cx="814821" cy="149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084287" y="1613166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95700" y="2939990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28393" y="1962905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177762" y="242430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578748" y="281063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558825" y="5808806"/>
            <a:ext cx="6505812" cy="10482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PecSYN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PecSYN PROD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730021" y="306114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EBI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2" name="Elbow Connector 91"/>
          <p:cNvCxnSpPr>
            <a:stCxn id="91" idx="3"/>
            <a:endCxn id="54" idx="0"/>
          </p:cNvCxnSpPr>
          <p:nvPr/>
        </p:nvCxnSpPr>
        <p:spPr bwMode="auto">
          <a:xfrm>
            <a:off x="1577972" y="3352809"/>
            <a:ext cx="1523988" cy="45420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5001624" y="1943360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730021" y="226035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Pricing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SPoT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2613618" y="3807017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CMT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55" name="Elbow Connector 54"/>
          <p:cNvCxnSpPr>
            <a:stCxn id="49" idx="1"/>
            <a:endCxn id="54" idx="0"/>
          </p:cNvCxnSpPr>
          <p:nvPr/>
        </p:nvCxnSpPr>
        <p:spPr bwMode="auto">
          <a:xfrm rot="10800000" flipV="1">
            <a:off x="3101961" y="3020179"/>
            <a:ext cx="1418473" cy="78683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6" name="Elbow Connector 55"/>
          <p:cNvCxnSpPr>
            <a:stCxn id="62" idx="3"/>
            <a:endCxn id="54" idx="0"/>
          </p:cNvCxnSpPr>
          <p:nvPr/>
        </p:nvCxnSpPr>
        <p:spPr bwMode="auto">
          <a:xfrm flipH="1">
            <a:off x="3101960" y="1622023"/>
            <a:ext cx="2329293" cy="2184994"/>
          </a:xfrm>
          <a:prstGeom prst="bentConnector4">
            <a:avLst>
              <a:gd name="adj1" fmla="val -9814"/>
              <a:gd name="adj2" fmla="val 85556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66" name="Elbow Connector 65"/>
          <p:cNvCxnSpPr>
            <a:stCxn id="50" idx="3"/>
            <a:endCxn id="54" idx="0"/>
          </p:cNvCxnSpPr>
          <p:nvPr/>
        </p:nvCxnSpPr>
        <p:spPr bwMode="auto">
          <a:xfrm>
            <a:off x="1577972" y="2552026"/>
            <a:ext cx="1523988" cy="1254991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6" name="Rectangle 75"/>
          <p:cNvSpPr/>
          <p:nvPr/>
        </p:nvSpPr>
        <p:spPr bwMode="auto">
          <a:xfrm>
            <a:off x="1089630" y="5180947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SIP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77" name="Elbow Connector 76"/>
          <p:cNvCxnSpPr>
            <a:stCxn id="91" idx="1"/>
            <a:endCxn id="76" idx="0"/>
          </p:cNvCxnSpPr>
          <p:nvPr/>
        </p:nvCxnSpPr>
        <p:spPr bwMode="auto">
          <a:xfrm rot="10800000" flipH="1" flipV="1">
            <a:off x="730020" y="3352809"/>
            <a:ext cx="847951" cy="1828138"/>
          </a:xfrm>
          <a:prstGeom prst="bentConnector4">
            <a:avLst>
              <a:gd name="adj1" fmla="val -26959"/>
              <a:gd name="adj2" fmla="val 79111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83" name="Elbow Connector 82"/>
          <p:cNvCxnSpPr>
            <a:stCxn id="54" idx="2"/>
            <a:endCxn id="76" idx="0"/>
          </p:cNvCxnSpPr>
          <p:nvPr/>
        </p:nvCxnSpPr>
        <p:spPr bwMode="auto">
          <a:xfrm rot="5400000">
            <a:off x="1944669" y="4023655"/>
            <a:ext cx="790595" cy="152398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95" name="Flowchart: Document 94"/>
          <p:cNvSpPr/>
          <p:nvPr/>
        </p:nvSpPr>
        <p:spPr bwMode="auto">
          <a:xfrm>
            <a:off x="1632700" y="2314943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6" name="Flowchart: Document 95"/>
          <p:cNvSpPr/>
          <p:nvPr/>
        </p:nvSpPr>
        <p:spPr bwMode="auto">
          <a:xfrm>
            <a:off x="2302965" y="385812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0" name="Flowchart: Document 99"/>
          <p:cNvSpPr/>
          <p:nvPr/>
        </p:nvSpPr>
        <p:spPr bwMode="auto">
          <a:xfrm>
            <a:off x="400739" y="310298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1" name="Elbow Connector 100"/>
          <p:cNvCxnSpPr>
            <a:stCxn id="54" idx="1"/>
            <a:endCxn id="91" idx="2"/>
          </p:cNvCxnSpPr>
          <p:nvPr/>
        </p:nvCxnSpPr>
        <p:spPr bwMode="auto">
          <a:xfrm rot="10800000">
            <a:off x="1153998" y="3644477"/>
            <a:ext cx="1459621" cy="454209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2" name="Rectangle 101"/>
          <p:cNvSpPr/>
          <p:nvPr/>
        </p:nvSpPr>
        <p:spPr bwMode="auto">
          <a:xfrm>
            <a:off x="4718614" y="380411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Extrapratica</a:t>
            </a:r>
            <a:endParaRPr lang="en-US" sz="3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718613" y="462183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SPBF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1" name="Elbow Connector 110"/>
          <p:cNvCxnSpPr>
            <a:stCxn id="54" idx="3"/>
            <a:endCxn id="102" idx="1"/>
          </p:cNvCxnSpPr>
          <p:nvPr/>
        </p:nvCxnSpPr>
        <p:spPr bwMode="auto">
          <a:xfrm flipV="1">
            <a:off x="3590301" y="4095779"/>
            <a:ext cx="1128313" cy="290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23" name="Elbow Connector 122"/>
          <p:cNvCxnSpPr>
            <a:stCxn id="54" idx="3"/>
            <a:endCxn id="110" idx="1"/>
          </p:cNvCxnSpPr>
          <p:nvPr/>
        </p:nvCxnSpPr>
        <p:spPr bwMode="auto">
          <a:xfrm>
            <a:off x="3590301" y="4098685"/>
            <a:ext cx="1128312" cy="81482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26" name="Flowchart: Document 125"/>
          <p:cNvSpPr/>
          <p:nvPr/>
        </p:nvSpPr>
        <p:spPr bwMode="auto">
          <a:xfrm>
            <a:off x="3632461" y="385072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7" name="Flowchart: Document 126"/>
          <p:cNvSpPr/>
          <p:nvPr/>
        </p:nvSpPr>
        <p:spPr bwMode="auto">
          <a:xfrm>
            <a:off x="3678317" y="389603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Flowchart: Document 69"/>
          <p:cNvSpPr/>
          <p:nvPr/>
        </p:nvSpPr>
        <p:spPr bwMode="auto">
          <a:xfrm>
            <a:off x="1600000" y="310874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Flowchart: Document 70"/>
          <p:cNvSpPr/>
          <p:nvPr/>
        </p:nvSpPr>
        <p:spPr bwMode="auto">
          <a:xfrm>
            <a:off x="4221247" y="281255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Flowchart: Document 73"/>
          <p:cNvSpPr/>
          <p:nvPr/>
        </p:nvSpPr>
        <p:spPr bwMode="auto">
          <a:xfrm>
            <a:off x="5493313" y="138152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Flowchart: Document 77"/>
          <p:cNvSpPr/>
          <p:nvPr/>
        </p:nvSpPr>
        <p:spPr bwMode="auto">
          <a:xfrm>
            <a:off x="3147187" y="447635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6720059" y="337970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EBI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4" name="Elbow Connector 93"/>
          <p:cNvCxnSpPr>
            <a:stCxn id="86" idx="3"/>
            <a:endCxn id="104" idx="0"/>
          </p:cNvCxnSpPr>
          <p:nvPr/>
        </p:nvCxnSpPr>
        <p:spPr bwMode="auto">
          <a:xfrm>
            <a:off x="7568010" y="3671368"/>
            <a:ext cx="1523988" cy="724667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3" name="Rectangle 102"/>
          <p:cNvSpPr/>
          <p:nvPr/>
        </p:nvSpPr>
        <p:spPr bwMode="auto">
          <a:xfrm>
            <a:off x="6720059" y="257891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Pricing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SPoT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8603656" y="4396035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CMT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cxnSp>
        <p:nvCxnSpPr>
          <p:cNvPr id="105" name="Elbow Connector 104"/>
          <p:cNvCxnSpPr>
            <a:stCxn id="128" idx="1"/>
            <a:endCxn id="104" idx="0"/>
          </p:cNvCxnSpPr>
          <p:nvPr/>
        </p:nvCxnSpPr>
        <p:spPr bwMode="auto">
          <a:xfrm rot="10800000" flipV="1">
            <a:off x="9091999" y="3338737"/>
            <a:ext cx="1418473" cy="1057297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06" name="Elbow Connector 105"/>
          <p:cNvCxnSpPr>
            <a:stCxn id="103" idx="3"/>
            <a:endCxn id="104" idx="0"/>
          </p:cNvCxnSpPr>
          <p:nvPr/>
        </p:nvCxnSpPr>
        <p:spPr bwMode="auto">
          <a:xfrm>
            <a:off x="7568010" y="2870585"/>
            <a:ext cx="1523988" cy="1525450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07" name="Rectangle 106"/>
          <p:cNvSpPr/>
          <p:nvPr/>
        </p:nvSpPr>
        <p:spPr bwMode="auto">
          <a:xfrm>
            <a:off x="10309347" y="5373400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SIP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08" name="Elbow Connector 107"/>
          <p:cNvCxnSpPr>
            <a:stCxn id="86" idx="1"/>
            <a:endCxn id="107" idx="1"/>
          </p:cNvCxnSpPr>
          <p:nvPr/>
        </p:nvCxnSpPr>
        <p:spPr bwMode="auto">
          <a:xfrm rot="10800000" flipH="1" flipV="1">
            <a:off x="6720059" y="3671368"/>
            <a:ext cx="3589288" cy="1993700"/>
          </a:xfrm>
          <a:prstGeom prst="bentConnector3">
            <a:avLst>
              <a:gd name="adj1" fmla="val -6369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09" name="Elbow Connector 108"/>
          <p:cNvCxnSpPr>
            <a:stCxn id="104" idx="2"/>
            <a:endCxn id="107" idx="1"/>
          </p:cNvCxnSpPr>
          <p:nvPr/>
        </p:nvCxnSpPr>
        <p:spPr bwMode="auto">
          <a:xfrm rot="16200000" flipH="1">
            <a:off x="9357823" y="4713544"/>
            <a:ext cx="685698" cy="1217349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12" name="Flowchart: Document 111"/>
          <p:cNvSpPr/>
          <p:nvPr/>
        </p:nvSpPr>
        <p:spPr bwMode="auto">
          <a:xfrm>
            <a:off x="7622738" y="26335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3" name="Flowchart: Document 112"/>
          <p:cNvSpPr/>
          <p:nvPr/>
        </p:nvSpPr>
        <p:spPr bwMode="auto">
          <a:xfrm>
            <a:off x="8293003" y="444714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Flowchart: Document 113"/>
          <p:cNvSpPr/>
          <p:nvPr/>
        </p:nvSpPr>
        <p:spPr bwMode="auto">
          <a:xfrm>
            <a:off x="6390777" y="342154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5" name="Elbow Connector 114"/>
          <p:cNvCxnSpPr>
            <a:stCxn id="104" idx="1"/>
            <a:endCxn id="86" idx="2"/>
          </p:cNvCxnSpPr>
          <p:nvPr/>
        </p:nvCxnSpPr>
        <p:spPr bwMode="auto">
          <a:xfrm rot="10800000">
            <a:off x="7144036" y="3963035"/>
            <a:ext cx="1459621" cy="724668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22" name="Flowchart: Document 121"/>
          <p:cNvSpPr/>
          <p:nvPr/>
        </p:nvSpPr>
        <p:spPr bwMode="auto">
          <a:xfrm>
            <a:off x="7590038" y="342730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4" name="Flowchart: Document 123"/>
          <p:cNvSpPr/>
          <p:nvPr/>
        </p:nvSpPr>
        <p:spPr bwMode="auto">
          <a:xfrm>
            <a:off x="10211285" y="313111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5" name="Flowchart: Document 124"/>
          <p:cNvSpPr/>
          <p:nvPr/>
        </p:nvSpPr>
        <p:spPr bwMode="auto">
          <a:xfrm>
            <a:off x="9137225" y="506537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10510471" y="3047070"/>
            <a:ext cx="976683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err="1" smtClean="0">
                <a:solidFill>
                  <a:schemeClr val="tx1"/>
                </a:solidFill>
                <a:latin typeface="Arial" charset="0"/>
              </a:rPr>
              <a:t>PecSYN</a:t>
            </a:r>
            <a:endParaRPr lang="en-US" sz="11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VPM PROD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</a:t>
            </a:r>
            <a:r>
              <a:rPr lang="en-US" sz="800" dirty="0">
                <a:solidFill>
                  <a:schemeClr val="tx1"/>
                </a:solidFill>
                <a:latin typeface="Arial" charset="0"/>
              </a:rPr>
              <a:t>Go-live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07061" y="4294391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502048" y="5193819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131" name="Elbow Connector 130"/>
          <p:cNvCxnSpPr>
            <a:stCxn id="41" idx="3"/>
            <a:endCxn id="104" idx="0"/>
          </p:cNvCxnSpPr>
          <p:nvPr/>
        </p:nvCxnSpPr>
        <p:spPr bwMode="auto">
          <a:xfrm flipH="1">
            <a:off x="9091998" y="1615673"/>
            <a:ext cx="2337140" cy="2780362"/>
          </a:xfrm>
          <a:prstGeom prst="bentConnector4">
            <a:avLst>
              <a:gd name="adj1" fmla="val -17496"/>
              <a:gd name="adj2" fmla="val 86743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132" name="Flowchart: Document 131"/>
          <p:cNvSpPr/>
          <p:nvPr/>
        </p:nvSpPr>
        <p:spPr bwMode="auto">
          <a:xfrm>
            <a:off x="11490957" y="139824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82698" y="3040478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98184" y="419776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174" y="5458122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cxnSp>
        <p:nvCxnSpPr>
          <p:cNvPr id="88" name="Straight Arrow Connector 87"/>
          <p:cNvCxnSpPr>
            <a:stCxn id="60" idx="3"/>
            <a:endCxn id="62" idx="1"/>
          </p:cNvCxnSpPr>
          <p:nvPr/>
        </p:nvCxnSpPr>
        <p:spPr bwMode="auto">
          <a:xfrm flipV="1">
            <a:off x="3661623" y="1622023"/>
            <a:ext cx="921679" cy="302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6" name="Straight Arrow Connector 115"/>
          <p:cNvCxnSpPr>
            <a:stCxn id="58" idx="3"/>
            <a:endCxn id="61" idx="1"/>
          </p:cNvCxnSpPr>
          <p:nvPr/>
        </p:nvCxnSpPr>
        <p:spPr bwMode="auto">
          <a:xfrm>
            <a:off x="1080090" y="1622023"/>
            <a:ext cx="758339" cy="513363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7" name="Elbow Connector 116"/>
          <p:cNvCxnSpPr/>
          <p:nvPr/>
        </p:nvCxnSpPr>
        <p:spPr bwMode="auto">
          <a:xfrm>
            <a:off x="2711423" y="2159086"/>
            <a:ext cx="1839106" cy="64533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18" name="Elbow Connector 117"/>
          <p:cNvCxnSpPr>
            <a:stCxn id="61" idx="2"/>
          </p:cNvCxnSpPr>
          <p:nvPr/>
        </p:nvCxnSpPr>
        <p:spPr bwMode="auto">
          <a:xfrm rot="16200000" flipH="1">
            <a:off x="1992200" y="2697257"/>
            <a:ext cx="1532364" cy="99195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119" name="Elbow Connector 118"/>
          <p:cNvCxnSpPr/>
          <p:nvPr/>
        </p:nvCxnSpPr>
        <p:spPr bwMode="auto">
          <a:xfrm rot="5400000">
            <a:off x="663849" y="3753532"/>
            <a:ext cx="2752407" cy="12168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pic>
        <p:nvPicPr>
          <p:cNvPr id="4" name="Picture 3">
            <a:hlinkClick r:id="rId2" action="ppaction://hlinkfile" tooltip="Excel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973" y="2026079"/>
            <a:ext cx="486672" cy="486672"/>
          </a:xfrm>
          <a:prstGeom prst="rect">
            <a:avLst/>
          </a:prstGeom>
        </p:spPr>
      </p:pic>
      <p:pic>
        <p:nvPicPr>
          <p:cNvPr id="120" name="Picture 119">
            <a:hlinkClick r:id="rId2" action="ppaction://hlinkfile" tooltip="Excel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302" y="2240598"/>
            <a:ext cx="486672" cy="48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273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977105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rial" charset="0"/>
              </a:rPr>
              <a:t>Support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861083" y="1600717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634755" y="3349930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892385"/>
            <a:ext cx="1653993" cy="12976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endCxn id="61" idx="0"/>
          </p:cNvCxnSpPr>
          <p:nvPr/>
        </p:nvCxnSpPr>
        <p:spPr bwMode="auto">
          <a:xfrm>
            <a:off x="634755" y="2190677"/>
            <a:ext cx="423976" cy="1159253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>
            <a:off x="3709034" y="1892385"/>
            <a:ext cx="1001268" cy="12976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9287" y="2752019"/>
            <a:ext cx="1109982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860057" y="1799423"/>
            <a:ext cx="693787" cy="238826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16200000" flipH="1">
            <a:off x="8606418" y="2545784"/>
            <a:ext cx="693787" cy="8955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9008877" y="2582883"/>
            <a:ext cx="1149770" cy="365361"/>
          </a:xfrm>
          <a:prstGeom prst="bentConnector3">
            <a:avLst>
              <a:gd name="adj1" fmla="val 71282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9037610" y="3122555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Plussoft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Plussoft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2555508" y="352624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Plussoft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Support</a:t>
            </a:r>
          </a:p>
        </p:txBody>
      </p:sp>
      <p:cxnSp>
        <p:nvCxnSpPr>
          <p:cNvPr id="54" name="Elbow Connector 53"/>
          <p:cNvCxnSpPr>
            <a:stCxn id="60" idx="2"/>
            <a:endCxn id="50" idx="0"/>
          </p:cNvCxnSpPr>
          <p:nvPr/>
        </p:nvCxnSpPr>
        <p:spPr bwMode="auto">
          <a:xfrm rot="5400000">
            <a:off x="2461176" y="2702361"/>
            <a:ext cx="1342193" cy="30557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61" idx="3"/>
            <a:endCxn id="50" idx="0"/>
          </p:cNvCxnSpPr>
          <p:nvPr/>
        </p:nvCxnSpPr>
        <p:spPr bwMode="auto">
          <a:xfrm flipV="1">
            <a:off x="1482706" y="3526245"/>
            <a:ext cx="1496778" cy="115353"/>
          </a:xfrm>
          <a:prstGeom prst="bentConnector4">
            <a:avLst>
              <a:gd name="adj1" fmla="val 35837"/>
              <a:gd name="adj2" fmla="val 451023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0" name="Flowchart: Document 69"/>
          <p:cNvSpPr/>
          <p:nvPr/>
        </p:nvSpPr>
        <p:spPr bwMode="auto">
          <a:xfrm>
            <a:off x="3148343" y="308129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733233" y="250607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59" name="Title 1"/>
          <p:cNvSpPr txBox="1">
            <a:spLocks/>
          </p:cNvSpPr>
          <p:nvPr/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2pPr>
            <a:lvl3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3pPr>
            <a:lvl4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4pPr>
            <a:lvl5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5pPr>
            <a:lvl6pPr marL="342907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6pPr>
            <a:lvl7pPr marL="685814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7pPr>
            <a:lvl8pPr marL="1028720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8pPr>
            <a:lvl9pPr marL="1371628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kern="0" smtClean="0"/>
              <a:t>Plussoft Satellite Landscape</a:t>
            </a:r>
            <a:endParaRPr lang="pt-BR" kern="0" dirty="0"/>
          </a:p>
        </p:txBody>
      </p:sp>
      <p:pic>
        <p:nvPicPr>
          <p:cNvPr id="2" name="Picture 1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66" y="2458867"/>
            <a:ext cx="609600" cy="609600"/>
          </a:xfrm>
          <a:prstGeom prst="rect">
            <a:avLst/>
          </a:prstGeom>
        </p:spPr>
      </p:pic>
      <p:pic>
        <p:nvPicPr>
          <p:cNvPr id="56" name="Picture 55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675" y="248449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8346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54546" y="901699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9" name="Rectangle 48"/>
          <p:cNvSpPr/>
          <p:nvPr/>
        </p:nvSpPr>
        <p:spPr bwMode="auto">
          <a:xfrm>
            <a:off x="4726013" y="341002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SPoT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9108726" y="3633024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SPoT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9074727" y="2196853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>
                <a:solidFill>
                  <a:schemeClr val="tx1"/>
                </a:solidFill>
                <a:latin typeface="Arial" charset="0"/>
              </a:rPr>
              <a:t>SPoT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3047973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1781177" y="2969475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23181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>
            <a:off x="1207090" y="1905361"/>
            <a:ext cx="1840883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574087" cy="1355782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>
            <a:off x="3895924" y="1905361"/>
            <a:ext cx="827257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16200000" flipH="1">
            <a:off x="4542075" y="2802110"/>
            <a:ext cx="1212997" cy="283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9922678" y="2117043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680053" y="369450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8680054" y="218698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err="1" smtClean="0"/>
              <a:t>Cutover</a:t>
            </a:r>
            <a:r>
              <a:rPr lang="pt-BR" sz="1200" dirty="0" smtClean="0"/>
              <a:t> </a:t>
            </a:r>
            <a:r>
              <a:rPr lang="pt-BR" sz="1200" dirty="0" err="1" smtClean="0"/>
              <a:t>steps</a:t>
            </a:r>
            <a:r>
              <a:rPr lang="pt-BR" sz="1200" dirty="0" smtClean="0"/>
              <a:t>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 err="1" smtClean="0"/>
              <a:t>Cut</a:t>
            </a:r>
            <a:r>
              <a:rPr lang="pt-BR" sz="1200" dirty="0" smtClean="0"/>
              <a:t>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err="1" smtClean="0"/>
              <a:t>Implement</a:t>
            </a:r>
            <a:r>
              <a:rPr lang="pt-BR" sz="1200" dirty="0" smtClean="0"/>
              <a:t> Changes in </a:t>
            </a:r>
            <a:r>
              <a:rPr lang="pt-BR" sz="1200" dirty="0" err="1" smtClean="0"/>
              <a:t>SPoT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err="1" smtClean="0"/>
              <a:t>Run</a:t>
            </a:r>
            <a:r>
              <a:rPr lang="pt-BR" sz="1200" dirty="0" smtClean="0"/>
              <a:t>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50" name="Rectangle 49"/>
          <p:cNvSpPr/>
          <p:nvPr/>
        </p:nvSpPr>
        <p:spPr bwMode="auto">
          <a:xfrm>
            <a:off x="3047972" y="422571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SPoT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Support</a:t>
            </a:r>
          </a:p>
        </p:txBody>
      </p:sp>
      <p:cxnSp>
        <p:nvCxnSpPr>
          <p:cNvPr id="54" name="Elbow Connector 53"/>
          <p:cNvCxnSpPr>
            <a:stCxn id="60" idx="2"/>
            <a:endCxn id="50" idx="0"/>
          </p:cNvCxnSpPr>
          <p:nvPr/>
        </p:nvCxnSpPr>
        <p:spPr bwMode="auto">
          <a:xfrm rot="5400000">
            <a:off x="2457605" y="3211372"/>
            <a:ext cx="2028688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55" name="Elbow Connector 54"/>
          <p:cNvCxnSpPr>
            <a:stCxn id="61" idx="2"/>
            <a:endCxn id="50" idx="0"/>
          </p:cNvCxnSpPr>
          <p:nvPr/>
        </p:nvCxnSpPr>
        <p:spPr bwMode="auto">
          <a:xfrm rot="16200000" flipH="1">
            <a:off x="2502097" y="3255865"/>
            <a:ext cx="672906" cy="126679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0" name="Flowchart: Document 69"/>
          <p:cNvSpPr/>
          <p:nvPr/>
        </p:nvSpPr>
        <p:spPr bwMode="auto">
          <a:xfrm>
            <a:off x="3595591" y="3840280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733233" y="2506074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59" name="Title 1"/>
          <p:cNvSpPr txBox="1">
            <a:spLocks/>
          </p:cNvSpPr>
          <p:nvPr/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2pPr>
            <a:lvl3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3pPr>
            <a:lvl4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4pPr>
            <a:lvl5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5pPr>
            <a:lvl6pPr marL="342907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6pPr>
            <a:lvl7pPr marL="685814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7pPr>
            <a:lvl8pPr marL="1028720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8pPr>
            <a:lvl9pPr marL="1371628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kern="0" dirty="0" err="1" smtClean="0"/>
              <a:t>SPoT</a:t>
            </a:r>
            <a:r>
              <a:rPr lang="pt-BR" kern="0" dirty="0" smtClean="0"/>
              <a:t> </a:t>
            </a:r>
            <a:r>
              <a:rPr lang="pt-BR" kern="0" dirty="0" err="1" smtClean="0"/>
              <a:t>Satellite</a:t>
            </a:r>
            <a:r>
              <a:rPr lang="pt-BR" kern="0" dirty="0" smtClean="0"/>
              <a:t> </a:t>
            </a:r>
            <a:r>
              <a:rPr lang="pt-BR" kern="0" dirty="0" err="1" smtClean="0"/>
              <a:t>Landscape</a:t>
            </a:r>
            <a:endParaRPr lang="pt-BR" kern="0" dirty="0"/>
          </a:p>
        </p:txBody>
      </p:sp>
      <p:sp>
        <p:nvSpPr>
          <p:cNvPr id="76" name="Rectangle 75"/>
          <p:cNvSpPr/>
          <p:nvPr/>
        </p:nvSpPr>
        <p:spPr bwMode="auto">
          <a:xfrm>
            <a:off x="6845775" y="219685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Vendavo</a:t>
            </a:r>
            <a:endParaRPr lang="en-US" sz="7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7" name="Elbow Connector 76"/>
          <p:cNvCxnSpPr>
            <a:stCxn id="76" idx="3"/>
            <a:endCxn id="52" idx="1"/>
          </p:cNvCxnSpPr>
          <p:nvPr/>
        </p:nvCxnSpPr>
        <p:spPr bwMode="auto">
          <a:xfrm>
            <a:off x="7693726" y="2488520"/>
            <a:ext cx="1381001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8" name="Rectangle 77"/>
          <p:cNvSpPr/>
          <p:nvPr/>
        </p:nvSpPr>
        <p:spPr bwMode="auto">
          <a:xfrm>
            <a:off x="6820885" y="364238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Vendavo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IST/UAT</a:t>
            </a:r>
            <a:endParaRPr lang="en-US" sz="7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3" name="Elbow Connector 82"/>
          <p:cNvCxnSpPr>
            <a:stCxn id="78" idx="3"/>
            <a:endCxn id="51" idx="1"/>
          </p:cNvCxnSpPr>
          <p:nvPr/>
        </p:nvCxnSpPr>
        <p:spPr bwMode="auto">
          <a:xfrm flipV="1">
            <a:off x="7668836" y="3924692"/>
            <a:ext cx="1439890" cy="935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pic>
        <p:nvPicPr>
          <p:cNvPr id="2" name="Picture 1">
            <a:hlinkClick r:id="rId2" action="ppaction://hlinkfile" tooltip="Excel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377" y="2568799"/>
            <a:ext cx="473402" cy="549559"/>
          </a:xfrm>
          <a:prstGeom prst="rect">
            <a:avLst/>
          </a:prstGeom>
        </p:spPr>
      </p:pic>
      <p:pic>
        <p:nvPicPr>
          <p:cNvPr id="35" name="Picture 34">
            <a:hlinkClick r:id="rId2" action="ppaction://hlinkfile" tooltip="Excel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484" y="2626008"/>
            <a:ext cx="473402" cy="549559"/>
          </a:xfrm>
          <a:prstGeom prst="rect">
            <a:avLst/>
          </a:prstGeom>
        </p:spPr>
      </p:pic>
      <p:pic>
        <p:nvPicPr>
          <p:cNvPr id="36" name="Picture 35">
            <a:hlinkClick r:id="rId2" action="ppaction://hlinkfile" tooltip="Excel integration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484" y="4048961"/>
            <a:ext cx="473402" cy="54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257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201540" y="847165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9" name="Rectangle 48"/>
          <p:cNvSpPr/>
          <p:nvPr/>
        </p:nvSpPr>
        <p:spPr bwMode="auto">
          <a:xfrm>
            <a:off x="1030310" y="1698332"/>
            <a:ext cx="13754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Teamspace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7007301" y="1698331"/>
            <a:ext cx="13754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Teamspace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474464" y="1685025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err="1" smtClean="0"/>
              <a:t>Cutover</a:t>
            </a:r>
            <a:r>
              <a:rPr lang="pt-BR" sz="1200" dirty="0" smtClean="0"/>
              <a:t> </a:t>
            </a:r>
            <a:r>
              <a:rPr lang="pt-BR" sz="1200" dirty="0" err="1" smtClean="0"/>
              <a:t>steps</a:t>
            </a:r>
            <a:r>
              <a:rPr lang="pt-BR" sz="1200" dirty="0" smtClean="0"/>
              <a:t>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 err="1" smtClean="0"/>
              <a:t>Cut</a:t>
            </a:r>
            <a:r>
              <a:rPr lang="pt-BR" sz="1200" dirty="0" smtClean="0"/>
              <a:t>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Teamspace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err="1" smtClean="0"/>
              <a:t>Run</a:t>
            </a:r>
            <a:r>
              <a:rPr lang="pt-BR" sz="1200" dirty="0" smtClean="0"/>
              <a:t> Smoke test</a:t>
            </a:r>
          </a:p>
        </p:txBody>
      </p:sp>
      <p:sp>
        <p:nvSpPr>
          <p:cNvPr id="59" name="Title 1"/>
          <p:cNvSpPr txBox="1">
            <a:spLocks/>
          </p:cNvSpPr>
          <p:nvPr/>
        </p:nvSpPr>
        <p:spPr bwMode="auto">
          <a:xfrm>
            <a:off x="497417" y="88900"/>
            <a:ext cx="11271251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2pPr>
            <a:lvl3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3pPr>
            <a:lvl4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4pPr>
            <a:lvl5pPr algn="l" defTabSz="717962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5pPr>
            <a:lvl6pPr marL="342907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6pPr>
            <a:lvl7pPr marL="685814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7pPr>
            <a:lvl8pPr marL="1028720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8pPr>
            <a:lvl9pPr marL="1371628" algn="l" defTabSz="717962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661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kern="0" dirty="0" err="1" smtClean="0"/>
              <a:t>Teamspace</a:t>
            </a:r>
            <a:r>
              <a:rPr lang="pt-BR" kern="0" dirty="0" smtClean="0"/>
              <a:t> </a:t>
            </a:r>
            <a:r>
              <a:rPr lang="pt-BR" kern="0" dirty="0" err="1" smtClean="0"/>
              <a:t>Satellite</a:t>
            </a:r>
            <a:r>
              <a:rPr lang="pt-BR" kern="0" dirty="0" smtClean="0"/>
              <a:t> </a:t>
            </a:r>
            <a:r>
              <a:rPr lang="pt-BR" kern="0" dirty="0" err="1" smtClean="0"/>
              <a:t>Landscape</a:t>
            </a:r>
            <a:endParaRPr lang="pt-BR" kern="0" dirty="0"/>
          </a:p>
        </p:txBody>
      </p:sp>
      <p:sp>
        <p:nvSpPr>
          <p:cNvPr id="37" name="TextBox 36"/>
          <p:cNvSpPr txBox="1"/>
          <p:nvPr/>
        </p:nvSpPr>
        <p:spPr>
          <a:xfrm>
            <a:off x="2405395" y="1698331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007301" y="2596243"/>
            <a:ext cx="1876619" cy="48205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2000" dirty="0" smtClean="0"/>
              <a:t>No changes</a:t>
            </a:r>
            <a:endParaRPr lang="en-US" sz="2000" dirty="0" err="1" smtClean="0"/>
          </a:p>
        </p:txBody>
      </p:sp>
    </p:spTree>
    <p:extLst>
      <p:ext uri="{BB962C8B-B14F-4D97-AF65-F5344CB8AC3E}">
        <p14:creationId xmlns:p14="http://schemas.microsoft.com/office/powerpoint/2010/main" val="4196885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Disaggregation</a:t>
            </a:r>
            <a:r>
              <a:rPr lang="pt-BR" dirty="0" smtClean="0"/>
              <a:t>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BW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628251" y="4079252"/>
            <a:ext cx="1000745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Disaggr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.</a:t>
            </a:r>
            <a:br>
              <a:rPr lang="en-US" sz="1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9554648" y="3679324"/>
            <a:ext cx="1000745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Disaggr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.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9849269" y="2396430"/>
            <a:ext cx="1488646" cy="107714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04647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>
            <a:off x="3482755" y="1905360"/>
            <a:ext cx="1221892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16200000" flipH="1">
            <a:off x="4187511" y="3138139"/>
            <a:ext cx="1882224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0615926" y="3671781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372658" y="336041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236387" y="3400864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</a:t>
            </a:r>
            <a:r>
              <a:rPr lang="pt-BR" sz="1200" dirty="0" err="1" smtClean="0"/>
              <a:t>Cut</a:t>
            </a:r>
            <a:r>
              <a:rPr lang="pt-BR" sz="1200" dirty="0" smtClean="0"/>
              <a:t> Off</a:t>
            </a: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</a:t>
            </a:r>
            <a:r>
              <a:rPr lang="pt-BR" sz="1200" dirty="0" err="1" smtClean="0"/>
              <a:t>Disaggregation</a:t>
            </a:r>
            <a:endParaRPr lang="pt-BR" sz="1200" dirty="0" smtClean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err="1" smtClean="0"/>
              <a:t>zTCD</a:t>
            </a:r>
            <a:endParaRPr lang="pt-BR" sz="1200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5132165" y="2920508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001822" y="374192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SPBF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2001821" y="4765418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CMT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6" name="Flowchart: Document 65"/>
          <p:cNvSpPr/>
          <p:nvPr/>
        </p:nvSpPr>
        <p:spPr bwMode="auto">
          <a:xfrm>
            <a:off x="5297351" y="3814089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0" name="Elbow Connector 69"/>
          <p:cNvCxnSpPr>
            <a:stCxn id="55" idx="3"/>
            <a:endCxn id="49" idx="1"/>
          </p:cNvCxnSpPr>
          <p:nvPr/>
        </p:nvCxnSpPr>
        <p:spPr bwMode="auto">
          <a:xfrm>
            <a:off x="2849773" y="4033591"/>
            <a:ext cx="1778478" cy="33732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Elbow Connector 70"/>
          <p:cNvCxnSpPr>
            <a:stCxn id="59" idx="3"/>
            <a:endCxn id="49" idx="1"/>
          </p:cNvCxnSpPr>
          <p:nvPr/>
        </p:nvCxnSpPr>
        <p:spPr bwMode="auto">
          <a:xfrm flipV="1">
            <a:off x="2849772" y="4370920"/>
            <a:ext cx="1778479" cy="68616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4" name="Flowchart: Document 73"/>
          <p:cNvSpPr/>
          <p:nvPr/>
        </p:nvSpPr>
        <p:spPr bwMode="auto">
          <a:xfrm>
            <a:off x="4264417" y="4509507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8297689" y="264333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IBP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7" name="Elbow Connector 76"/>
          <p:cNvCxnSpPr>
            <a:stCxn id="76" idx="3"/>
            <a:endCxn id="52" idx="0"/>
          </p:cNvCxnSpPr>
          <p:nvPr/>
        </p:nvCxnSpPr>
        <p:spPr bwMode="auto">
          <a:xfrm>
            <a:off x="9145640" y="2935001"/>
            <a:ext cx="909381" cy="744323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Elbow Connector 77"/>
          <p:cNvCxnSpPr>
            <a:stCxn id="52" idx="1"/>
            <a:endCxn id="76" idx="2"/>
          </p:cNvCxnSpPr>
          <p:nvPr/>
        </p:nvCxnSpPr>
        <p:spPr bwMode="auto">
          <a:xfrm rot="10800000">
            <a:off x="8721666" y="3226668"/>
            <a:ext cx="832983" cy="744324"/>
          </a:xfrm>
          <a:prstGeom prst="bentConnector2">
            <a:avLst/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956239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err="1" smtClean="0">
                <a:solidFill>
                  <a:schemeClr val="accent6"/>
                </a:solidFill>
              </a:rPr>
              <a:t>Nutrade</a:t>
            </a:r>
            <a:r>
              <a:rPr lang="pt-BR" sz="2400" dirty="0" smtClean="0">
                <a:solidFill>
                  <a:schemeClr val="accent6"/>
                </a:solidFill>
              </a:rPr>
              <a:t> Satellite Systems Landscapes</a:t>
            </a:r>
            <a:endParaRPr lang="pt-BR" sz="2400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2197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 smtClean="0"/>
              <a:t>Nutrace Satellite Systems Landscapes</a:t>
            </a:r>
            <a:endParaRPr lang="pt-BR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5" name="Rectangle 4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7" name="Rectangle 6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13" name="Straight Arrow Connector 12"/>
          <p:cNvCxnSpPr>
            <a:stCxn id="7" idx="3"/>
            <a:endCxn id="8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4" name="Straight Arrow Connector 13"/>
          <p:cNvCxnSpPr>
            <a:stCxn id="8" idx="3"/>
            <a:endCxn id="9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>
            <a:stCxn id="9" idx="3"/>
            <a:endCxn id="10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6" name="Straight Arrow Connector 15"/>
          <p:cNvCxnSpPr>
            <a:stCxn id="11" idx="3"/>
            <a:endCxn id="12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7" name="Rectangle 16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Nutrace</a:t>
            </a:r>
            <a:r>
              <a:rPr lang="en-US" sz="800" dirty="0" err="1" smtClean="0">
                <a:solidFill>
                  <a:schemeClr val="tx1"/>
                </a:solidFill>
                <a:latin typeface="Arial" charset="0"/>
              </a:rPr>
              <a:t>before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8081200" y="425305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Nutrace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Nutrace</a:t>
            </a:r>
            <a:r>
              <a:rPr lang="en-US" sz="800" dirty="0" err="1" smtClean="0">
                <a:solidFill>
                  <a:schemeClr val="tx1"/>
                </a:solidFill>
                <a:latin typeface="Arial" charset="0"/>
              </a:rPr>
              <a:t>after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20" name="Elbow Connector 19"/>
          <p:cNvCxnSpPr>
            <a:stCxn id="10" idx="2"/>
            <a:endCxn id="19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4710302" y="161369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25" name="Straight Arrow Connector 24"/>
          <p:cNvCxnSpPr>
            <a:stCxn id="21" idx="3"/>
            <a:endCxn id="22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6" name="Straight Arrow Connector 25"/>
          <p:cNvCxnSpPr>
            <a:stCxn id="21" idx="3"/>
            <a:endCxn id="23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7" name="Straight Arrow Connector 26"/>
          <p:cNvCxnSpPr>
            <a:stCxn id="22" idx="3"/>
            <a:endCxn id="24" idx="1"/>
          </p:cNvCxnSpPr>
          <p:nvPr/>
        </p:nvCxnSpPr>
        <p:spPr bwMode="auto">
          <a:xfrm flipV="1">
            <a:off x="3482755" y="1905359"/>
            <a:ext cx="1227547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8" name="Elbow Connector 27"/>
          <p:cNvCxnSpPr>
            <a:stCxn id="24" idx="2"/>
            <a:endCxn id="17" idx="0"/>
          </p:cNvCxnSpPr>
          <p:nvPr/>
        </p:nvCxnSpPr>
        <p:spPr bwMode="auto">
          <a:xfrm rot="5400000">
            <a:off x="4579286" y="2752018"/>
            <a:ext cx="110998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31" name="Elbow Connector 30"/>
          <p:cNvCxnSpPr>
            <a:stCxn id="11" idx="2"/>
            <a:endCxn id="18" idx="0"/>
          </p:cNvCxnSpPr>
          <p:nvPr/>
        </p:nvCxnSpPr>
        <p:spPr bwMode="auto">
          <a:xfrm rot="16200000" flipH="1">
            <a:off x="6955804" y="2703677"/>
            <a:ext cx="1606389" cy="14923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32" name="Elbow Connector 31"/>
          <p:cNvCxnSpPr>
            <a:stCxn id="12" idx="2"/>
            <a:endCxn id="18" idx="0"/>
          </p:cNvCxnSpPr>
          <p:nvPr/>
        </p:nvCxnSpPr>
        <p:spPr bwMode="auto">
          <a:xfrm rot="5400000">
            <a:off x="7702165" y="3449673"/>
            <a:ext cx="1606389" cy="3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33" name="Elbow Connector 32"/>
          <p:cNvCxnSpPr>
            <a:stCxn id="9" idx="2"/>
            <a:endCxn id="18" idx="0"/>
          </p:cNvCxnSpPr>
          <p:nvPr/>
        </p:nvCxnSpPr>
        <p:spPr bwMode="auto">
          <a:xfrm rot="5400000">
            <a:off x="8104623" y="2591231"/>
            <a:ext cx="2062372" cy="1261266"/>
          </a:xfrm>
          <a:prstGeom prst="bentConnector3">
            <a:avLst>
              <a:gd name="adj1" fmla="val 61865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38" name="Flowchart: Document 37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Flowchart: Document 38"/>
          <p:cNvSpPr/>
          <p:nvPr/>
        </p:nvSpPr>
        <p:spPr bwMode="auto">
          <a:xfrm>
            <a:off x="8646418" y="400271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Flowchart: Document 39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GD Nutrade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GD Nutrade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pic>
        <p:nvPicPr>
          <p:cNvPr id="44" name="Content Placeholder 43">
            <a:hlinkClick r:id="rId2" action="ppaction://hlinkfile" tooltip="Flat file integration"/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153" y="2425225"/>
            <a:ext cx="609600" cy="609600"/>
          </a:xfrm>
        </p:spPr>
      </p:pic>
      <p:pic>
        <p:nvPicPr>
          <p:cNvPr id="45" name="Content Placeholder 43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63678" y="2499142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066857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Webmap</a:t>
            </a:r>
            <a:r>
              <a:rPr lang="pt-BR" dirty="0" smtClean="0"/>
              <a:t> &amp; </a:t>
            </a:r>
            <a:r>
              <a:rPr lang="pt-BR" dirty="0" err="1" smtClean="0"/>
              <a:t>Feedsystem</a:t>
            </a:r>
            <a:r>
              <a:rPr lang="pt-BR" dirty="0" smtClean="0"/>
              <a:t>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49696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Webmap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564" y="425305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Webmap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5748" y="3372326"/>
            <a:ext cx="850390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200" dirty="0" err="1" smtClean="0">
                <a:solidFill>
                  <a:schemeClr val="tx1"/>
                </a:solidFill>
                <a:latin typeface="Arial" charset="0"/>
              </a:rPr>
              <a:t>Webmap</a:t>
            </a:r>
            <a:r>
              <a:rPr lang="en-US" sz="12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40729" y="2780892"/>
            <a:ext cx="1181648" cy="12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 flipV="1">
            <a:off x="3482755" y="1905359"/>
            <a:ext cx="1227547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57943" y="2773361"/>
            <a:ext cx="11526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90368" y="3221864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6955986" y="2703495"/>
            <a:ext cx="1606389" cy="14927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7702347" y="3449855"/>
            <a:ext cx="1606389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104805" y="2591413"/>
            <a:ext cx="2062372" cy="1260902"/>
          </a:xfrm>
          <a:prstGeom prst="bentConnector3">
            <a:avLst>
              <a:gd name="adj1" fmla="val 6124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646418" y="400271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WebMap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WebMap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pic>
        <p:nvPicPr>
          <p:cNvPr id="3" name="Picture 2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655" y="2488693"/>
            <a:ext cx="609600" cy="609600"/>
          </a:xfrm>
          <a:prstGeom prst="rect">
            <a:avLst/>
          </a:prstGeom>
        </p:spPr>
      </p:pic>
      <p:pic>
        <p:nvPicPr>
          <p:cNvPr id="50" name="Picture 49">
            <a:hlinkClick r:id="rId2" action="ppaction://hlinkfile" tooltip="Flat file integration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249" y="248436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1618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Gestão de Despesas Operacionais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710302" y="330701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GD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Nutrade</a:t>
            </a:r>
            <a:r>
              <a:rPr lang="en-US" sz="800" dirty="0" err="1" smtClean="0">
                <a:solidFill>
                  <a:schemeClr val="tx1"/>
                </a:solidFill>
                <a:latin typeface="Arial" charset="0"/>
              </a:rPr>
              <a:t>before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200" y="4253050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GD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Nutrade</a:t>
            </a: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8187" y="3340448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GD </a:t>
            </a:r>
            <a:r>
              <a:rPr lang="en-US" sz="1400" dirty="0" err="1" smtClean="0">
                <a:solidFill>
                  <a:schemeClr val="tx1"/>
                </a:solidFill>
                <a:latin typeface="Arial" charset="0"/>
              </a:rPr>
              <a:t>Nutrade</a:t>
            </a:r>
            <a:r>
              <a:rPr lang="en-US" sz="800" dirty="0" err="1" smtClean="0">
                <a:solidFill>
                  <a:schemeClr val="tx1"/>
                </a:solidFill>
                <a:latin typeface="Arial" charset="0"/>
              </a:rPr>
              <a:t>after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57278" y="2765563"/>
            <a:ext cx="1149770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710302" y="1613691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 flipV="1">
            <a:off x="3482755" y="1905359"/>
            <a:ext cx="1227547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579286" y="2752018"/>
            <a:ext cx="1109984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22700" y="3223328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6955804" y="2703677"/>
            <a:ext cx="1606389" cy="149235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7702165" y="3449673"/>
            <a:ext cx="1606389" cy="36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104623" y="2591231"/>
            <a:ext cx="2062372" cy="1261266"/>
          </a:xfrm>
          <a:prstGeom prst="bentConnector3">
            <a:avLst>
              <a:gd name="adj1" fmla="val 61865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7" name="Flowchart: Document 86"/>
          <p:cNvSpPr/>
          <p:nvPr/>
        </p:nvSpPr>
        <p:spPr bwMode="auto">
          <a:xfrm>
            <a:off x="5291355" y="304220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646418" y="4002712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GD Nutrade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GD Nutrade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76943260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/>
        </p:nvGrpSpPr>
        <p:grpSpPr>
          <a:xfrm>
            <a:off x="137443" y="1003673"/>
            <a:ext cx="11863004" cy="5190007"/>
            <a:chOff x="154546" y="901700"/>
            <a:chExt cx="11863004" cy="5112734"/>
          </a:xfrm>
        </p:grpSpPr>
        <p:sp>
          <p:nvSpPr>
            <p:cNvPr id="98" name="Rectangle 97"/>
            <p:cNvSpPr/>
            <p:nvPr/>
          </p:nvSpPr>
          <p:spPr bwMode="auto">
            <a:xfrm>
              <a:off x="6131904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TO-BE</a:t>
              </a: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54546" y="901700"/>
              <a:ext cx="5885646" cy="51127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pt-BR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AS</a:t>
              </a:r>
              <a:r>
                <a:rPr lang="pt-BR" sz="2000" dirty="0" smtClean="0">
                  <a:latin typeface="Arial" charset="0"/>
                </a:rPr>
                <a:t>-IS</a:t>
              </a:r>
              <a:endPara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Monitoramento Logístico </a:t>
            </a:r>
            <a:r>
              <a:rPr lang="pt-BR" dirty="0" err="1" smtClean="0"/>
              <a:t>Satellite</a:t>
            </a:r>
            <a:r>
              <a:rPr lang="pt-BR" dirty="0" smtClean="0"/>
              <a:t> Landscape</a:t>
            </a:r>
            <a:endParaRPr lang="pt-BR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6357024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EhP7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SP12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7849745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FFT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9342466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FFU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chemeClr val="tx1"/>
                </a:solidFill>
                <a:latin typeface="Arial" charset="0"/>
              </a:rPr>
              <a:t>EhP7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10708187" y="160734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FEP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EhP7 SP12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588844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FBD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rgbClr val="626469"/>
                </a:solidFill>
                <a:latin typeface="Arial" charset="0"/>
              </a:rPr>
              <a:t>EhP7 SP12</a:t>
            </a:r>
            <a:endParaRPr lang="en-US" sz="900" dirty="0">
              <a:solidFill>
                <a:srgbClr val="626469"/>
              </a:solidFill>
              <a:latin typeface="Arial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8081565" y="2063326"/>
            <a:ext cx="847951" cy="583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Arial" charset="0"/>
              </a:rPr>
              <a:t>FBI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>
                <a:solidFill>
                  <a:srgbClr val="626469"/>
                </a:solidFill>
                <a:latin typeface="Arial" charset="0"/>
              </a:rPr>
              <a:t>EhP7 SP12</a:t>
            </a:r>
          </a:p>
        </p:txBody>
      </p:sp>
      <p:cxnSp>
        <p:nvCxnSpPr>
          <p:cNvPr id="44" name="Straight Arrow Connector 43"/>
          <p:cNvCxnSpPr>
            <a:stCxn id="38" idx="3"/>
            <a:endCxn id="39" idx="1"/>
          </p:cNvCxnSpPr>
          <p:nvPr/>
        </p:nvCxnSpPr>
        <p:spPr bwMode="auto">
          <a:xfrm>
            <a:off x="7204975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6" name="Straight Arrow Connector 45"/>
          <p:cNvCxnSpPr>
            <a:stCxn id="39" idx="3"/>
            <a:endCxn id="40" idx="1"/>
          </p:cNvCxnSpPr>
          <p:nvPr/>
        </p:nvCxnSpPr>
        <p:spPr bwMode="auto">
          <a:xfrm>
            <a:off x="8697696" y="1899011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7" name="Straight Arrow Connector 46"/>
          <p:cNvCxnSpPr>
            <a:stCxn id="40" idx="3"/>
            <a:endCxn id="41" idx="1"/>
          </p:cNvCxnSpPr>
          <p:nvPr/>
        </p:nvCxnSpPr>
        <p:spPr bwMode="auto">
          <a:xfrm>
            <a:off x="10190417" y="1899011"/>
            <a:ext cx="517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Straight Arrow Connector 47"/>
          <p:cNvCxnSpPr>
            <a:stCxn id="42" idx="3"/>
            <a:endCxn id="43" idx="1"/>
          </p:cNvCxnSpPr>
          <p:nvPr/>
        </p:nvCxnSpPr>
        <p:spPr bwMode="auto">
          <a:xfrm>
            <a:off x="7436795" y="2354994"/>
            <a:ext cx="644770" cy="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9" name="Rectangle 48"/>
          <p:cNvSpPr/>
          <p:nvPr/>
        </p:nvSpPr>
        <p:spPr bwMode="auto">
          <a:xfrm>
            <a:off x="4661122" y="337232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ML</a:t>
            </a:r>
            <a:br>
              <a:rPr lang="en-US" sz="1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before Go-live</a:t>
            </a:r>
            <a:endParaRPr lang="en-US" sz="14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081564" y="3378675"/>
            <a:ext cx="847951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ML </a:t>
            </a:r>
            <a:r>
              <a:rPr lang="pt-BR" sz="1200" dirty="0" smtClean="0">
                <a:solidFill>
                  <a:schemeClr val="tx1"/>
                </a:solidFill>
                <a:latin typeface="Arial" charset="0"/>
              </a:rPr>
              <a:t>IST/UAT</a:t>
            </a:r>
            <a:endParaRPr lang="en-US" sz="1200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10705748" y="3372326"/>
            <a:ext cx="850390" cy="58333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</a:rPr>
              <a:t>ML    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</a:rPr>
              <a:t>after Go-live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3" name="Elbow Connector 52"/>
          <p:cNvCxnSpPr>
            <a:stCxn id="41" idx="2"/>
            <a:endCxn id="52" idx="0"/>
          </p:cNvCxnSpPr>
          <p:nvPr/>
        </p:nvCxnSpPr>
        <p:spPr bwMode="auto">
          <a:xfrm rot="5400000">
            <a:off x="10540729" y="2780892"/>
            <a:ext cx="1181648" cy="12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359139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EhP5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2634804" y="1613692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LAQ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2634804" y="2676083"/>
            <a:ext cx="847951" cy="5867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LAU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661122" y="1613693"/>
            <a:ext cx="847951" cy="58333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BRP</a:t>
            </a: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</a:rPr>
              <a:t>EhP5</a:t>
            </a:r>
            <a:endParaRPr lang="en-US" sz="9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3" name="Straight Arrow Connector 62"/>
          <p:cNvCxnSpPr>
            <a:stCxn id="58" idx="3"/>
            <a:endCxn id="60" idx="1"/>
          </p:cNvCxnSpPr>
          <p:nvPr/>
        </p:nvCxnSpPr>
        <p:spPr bwMode="auto">
          <a:xfrm flipV="1">
            <a:off x="1207090" y="1905360"/>
            <a:ext cx="1427714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4" name="Straight Arrow Connector 63"/>
          <p:cNvCxnSpPr>
            <a:stCxn id="58" idx="3"/>
            <a:endCxn id="61" idx="1"/>
          </p:cNvCxnSpPr>
          <p:nvPr/>
        </p:nvCxnSpPr>
        <p:spPr bwMode="auto">
          <a:xfrm>
            <a:off x="1207090" y="1905361"/>
            <a:ext cx="1427714" cy="1064114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5" name="Straight Arrow Connector 64"/>
          <p:cNvCxnSpPr>
            <a:stCxn id="60" idx="3"/>
            <a:endCxn id="62" idx="1"/>
          </p:cNvCxnSpPr>
          <p:nvPr/>
        </p:nvCxnSpPr>
        <p:spPr bwMode="auto">
          <a:xfrm>
            <a:off x="3482755" y="1905360"/>
            <a:ext cx="1178367" cy="1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67" name="Elbow Connector 66"/>
          <p:cNvCxnSpPr>
            <a:stCxn id="62" idx="2"/>
            <a:endCxn id="49" idx="0"/>
          </p:cNvCxnSpPr>
          <p:nvPr/>
        </p:nvCxnSpPr>
        <p:spPr bwMode="auto">
          <a:xfrm rot="5400000">
            <a:off x="4497450" y="2784676"/>
            <a:ext cx="1175297" cy="127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0211287" y="1896504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90368" y="3221864"/>
            <a:ext cx="409456" cy="104079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(3);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(4);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(5)</a:t>
            </a:r>
          </a:p>
        </p:txBody>
      </p:sp>
      <p:cxnSp>
        <p:nvCxnSpPr>
          <p:cNvPr id="72" name="Elbow Connector 71"/>
          <p:cNvCxnSpPr>
            <a:stCxn id="42" idx="2"/>
            <a:endCxn id="51" idx="0"/>
          </p:cNvCxnSpPr>
          <p:nvPr/>
        </p:nvCxnSpPr>
        <p:spPr bwMode="auto">
          <a:xfrm rot="16200000" flipH="1">
            <a:off x="7393173" y="2266308"/>
            <a:ext cx="732014" cy="149272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Elbow Connector 72"/>
          <p:cNvCxnSpPr>
            <a:stCxn id="43" idx="2"/>
            <a:endCxn id="51" idx="0"/>
          </p:cNvCxnSpPr>
          <p:nvPr/>
        </p:nvCxnSpPr>
        <p:spPr bwMode="auto">
          <a:xfrm rot="5400000">
            <a:off x="8139534" y="3012668"/>
            <a:ext cx="732014" cy="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Elbow Connector 74"/>
          <p:cNvCxnSpPr>
            <a:stCxn id="40" idx="2"/>
            <a:endCxn id="51" idx="0"/>
          </p:cNvCxnSpPr>
          <p:nvPr/>
        </p:nvCxnSpPr>
        <p:spPr bwMode="auto">
          <a:xfrm rot="5400000">
            <a:off x="8541993" y="2154225"/>
            <a:ext cx="1187997" cy="1260902"/>
          </a:xfrm>
          <a:prstGeom prst="bentConnector3">
            <a:avLst>
              <a:gd name="adj1" fmla="val 69514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 w="med" len="med"/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356725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21239" y="271980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06491" y="2237272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55393" y="2246243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zTCD</a:t>
            </a:r>
          </a:p>
        </p:txBody>
      </p:sp>
      <p:sp>
        <p:nvSpPr>
          <p:cNvPr id="88" name="Flowchart: Document 87"/>
          <p:cNvSpPr/>
          <p:nvPr/>
        </p:nvSpPr>
        <p:spPr bwMode="auto">
          <a:xfrm>
            <a:off x="8711794" y="3111071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Flowchart: Document 88"/>
          <p:cNvSpPr/>
          <p:nvPr/>
        </p:nvSpPr>
        <p:spPr bwMode="auto">
          <a:xfrm>
            <a:off x="10705748" y="3093968"/>
            <a:ext cx="218941" cy="153080"/>
          </a:xfrm>
          <a:prstGeom prst="flowChartDocument">
            <a:avLst/>
          </a:prstGeom>
          <a:solidFill>
            <a:schemeClr val="bg1"/>
          </a:solidFill>
          <a:ln w="6350" cap="flat" cmpd="sng" algn="ctr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168203" y="5473522"/>
            <a:ext cx="6165287" cy="112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numCol="2" rtlCol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Cutover steps: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Move ECC TRs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Business Cut Off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Implement Changes in ML</a:t>
            </a:r>
            <a:endParaRPr lang="pt-B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>
                <a:solidFill>
                  <a:srgbClr val="FF0000"/>
                </a:solidFill>
              </a:rPr>
              <a:t>Manually</a:t>
            </a:r>
            <a:r>
              <a:rPr lang="pt-BR" sz="1200" dirty="0" smtClean="0"/>
              <a:t> create MD in ML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AutoNum type="arabicParenBoth"/>
            </a:pPr>
            <a:r>
              <a:rPr lang="pt-BR" sz="1200" dirty="0" smtClean="0"/>
              <a:t>Run Smoke test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8624" y="2226698"/>
            <a:ext cx="437882" cy="309093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200" dirty="0" smtClean="0"/>
              <a:t>RFC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2415" y="2969475"/>
            <a:ext cx="409456" cy="30616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pt-BR" sz="1400" dirty="0" smtClean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50" name="Cloud Callout 49"/>
          <p:cNvSpPr/>
          <p:nvPr/>
        </p:nvSpPr>
        <p:spPr bwMode="auto">
          <a:xfrm>
            <a:off x="4374295" y="4429587"/>
            <a:ext cx="1421602" cy="798490"/>
          </a:xfrm>
          <a:prstGeom prst="cloudCallout">
            <a:avLst>
              <a:gd name="adj1" fmla="val -16303"/>
              <a:gd name="adj2" fmla="val 38306"/>
            </a:avLst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t-BR" sz="1000" dirty="0" smtClean="0">
                <a:latin typeface="Arial" charset="0"/>
              </a:rPr>
              <a:t>Warehouse</a:t>
            </a:r>
          </a:p>
        </p:txBody>
      </p:sp>
      <p:cxnSp>
        <p:nvCxnSpPr>
          <p:cNvPr id="54" name="Elbow Connector 53"/>
          <p:cNvCxnSpPr>
            <a:stCxn id="49" idx="2"/>
            <a:endCxn id="50" idx="3"/>
          </p:cNvCxnSpPr>
          <p:nvPr/>
        </p:nvCxnSpPr>
        <p:spPr bwMode="auto">
          <a:xfrm rot="5400000">
            <a:off x="4825307" y="4215449"/>
            <a:ext cx="519581" cy="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381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3127507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uIpcknp0ym9GvYbj2Gd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0ZqtJcfxkOKXW_rwg2cV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uIpcknp0ym9GvYbj2Gd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RvUrVtL0uvnNbG6HNEz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uIpcknp0ym9GvYbj2GdA"/>
</p:tagLst>
</file>

<file path=ppt/theme/theme1.xml><?xml version="1.0" encoding="utf-8"?>
<a:theme xmlns:a="http://schemas.openxmlformats.org/drawingml/2006/main" name="2_Syngenta Landscape 2007">
  <a:themeElements>
    <a:clrScheme name="Syngenta 2007">
      <a:dk1>
        <a:srgbClr val="626469"/>
      </a:dk1>
      <a:lt1>
        <a:srgbClr val="FFFFFF"/>
      </a:lt1>
      <a:dk2>
        <a:srgbClr val="5F7800"/>
      </a:dk2>
      <a:lt2>
        <a:srgbClr val="FFB400"/>
      </a:lt2>
      <a:accent1>
        <a:srgbClr val="00A0BE"/>
      </a:accent1>
      <a:accent2>
        <a:srgbClr val="AAB400"/>
      </a:accent2>
      <a:accent3>
        <a:srgbClr val="EB8200"/>
      </a:accent3>
      <a:accent4>
        <a:srgbClr val="82C8DC"/>
      </a:accent4>
      <a:accent5>
        <a:srgbClr val="FFB400"/>
      </a:accent5>
      <a:accent6>
        <a:srgbClr val="5F7800"/>
      </a:accent6>
      <a:hlink>
        <a:srgbClr val="EB8200"/>
      </a:hlink>
      <a:folHlink>
        <a:srgbClr val="82C8DC"/>
      </a:folHlink>
    </a:clrScheme>
    <a:fontScheme name="Printout Syngenta 200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6350" cap="flat" cmpd="sng" algn="ctr">
          <a:solidFill>
            <a:schemeClr val="folHlink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ts val="60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6350" cap="flat" cmpd="sng" algn="ctr">
          <a:solidFill>
            <a:schemeClr val="folHlink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ts val="60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normAutofit/>
      </a:bodyPr>
      <a:lstStyle>
        <a:defPPr>
          <a:spcBef>
            <a:spcPts val="0"/>
          </a:spcBef>
          <a:spcAft>
            <a:spcPts val="600"/>
          </a:spcAft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4078</TotalTime>
  <Words>3002</Words>
  <Application>Microsoft Office PowerPoint</Application>
  <PresentationFormat>Widescreen</PresentationFormat>
  <Paragraphs>1507</Paragraphs>
  <Slides>33</Slides>
  <Notes>1</Notes>
  <HiddenSlides>0</HiddenSlides>
  <MMClips>0</MMClips>
  <ScaleCrop>false</ScaleCrop>
  <HeadingPairs>
    <vt:vector size="10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Wingdings 2</vt:lpstr>
      <vt:lpstr>2_Syngenta Landscape 2007</vt:lpstr>
      <vt:lpstr>C:\Users\T966104\Documents\repos\docs\syngenta-appmap\Test Enviroment Plan V3_light_version.xlsx</vt:lpstr>
      <vt:lpstr>C:\Users\T966104\Documents\repos\docs\syngenta-appmap\Test Enviroment Plan V3_light_version.xlsx</vt:lpstr>
      <vt:lpstr>C:\Users\T966104\Documents\repos\docs\syngenta-appmap\Test Enviroment Plan V3_light_version.xlsx</vt:lpstr>
      <vt:lpstr>C:\Users\T966104\Documents\repos\docs\syngenta-appmap\Test Enviroment Plan V3_light_version.xlsx</vt:lpstr>
      <vt:lpstr>C:\Users\T966104\Documents\repos\docs\syngenta-appmap\Test Enviroment Plan V3_light_version.xlsx</vt:lpstr>
      <vt:lpstr>think-cell Slide</vt:lpstr>
      <vt:lpstr>Satellite Integration Report</vt:lpstr>
      <vt:lpstr>Satellite Status report – Week of 2016-11-10 Reason for status: Major satellites on track, Issues being solved in Unit Test</vt:lpstr>
      <vt:lpstr>PowerPoint Presentation</vt:lpstr>
      <vt:lpstr>PnS Satellite Systems Landscapes</vt:lpstr>
      <vt:lpstr>DYNASYS / Toledo Scale Satellite Landscape</vt:lpstr>
      <vt:lpstr>TMS Kewill Satellite Landscape</vt:lpstr>
      <vt:lpstr>GKO Satellite Landscape</vt:lpstr>
      <vt:lpstr>OneSource Global Trade Satellite Landscape</vt:lpstr>
      <vt:lpstr>Carrier WebServices Satellite Landscape</vt:lpstr>
      <vt:lpstr>Status of Data Migration Strategy for PnS Satellite Systems (MASTER DATA)</vt:lpstr>
      <vt:lpstr>Status of Data Migration Strategy for PnS Satellite Systems (TRANSACTIONAL DATA)</vt:lpstr>
      <vt:lpstr>FiP Satellite Systems Landscapes</vt:lpstr>
      <vt:lpstr>HR (GPS) Satellite Landscape</vt:lpstr>
      <vt:lpstr>Rhadar / Synseg Satellite Landscape</vt:lpstr>
      <vt:lpstr>GRC NFE Satellite Landscape</vt:lpstr>
      <vt:lpstr>MasterSAF DW Satellite Landscape</vt:lpstr>
      <vt:lpstr>SERASA Satellite Landscape</vt:lpstr>
      <vt:lpstr>Credito Rural Satellite Landscape</vt:lpstr>
      <vt:lpstr>Easy IRPJ Satellite Landscape</vt:lpstr>
      <vt:lpstr>VIM Satellite Landscape</vt:lpstr>
      <vt:lpstr>Biller Direct Solution Satellite Landscape</vt:lpstr>
      <vt:lpstr>TPS Pricing Satellite Landscape</vt:lpstr>
      <vt:lpstr>Commercial Satellite Systems Landscapes</vt:lpstr>
      <vt:lpstr>PecSYN Satellite Landscape</vt:lpstr>
      <vt:lpstr>PowerPoint Presentation</vt:lpstr>
      <vt:lpstr>PowerPoint Presentation</vt:lpstr>
      <vt:lpstr>PowerPoint Presentation</vt:lpstr>
      <vt:lpstr>Disaggregation Satellite Landscape</vt:lpstr>
      <vt:lpstr>Nutrade Satellite Systems Landscapes</vt:lpstr>
      <vt:lpstr>Nutrace Satellite Systems Landscapes</vt:lpstr>
      <vt:lpstr>Webmap &amp; Feedsystem Satellite Landscape</vt:lpstr>
      <vt:lpstr>Gestão de Despesas Operacionais Satellite Landscape</vt:lpstr>
      <vt:lpstr>Monitoramento Logístico Satellite Landscape</vt:lpstr>
    </vt:vector>
  </TitlesOfParts>
  <Company>Syngenta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Target Architecture and Interfaces</dc:title>
  <dc:creator>Mehta Kaushal (ext) CHBS</dc:creator>
  <cp:lastModifiedBy>Duzi Alex (ext) BRIF</cp:lastModifiedBy>
  <cp:revision>343</cp:revision>
  <dcterms:created xsi:type="dcterms:W3CDTF">2016-08-24T14:53:31Z</dcterms:created>
  <dcterms:modified xsi:type="dcterms:W3CDTF">2016-11-11T13:54:03Z</dcterms:modified>
</cp:coreProperties>
</file>